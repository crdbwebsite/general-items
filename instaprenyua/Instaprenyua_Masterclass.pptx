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Tanzanian entrepreneurs using Instagram and WhatsApp. Follow one refrigerator example from discovery to paid purchase and referral. The aim is affordable customer growth, not visibility alone.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Organic discovery means reaching relevant people without paying for ads. Use phrases customers actually use, including appropriate Kiswahili and local place names. Instagram Search and AI-powered recommendations may surface useful content, but placement is never guaranteed. For Google Search, keep an accurate Google Business Profile where eligible and make any existing product pages useful and searchable. Google indexing of Instagram content varies by account eligibility and settings; an Instagram caption alone does not guarantee Google visibility. Use Insights to review reach among non-followers and the inquiries content generates, then refine your topics.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audience which post helps someone choose a refrigerator. The second starts with a specific need and introduces three useful buying criteria. Pair it with authentic refrigerator photos or a demonstration when available. The two requested refrigerator images were not supplied, so this version uses a text-only comparison with no substitute imagery. Use relevant wording naturally; do not repeat keywords mechanically. This approach creates discovery opportunities through Instagram Search and recommendations, and potentially Google Search where the content is publicly indexable. It does not promise rankings or recommendation placement. Explain electricity use using verified product specifications, not unsupported savings claims.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Meta Ads Manager, select an available campaign setup supporting WhatsApp conversations; connect the business Facebook Page and WhatsApp Business number as required. Interface labels and eligibility can vary. Use a seven-day test with a total budget of TZS 35,000 (TZS 5,000 a day on average), one product and two creative variations sharing that budget. A lifetime budget can help cap the test if available; check currency, billing and any taxes before launch. Target locations the business can serve, show accurate price and benefits, and use a clear WhatsApp call to action. Ask where the inquiry came from and log the campaign, paid order and spend in a simple sheet. Count only completed paid purchases attributable to the campaign; avoid double-counting organic orders. Cost per acquired customer is spend divided by new paying customers; cost per purchase is spend divided by paid orders. They are equal here only if each buyer places one order. A very small test gives directional evidence, not a reliable performance benchmark.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before advertising means selling price minus the product cost and other variable costs accounted for in this example; it is not revenue. For each scenario: contribution after ads = paid purchases × TZS 15,000 − TZS 35,000. One sale gives −20,000; three give +10,000; five give +40,000. Two sales give −5,000, so the minimum whole number to cover the advertising cost is three. At three sales, advertising cost per purchase is about TZS 11,667, below the TZS 15,000 contribution before ads. These are illustrative contribution results, not net profit: overheads, taxes and other unaccounted costs still matter. Include all relevant costs in the real decision. This example assumes one refrigerator per paid order, the same contribution on each order and that the orders are attributable to the campaign.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refrigerator inquiry, ask about household needs, available space and budget before recommending a model. Use accurate specifications and demonstrations to explain the tradeoffs. Keep the buying path short: confirm the selected model, total payable amount, availability, delivery information and payment instructions. Answer concerns directly and follow up appropriately without pressure. Do not invent testimonials, guarantees or product benefits. The focus is on the customer’s buying confidence, not on teaching logistics or inventory operations.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refrigerator is bought infrequently, so retention can mean trust, future consideration and referrals rather than another refrigerator sale next month. A helpful follow-up and care advice can make a customer comfortable recommending you. Ask permission for ongoing promotional WhatsApp messages, respect preferences and make it easy to stop receiving them. Use manufacturer-supported care guidance. Seek honest feedback; do not pressure customers for positive reviews or referrals. Only make recommendations that fit a known customer need.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connecting the three sections: useful organic content attracts relevant visitors; focused advertising expands reach; clear advice and a simple buying path convert interest; helpful follow-up builds relationships and referrals. Ask each entrepreneur to choose one practical improvement to apply first, then measure what changes.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000" b="1">
                <a:solidFill>
                  <a:srgbClr val="296F69"/>
                </a:solidFill>
                <a:latin typeface="DejaVu Sans"/>
              </a:defRPr>
            </a:pPr>
            <a:r>
              <a:t>INSTAPRENYUA MASTERCLASS  /  PRACTICAL DIGITAL MARKETING</a:t>
            </a:r>
          </a:p>
        </p:txBody>
      </p:sp>
      <p:sp>
        <p:nvSpPr>
          <p:cNvPr id="3" name="TextBox 2"/>
          <p:cNvSpPr txBox="1"/>
          <p:nvPr/>
        </p:nvSpPr>
        <p:spPr>
          <a:xfrm>
            <a:off x="10972800" y="320040"/>
            <a:ext cx="594360" cy="274320"/>
          </a:xfrm>
          <a:prstGeom prst="rect">
            <a:avLst/>
          </a:prstGeom>
          <a:noFill/>
        </p:spPr>
        <p:txBody>
          <a:bodyPr wrap="square" lIns="0" rIns="0" tIns="0" bIns="0">
            <a:spAutoFit/>
          </a:bodyPr>
          <a:lstStyle/>
          <a:p>
            <a:pPr>
              <a:spcAft>
                <a:spcPts val="1000"/>
              </a:spcAft>
              <a:defRPr sz="1000" b="0">
                <a:solidFill>
                  <a:srgbClr val="536369"/>
                </a:solidFill>
                <a:latin typeface="DejaVu Sans"/>
              </a:defRPr>
            </a:pPr>
            <a:r>
              <a:t>01</a:t>
            </a:r>
          </a:p>
        </p:txBody>
      </p:sp>
      <p:sp>
        <p:nvSpPr>
          <p:cNvPr id="4" name="TextBox 3"/>
          <p:cNvSpPr txBox="1"/>
          <p:nvPr/>
        </p:nvSpPr>
        <p:spPr>
          <a:xfrm>
            <a:off x="594360" y="1298448"/>
            <a:ext cx="10789920" cy="2834640"/>
          </a:xfrm>
          <a:prstGeom prst="rect">
            <a:avLst/>
          </a:prstGeom>
          <a:noFill/>
        </p:spPr>
        <p:txBody>
          <a:bodyPr wrap="square" lIns="0" rIns="0" tIns="0" bIns="0">
            <a:spAutoFit/>
          </a:bodyPr>
          <a:lstStyle/>
          <a:p>
            <a:pPr>
              <a:spcAft>
                <a:spcPts val="1000"/>
              </a:spcAft>
              <a:defRPr sz="3600" b="1">
                <a:solidFill>
                  <a:srgbClr val="202D31"/>
                </a:solidFill>
                <a:latin typeface="DejaVu Sans"/>
              </a:defRPr>
            </a:pPr>
            <a:r>
              <a:t>Attract the Right Customers Online,</a:t>
            </a:r>
          </a:p>
          <a:p>
            <a:pPr>
              <a:spcAft>
                <a:spcPts val="1000"/>
              </a:spcAft>
              <a:defRPr sz="3600" b="1">
                <a:solidFill>
                  <a:srgbClr val="202D31"/>
                </a:solidFill>
                <a:latin typeface="DejaVu Sans"/>
              </a:defRPr>
            </a:pPr>
            <a:r>
              <a:t>Drive More Sales, and</a:t>
            </a:r>
          </a:p>
          <a:p>
            <a:pPr>
              <a:spcAft>
                <a:spcPts val="1000"/>
              </a:spcAft>
              <a:defRPr sz="3600" b="1">
                <a:solidFill>
                  <a:srgbClr val="202D31"/>
                </a:solidFill>
                <a:latin typeface="DejaVu Sans"/>
              </a:defRPr>
            </a:pPr>
            <a:r>
              <a:t>Keep Them Coming Back</a:t>
            </a:r>
          </a:p>
        </p:txBody>
      </p:sp>
      <p:sp>
        <p:nvSpPr>
          <p:cNvPr id="5" name="TextBox 4"/>
          <p:cNvSpPr txBox="1"/>
          <p:nvPr/>
        </p:nvSpPr>
        <p:spPr>
          <a:xfrm>
            <a:off x="594360" y="4663440"/>
            <a:ext cx="10515600" cy="594360"/>
          </a:xfrm>
          <a:prstGeom prst="rect">
            <a:avLst/>
          </a:prstGeom>
          <a:noFill/>
        </p:spPr>
        <p:txBody>
          <a:bodyPr wrap="square" lIns="0" rIns="0" tIns="0" bIns="0">
            <a:spAutoFit/>
          </a:bodyPr>
          <a:lstStyle/>
          <a:p>
            <a:pPr>
              <a:spcAft>
                <a:spcPts val="1000"/>
              </a:spcAft>
              <a:defRPr sz="2200" b="0">
                <a:solidFill>
                  <a:srgbClr val="536369"/>
                </a:solidFill>
                <a:latin typeface="DejaVu Sans"/>
              </a:defRPr>
            </a:pPr>
            <a:r>
              <a:t>Practical Digital Marketing Strategies for Entrepreneurs</a:t>
            </a:r>
          </a:p>
        </p:txBody>
      </p:sp>
      <p:sp>
        <p:nvSpPr>
          <p:cNvPr id="6" name="TextBox 5"/>
          <p:cNvSpPr txBox="1"/>
          <p:nvPr/>
        </p:nvSpPr>
        <p:spPr>
          <a:xfrm>
            <a:off x="594360" y="5806440"/>
            <a:ext cx="10515600" cy="365760"/>
          </a:xfrm>
          <a:prstGeom prst="rect">
            <a:avLst/>
          </a:prstGeom>
          <a:noFill/>
        </p:spPr>
        <p:txBody>
          <a:bodyPr wrap="square" lIns="0" rIns="0" tIns="0" bIns="0">
            <a:spAutoFit/>
          </a:bodyPr>
          <a:lstStyle/>
          <a:p>
            <a:pPr>
              <a:spcAft>
                <a:spcPts val="1000"/>
              </a:spcAft>
              <a:defRPr sz="1300" b="1">
                <a:solidFill>
                  <a:srgbClr val="296F69"/>
                </a:solidFill>
                <a:latin typeface="DejaVu Sans"/>
              </a:defRPr>
            </a:pPr>
            <a:r>
              <a:t>DISCOVERY   →   ADVERTISING   →   CONVERSION &amp; RETENTION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000" b="1">
                <a:solidFill>
                  <a:srgbClr val="296F69"/>
                </a:solidFill>
                <a:latin typeface="DejaVu Sans"/>
              </a:defRPr>
            </a:pPr>
            <a:r>
              <a:t>INSTAPRENYUA MASTERCLASS  /  01 / ORGANIC CUSTOMER ACQUISITION</a:t>
            </a:r>
          </a:p>
        </p:txBody>
      </p:sp>
      <p:sp>
        <p:nvSpPr>
          <p:cNvPr id="3" name="TextBox 2"/>
          <p:cNvSpPr txBox="1"/>
          <p:nvPr/>
        </p:nvSpPr>
        <p:spPr>
          <a:xfrm>
            <a:off x="10972800" y="320040"/>
            <a:ext cx="594360" cy="274320"/>
          </a:xfrm>
          <a:prstGeom prst="rect">
            <a:avLst/>
          </a:prstGeom>
          <a:noFill/>
        </p:spPr>
        <p:txBody>
          <a:bodyPr wrap="square" lIns="0" rIns="0" tIns="0" bIns="0">
            <a:spAutoFit/>
          </a:bodyPr>
          <a:lstStyle/>
          <a:p>
            <a:pPr>
              <a:spcAft>
                <a:spcPts val="1000"/>
              </a:spcAft>
              <a:defRPr sz="1000" b="0">
                <a:solidFill>
                  <a:srgbClr val="536369"/>
                </a:solidFill>
                <a:latin typeface="DejaVu Sans"/>
              </a:defRPr>
            </a:pPr>
            <a:r>
              <a:t>02</a:t>
            </a:r>
          </a:p>
        </p:txBody>
      </p:sp>
      <p:sp>
        <p:nvSpPr>
          <p:cNvPr id="4" name="TextBox 3"/>
          <p:cNvSpPr txBox="1"/>
          <p:nvPr/>
        </p:nvSpPr>
        <p:spPr>
          <a:xfrm>
            <a:off x="594360" y="886968"/>
            <a:ext cx="10972800" cy="1143000"/>
          </a:xfrm>
          <a:prstGeom prst="rect">
            <a:avLst/>
          </a:prstGeom>
          <a:noFill/>
        </p:spPr>
        <p:txBody>
          <a:bodyPr wrap="square" lIns="0" rIns="0" tIns="0" bIns="0">
            <a:spAutoFit/>
          </a:bodyPr>
          <a:lstStyle/>
          <a:p>
            <a:pPr>
              <a:spcAft>
                <a:spcPts val="1000"/>
              </a:spcAft>
              <a:defRPr sz="3200" b="1">
                <a:solidFill>
                  <a:srgbClr val="202D31"/>
                </a:solidFill>
                <a:latin typeface="DejaVu Sans"/>
              </a:defRPr>
            </a:pPr>
            <a:r>
              <a:t>Get Discovered by the Right</a:t>
            </a:r>
          </a:p>
          <a:p>
            <a:pPr>
              <a:spcAft>
                <a:spcPts val="1000"/>
              </a:spcAft>
              <a:defRPr sz="3200" b="1">
                <a:solidFill>
                  <a:srgbClr val="202D31"/>
                </a:solidFill>
                <a:latin typeface="DejaVu Sans"/>
              </a:defRPr>
            </a:pPr>
            <a:r>
              <a:t>Customers Organically</a:t>
            </a:r>
          </a:p>
        </p:txBody>
      </p:sp>
      <p:sp>
        <p:nvSpPr>
          <p:cNvPr id="5" name="TextBox 4"/>
          <p:cNvSpPr txBox="1"/>
          <p:nvPr/>
        </p:nvSpPr>
        <p:spPr>
          <a:xfrm>
            <a:off x="594360" y="1947672"/>
            <a:ext cx="10972800" cy="292608"/>
          </a:xfrm>
          <a:prstGeom prst="rect">
            <a:avLst/>
          </a:prstGeom>
          <a:noFill/>
        </p:spPr>
        <p:txBody>
          <a:bodyPr wrap="square" lIns="0" rIns="0" tIns="0" bIns="0">
            <a:spAutoFit/>
          </a:bodyPr>
          <a:lstStyle/>
          <a:p>
            <a:pPr>
              <a:spcAft>
                <a:spcPts val="1000"/>
              </a:spcAft>
              <a:defRPr sz="1400" b="0">
                <a:solidFill>
                  <a:srgbClr val="536369"/>
                </a:solidFill>
                <a:latin typeface="DejaVu Sans"/>
              </a:defRPr>
            </a:pPr>
            <a:r>
              <a:t>Instagram Search  •  Google Search  •  AI-powered recommendations</a:t>
            </a:r>
          </a:p>
        </p:txBody>
      </p:sp>
      <p:sp>
        <p:nvSpPr>
          <p:cNvPr id="6" name="TextBox 5"/>
          <p:cNvSpPr txBox="1"/>
          <p:nvPr/>
        </p:nvSpPr>
        <p:spPr>
          <a:xfrm>
            <a:off x="594360" y="2331720"/>
            <a:ext cx="5166360" cy="640080"/>
          </a:xfrm>
          <a:prstGeom prst="rect">
            <a:avLst/>
          </a:prstGeom>
          <a:noFill/>
        </p:spPr>
        <p:txBody>
          <a:bodyPr wrap="square" lIns="0" rIns="0" tIns="0" bIns="0">
            <a:spAutoFit/>
          </a:bodyPr>
          <a:lstStyle/>
          <a:p>
            <a:pPr>
              <a:spcAft>
                <a:spcPts val="1000"/>
              </a:spcAft>
              <a:defRPr sz="2100" b="1">
                <a:solidFill>
                  <a:srgbClr val="296F69"/>
                </a:solidFill>
                <a:latin typeface="DejaVu Sans"/>
              </a:defRPr>
            </a:pPr>
            <a:r>
              <a:t>Match what customers search for</a:t>
            </a:r>
          </a:p>
        </p:txBody>
      </p:sp>
      <p:sp>
        <p:nvSpPr>
          <p:cNvPr id="7" name="TextBox 6"/>
          <p:cNvSpPr txBox="1"/>
          <p:nvPr/>
        </p:nvSpPr>
        <p:spPr>
          <a:xfrm>
            <a:off x="594360" y="3154680"/>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Learn buying questions from Google, Instagram, DMs and WhatsApp.</a:t>
            </a:r>
          </a:p>
        </p:txBody>
      </p:sp>
      <p:sp>
        <p:nvSpPr>
          <p:cNvPr id="8" name="TextBox 7"/>
          <p:cNvSpPr txBox="1"/>
          <p:nvPr/>
        </p:nvSpPr>
        <p:spPr>
          <a:xfrm>
            <a:off x="594360" y="3959352"/>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Use relevant terms in your profile, product names, captions and location.</a:t>
            </a:r>
          </a:p>
        </p:txBody>
      </p:sp>
      <p:sp>
        <p:nvSpPr>
          <p:cNvPr id="9" name="TextBox 8"/>
          <p:cNvSpPr txBox="1"/>
          <p:nvPr/>
        </p:nvSpPr>
        <p:spPr>
          <a:xfrm>
            <a:off x="594360" y="4764024"/>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Make product details clear, useful and easy to find.</a:t>
            </a:r>
          </a:p>
        </p:txBody>
      </p:sp>
      <p:sp>
        <p:nvSpPr>
          <p:cNvPr id="10" name="TextBox 9"/>
          <p:cNvSpPr txBox="1"/>
          <p:nvPr/>
        </p:nvSpPr>
        <p:spPr>
          <a:xfrm>
            <a:off x="6400800" y="2331720"/>
            <a:ext cx="5166360" cy="640080"/>
          </a:xfrm>
          <a:prstGeom prst="rect">
            <a:avLst/>
          </a:prstGeom>
          <a:noFill/>
        </p:spPr>
        <p:txBody>
          <a:bodyPr wrap="square" lIns="0" rIns="0" tIns="0" bIns="0">
            <a:spAutoFit/>
          </a:bodyPr>
          <a:lstStyle/>
          <a:p>
            <a:pPr>
              <a:spcAft>
                <a:spcPts val="1000"/>
              </a:spcAft>
              <a:defRPr sz="2100" b="1">
                <a:solidFill>
                  <a:srgbClr val="296F69"/>
                </a:solidFill>
                <a:latin typeface="DejaVu Sans"/>
              </a:defRPr>
            </a:pPr>
            <a:r>
              <a:t>Publish content that helps buyers</a:t>
            </a:r>
          </a:p>
        </p:txBody>
      </p:sp>
      <p:sp>
        <p:nvSpPr>
          <p:cNvPr id="11" name="TextBox 10"/>
          <p:cNvSpPr txBox="1"/>
          <p:nvPr/>
        </p:nvSpPr>
        <p:spPr>
          <a:xfrm>
            <a:off x="6400800" y="3154680"/>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Show original demonstrations, comparisons and buying guides.</a:t>
            </a:r>
          </a:p>
        </p:txBody>
      </p:sp>
      <p:sp>
        <p:nvSpPr>
          <p:cNvPr id="12" name="TextBox 11"/>
          <p:cNvSpPr txBox="1"/>
          <p:nvPr/>
        </p:nvSpPr>
        <p:spPr>
          <a:xfrm>
            <a:off x="6400800" y="3959352"/>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Answer real needs: fridge size, storage space and electricity use.</a:t>
            </a:r>
          </a:p>
        </p:txBody>
      </p:sp>
      <p:sp>
        <p:nvSpPr>
          <p:cNvPr id="13" name="TextBox 12"/>
          <p:cNvSpPr txBox="1"/>
          <p:nvPr/>
        </p:nvSpPr>
        <p:spPr>
          <a:xfrm>
            <a:off x="6400800" y="4764024"/>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Use Instagram Insights to see what reaches relevant new audiences.</a:t>
            </a:r>
          </a:p>
        </p:txBody>
      </p:sp>
      <p:sp>
        <p:nvSpPr>
          <p:cNvPr id="14" name="Rectangle 13"/>
          <p:cNvSpPr/>
          <p:nvPr/>
        </p:nvSpPr>
        <p:spPr>
          <a:xfrm>
            <a:off x="594360" y="5715000"/>
            <a:ext cx="11000232" cy="612648"/>
          </a:xfrm>
          <a:prstGeom prst="rect">
            <a:avLst/>
          </a:prstGeom>
          <a:solidFill>
            <a:srgbClr val="ED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870448"/>
            <a:ext cx="10561320" cy="384048"/>
          </a:xfrm>
          <a:prstGeom prst="rect">
            <a:avLst/>
          </a:prstGeom>
          <a:noFill/>
        </p:spPr>
        <p:txBody>
          <a:bodyPr wrap="square" lIns="0" rIns="0" tIns="0" bIns="0">
            <a:spAutoFit/>
          </a:bodyPr>
          <a:lstStyle/>
          <a:p>
            <a:pPr>
              <a:spcAft>
                <a:spcPts val="1000"/>
              </a:spcAft>
              <a:defRPr sz="1700" b="1">
                <a:solidFill>
                  <a:srgbClr val="296F69"/>
                </a:solidFill>
                <a:latin typeface="DejaVu Sans"/>
              </a:defRPr>
            </a:pPr>
            <a:r>
              <a:t>Build content around what customers search for—and need to know before buying.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000" b="1">
                <a:solidFill>
                  <a:srgbClr val="296F69"/>
                </a:solidFill>
                <a:latin typeface="DejaVu Sans"/>
              </a:defRPr>
            </a:pPr>
            <a:r>
              <a:t>INSTAPRENYUA MASTERCLASS  /  01 / ORGANIC CUSTOMER ACQUISITION</a:t>
            </a:r>
          </a:p>
        </p:txBody>
      </p:sp>
      <p:sp>
        <p:nvSpPr>
          <p:cNvPr id="3" name="TextBox 2"/>
          <p:cNvSpPr txBox="1"/>
          <p:nvPr/>
        </p:nvSpPr>
        <p:spPr>
          <a:xfrm>
            <a:off x="10972800" y="320040"/>
            <a:ext cx="594360" cy="274320"/>
          </a:xfrm>
          <a:prstGeom prst="rect">
            <a:avLst/>
          </a:prstGeom>
          <a:noFill/>
        </p:spPr>
        <p:txBody>
          <a:bodyPr wrap="square" lIns="0" rIns="0" tIns="0" bIns="0">
            <a:spAutoFit/>
          </a:bodyPr>
          <a:lstStyle/>
          <a:p>
            <a:pPr>
              <a:spcAft>
                <a:spcPts val="1000"/>
              </a:spcAft>
              <a:defRPr sz="1000" b="0">
                <a:solidFill>
                  <a:srgbClr val="536369"/>
                </a:solidFill>
                <a:latin typeface="DejaVu Sans"/>
              </a:defRPr>
            </a:pPr>
            <a:r>
              <a:t>03</a:t>
            </a:r>
          </a:p>
        </p:txBody>
      </p:sp>
      <p:sp>
        <p:nvSpPr>
          <p:cNvPr id="4" name="TextBox 3"/>
          <p:cNvSpPr txBox="1"/>
          <p:nvPr/>
        </p:nvSpPr>
        <p:spPr>
          <a:xfrm>
            <a:off x="594360" y="886968"/>
            <a:ext cx="10972800" cy="1143000"/>
          </a:xfrm>
          <a:prstGeom prst="rect">
            <a:avLst/>
          </a:prstGeom>
          <a:noFill/>
        </p:spPr>
        <p:txBody>
          <a:bodyPr wrap="square" lIns="0" rIns="0" tIns="0" bIns="0">
            <a:spAutoFit/>
          </a:bodyPr>
          <a:lstStyle/>
          <a:p>
            <a:pPr>
              <a:spcAft>
                <a:spcPts val="1000"/>
              </a:spcAft>
              <a:defRPr sz="3200" b="1">
                <a:solidFill>
                  <a:srgbClr val="202D31"/>
                </a:solidFill>
                <a:latin typeface="DejaVu Sans"/>
              </a:defRPr>
            </a:pPr>
            <a:r>
              <a:t>Make Your Product Discoverable</a:t>
            </a:r>
          </a:p>
        </p:txBody>
      </p:sp>
      <p:sp>
        <p:nvSpPr>
          <p:cNvPr id="5" name="TextBox 4"/>
          <p:cNvSpPr txBox="1"/>
          <p:nvPr/>
        </p:nvSpPr>
        <p:spPr>
          <a:xfrm>
            <a:off x="594360" y="2103120"/>
            <a:ext cx="5166360" cy="411480"/>
          </a:xfrm>
          <a:prstGeom prst="rect">
            <a:avLst/>
          </a:prstGeom>
          <a:noFill/>
        </p:spPr>
        <p:txBody>
          <a:bodyPr wrap="square" lIns="0" rIns="0" tIns="0" bIns="0">
            <a:spAutoFit/>
          </a:bodyPr>
          <a:lstStyle/>
          <a:p>
            <a:pPr>
              <a:spcAft>
                <a:spcPts val="1000"/>
              </a:spcAft>
              <a:defRPr sz="1400" b="1">
                <a:solidFill>
                  <a:srgbClr val="536369"/>
                </a:solidFill>
                <a:latin typeface="DejaVu Sans"/>
              </a:defRPr>
            </a:pPr>
            <a:r>
              <a:t>ORDINARY POST</a:t>
            </a:r>
          </a:p>
        </p:txBody>
      </p:sp>
      <p:sp>
        <p:nvSpPr>
          <p:cNvPr id="6" name="TextBox 5"/>
          <p:cNvSpPr txBox="1"/>
          <p:nvPr/>
        </p:nvSpPr>
        <p:spPr>
          <a:xfrm>
            <a:off x="6400800" y="2103120"/>
            <a:ext cx="5166360" cy="411480"/>
          </a:xfrm>
          <a:prstGeom prst="rect">
            <a:avLst/>
          </a:prstGeom>
          <a:noFill/>
        </p:spPr>
        <p:txBody>
          <a:bodyPr wrap="square" lIns="0" rIns="0" tIns="0" bIns="0">
            <a:spAutoFit/>
          </a:bodyPr>
          <a:lstStyle/>
          <a:p>
            <a:pPr>
              <a:spcAft>
                <a:spcPts val="1000"/>
              </a:spcAft>
              <a:defRPr sz="1400" b="1">
                <a:solidFill>
                  <a:srgbClr val="296F69"/>
                </a:solidFill>
                <a:latin typeface="DejaVu Sans"/>
              </a:defRPr>
            </a:pPr>
            <a:r>
              <a:t>DISCOVERY-FOCUSED POST</a:t>
            </a:r>
          </a:p>
        </p:txBody>
      </p:sp>
      <p:sp>
        <p:nvSpPr>
          <p:cNvPr id="7" name="TextBox 6"/>
          <p:cNvSpPr txBox="1"/>
          <p:nvPr/>
        </p:nvSpPr>
        <p:spPr>
          <a:xfrm>
            <a:off x="594360" y="2788920"/>
            <a:ext cx="5029200" cy="1874519"/>
          </a:xfrm>
          <a:prstGeom prst="rect">
            <a:avLst/>
          </a:prstGeom>
          <a:noFill/>
        </p:spPr>
        <p:txBody>
          <a:bodyPr wrap="square" lIns="0" rIns="0" tIns="0" bIns="0">
            <a:spAutoFit/>
          </a:bodyPr>
          <a:lstStyle/>
          <a:p>
            <a:pPr>
              <a:spcAft>
                <a:spcPts val="1000"/>
              </a:spcAft>
              <a:defRPr sz="2700" b="1">
                <a:solidFill>
                  <a:srgbClr val="202D31"/>
                </a:solidFill>
                <a:latin typeface="DejaVu Sans"/>
              </a:defRPr>
            </a:pPr>
            <a:r>
              <a:t>“Friji mpya zimefika!</a:t>
            </a:r>
          </a:p>
          <a:p>
            <a:pPr>
              <a:spcAft>
                <a:spcPts val="1000"/>
              </a:spcAft>
              <a:defRPr sz="2700" b="1">
                <a:solidFill>
                  <a:srgbClr val="202D31"/>
                </a:solidFill>
                <a:latin typeface="DejaVu Sans"/>
              </a:defRPr>
            </a:pPr>
            <a:r>
              <a:t>Bei nzuri. DM kwa order.”</a:t>
            </a:r>
          </a:p>
        </p:txBody>
      </p:sp>
      <p:sp>
        <p:nvSpPr>
          <p:cNvPr id="8" name="TextBox 7"/>
          <p:cNvSpPr txBox="1"/>
          <p:nvPr/>
        </p:nvSpPr>
        <p:spPr>
          <a:xfrm>
            <a:off x="6400800" y="2788920"/>
            <a:ext cx="5120640" cy="2148840"/>
          </a:xfrm>
          <a:prstGeom prst="rect">
            <a:avLst/>
          </a:prstGeom>
          <a:noFill/>
        </p:spPr>
        <p:txBody>
          <a:bodyPr wrap="square" lIns="0" rIns="0" tIns="0" bIns="0">
            <a:spAutoFit/>
          </a:bodyPr>
          <a:lstStyle/>
          <a:p>
            <a:pPr>
              <a:spcAft>
                <a:spcPts val="1000"/>
              </a:spcAft>
              <a:defRPr sz="2400" b="1">
                <a:solidFill>
                  <a:srgbClr val="202D31"/>
                </a:solidFill>
                <a:latin typeface="DejaVu Sans"/>
              </a:defRPr>
            </a:pPr>
            <a:r>
              <a:t>“Unatafuta friji ya nyumba ndogo? Mambo 3 ya kuangalia kabla ya kununua: ukubwa, uwezo wa kuhifadhi na matumizi ya umeme.”</a:t>
            </a:r>
          </a:p>
        </p:txBody>
      </p:sp>
      <p:sp>
        <p:nvSpPr>
          <p:cNvPr id="9" name="TextBox 8"/>
          <p:cNvSpPr txBox="1"/>
          <p:nvPr/>
        </p:nvSpPr>
        <p:spPr>
          <a:xfrm>
            <a:off x="594360" y="4892040"/>
            <a:ext cx="5166360" cy="548640"/>
          </a:xfrm>
          <a:prstGeom prst="rect">
            <a:avLst/>
          </a:prstGeom>
          <a:noFill/>
        </p:spPr>
        <p:txBody>
          <a:bodyPr wrap="square" lIns="0" rIns="0" tIns="0" bIns="0">
            <a:spAutoFit/>
          </a:bodyPr>
          <a:lstStyle/>
          <a:p>
            <a:pPr>
              <a:spcAft>
                <a:spcPts val="1000"/>
              </a:spcAft>
              <a:defRPr sz="1900" b="0">
                <a:solidFill>
                  <a:srgbClr val="536369"/>
                </a:solidFill>
                <a:latin typeface="DejaVu Sans"/>
              </a:defRPr>
            </a:pPr>
            <a:r>
              <a:t>Announces availability.</a:t>
            </a:r>
          </a:p>
        </p:txBody>
      </p:sp>
      <p:sp>
        <p:nvSpPr>
          <p:cNvPr id="10" name="TextBox 9"/>
          <p:cNvSpPr txBox="1"/>
          <p:nvPr/>
        </p:nvSpPr>
        <p:spPr>
          <a:xfrm>
            <a:off x="6400800" y="4892040"/>
            <a:ext cx="5166360" cy="548640"/>
          </a:xfrm>
          <a:prstGeom prst="rect">
            <a:avLst/>
          </a:prstGeom>
          <a:noFill/>
        </p:spPr>
        <p:txBody>
          <a:bodyPr wrap="square" lIns="0" rIns="0" tIns="0" bIns="0">
            <a:spAutoFit/>
          </a:bodyPr>
          <a:lstStyle/>
          <a:p>
            <a:pPr>
              <a:spcAft>
                <a:spcPts val="1000"/>
              </a:spcAft>
              <a:defRPr sz="1900" b="0">
                <a:solidFill>
                  <a:srgbClr val="536369"/>
                </a:solidFill>
                <a:latin typeface="DejaVu Sans"/>
              </a:defRPr>
            </a:pPr>
            <a:r>
              <a:t>Answers a question before the customer asks.</a:t>
            </a:r>
          </a:p>
        </p:txBody>
      </p:sp>
      <p:sp>
        <p:nvSpPr>
          <p:cNvPr id="11" name="Rectangle 10"/>
          <p:cNvSpPr/>
          <p:nvPr/>
        </p:nvSpPr>
        <p:spPr>
          <a:xfrm>
            <a:off x="594360" y="5715000"/>
            <a:ext cx="11000232" cy="612648"/>
          </a:xfrm>
          <a:prstGeom prst="rect">
            <a:avLst/>
          </a:prstGeom>
          <a:solidFill>
            <a:srgbClr val="ED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870448"/>
            <a:ext cx="10561320" cy="384048"/>
          </a:xfrm>
          <a:prstGeom prst="rect">
            <a:avLst/>
          </a:prstGeom>
          <a:noFill/>
        </p:spPr>
        <p:txBody>
          <a:bodyPr wrap="square" lIns="0" rIns="0" tIns="0" bIns="0">
            <a:spAutoFit/>
          </a:bodyPr>
          <a:lstStyle/>
          <a:p>
            <a:pPr>
              <a:spcAft>
                <a:spcPts val="1000"/>
              </a:spcAft>
              <a:defRPr sz="1700" b="1">
                <a:solidFill>
                  <a:srgbClr val="296F69"/>
                </a:solidFill>
                <a:latin typeface="DejaVu Sans"/>
              </a:defRPr>
            </a:pPr>
            <a:r>
              <a:t>Helpful, searchable content gives relevant customers more reasons to discover you.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000" b="1">
                <a:solidFill>
                  <a:srgbClr val="296F69"/>
                </a:solidFill>
                <a:latin typeface="DejaVu Sans"/>
              </a:defRPr>
            </a:pPr>
            <a:r>
              <a:t>INSTAPRENYUA MASTERCLASS  /  02 / LOW-COST DIGITAL ADVERTISING</a:t>
            </a:r>
          </a:p>
        </p:txBody>
      </p:sp>
      <p:sp>
        <p:nvSpPr>
          <p:cNvPr id="3" name="TextBox 2"/>
          <p:cNvSpPr txBox="1"/>
          <p:nvPr/>
        </p:nvSpPr>
        <p:spPr>
          <a:xfrm>
            <a:off x="10972800" y="320040"/>
            <a:ext cx="594360" cy="274320"/>
          </a:xfrm>
          <a:prstGeom prst="rect">
            <a:avLst/>
          </a:prstGeom>
          <a:noFill/>
        </p:spPr>
        <p:txBody>
          <a:bodyPr wrap="square" lIns="0" rIns="0" tIns="0" bIns="0">
            <a:spAutoFit/>
          </a:bodyPr>
          <a:lstStyle/>
          <a:p>
            <a:pPr>
              <a:spcAft>
                <a:spcPts val="1000"/>
              </a:spcAft>
              <a:defRPr sz="1000" b="0">
                <a:solidFill>
                  <a:srgbClr val="536369"/>
                </a:solidFill>
                <a:latin typeface="DejaVu Sans"/>
              </a:defRPr>
            </a:pPr>
            <a:r>
              <a:t>04</a:t>
            </a:r>
          </a:p>
        </p:txBody>
      </p:sp>
      <p:sp>
        <p:nvSpPr>
          <p:cNvPr id="4" name="TextBox 3"/>
          <p:cNvSpPr txBox="1"/>
          <p:nvPr/>
        </p:nvSpPr>
        <p:spPr>
          <a:xfrm>
            <a:off x="594360" y="886968"/>
            <a:ext cx="10972800" cy="1143000"/>
          </a:xfrm>
          <a:prstGeom prst="rect">
            <a:avLst/>
          </a:prstGeom>
          <a:noFill/>
        </p:spPr>
        <p:txBody>
          <a:bodyPr wrap="square" lIns="0" rIns="0" tIns="0" bIns="0">
            <a:spAutoFit/>
          </a:bodyPr>
          <a:lstStyle/>
          <a:p>
            <a:pPr>
              <a:spcAft>
                <a:spcPts val="1000"/>
              </a:spcAft>
              <a:defRPr sz="3200" b="1">
                <a:solidFill>
                  <a:srgbClr val="202D31"/>
                </a:solidFill>
                <a:latin typeface="DejaVu Sans"/>
              </a:defRPr>
            </a:pPr>
            <a:r>
              <a:t>Reach More Customers with</a:t>
            </a:r>
          </a:p>
          <a:p>
            <a:pPr>
              <a:spcAft>
                <a:spcPts val="1000"/>
              </a:spcAft>
              <a:defRPr sz="3200" b="1">
                <a:solidFill>
                  <a:srgbClr val="202D31"/>
                </a:solidFill>
                <a:latin typeface="DejaVu Sans"/>
              </a:defRPr>
            </a:pPr>
            <a:r>
              <a:t>Low-Cost Advertising</a:t>
            </a:r>
          </a:p>
        </p:txBody>
      </p:sp>
      <p:sp>
        <p:nvSpPr>
          <p:cNvPr id="5" name="TextBox 4"/>
          <p:cNvSpPr txBox="1"/>
          <p:nvPr/>
        </p:nvSpPr>
        <p:spPr>
          <a:xfrm>
            <a:off x="594360" y="2331720"/>
            <a:ext cx="5166360" cy="640080"/>
          </a:xfrm>
          <a:prstGeom prst="rect">
            <a:avLst/>
          </a:prstGeom>
          <a:noFill/>
        </p:spPr>
        <p:txBody>
          <a:bodyPr wrap="square" lIns="0" rIns="0" tIns="0" bIns="0">
            <a:spAutoFit/>
          </a:bodyPr>
          <a:lstStyle/>
          <a:p>
            <a:pPr>
              <a:spcAft>
                <a:spcPts val="1000"/>
              </a:spcAft>
              <a:defRPr sz="2100" b="1">
                <a:solidFill>
                  <a:srgbClr val="296F69"/>
                </a:solidFill>
                <a:latin typeface="DejaVu Sans"/>
              </a:defRPr>
            </a:pPr>
            <a:r>
              <a:t>Start with a focused test</a:t>
            </a:r>
          </a:p>
        </p:txBody>
      </p:sp>
      <p:sp>
        <p:nvSpPr>
          <p:cNvPr id="6" name="TextBox 5"/>
          <p:cNvSpPr txBox="1"/>
          <p:nvPr/>
        </p:nvSpPr>
        <p:spPr>
          <a:xfrm>
            <a:off x="594360" y="3154680"/>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Choose a fridge with proven demand and sufficient margin.</a:t>
            </a:r>
          </a:p>
        </p:txBody>
      </p:sp>
      <p:sp>
        <p:nvSpPr>
          <p:cNvPr id="7" name="TextBox 6"/>
          <p:cNvSpPr txBox="1"/>
          <p:nvPr/>
        </p:nvSpPr>
        <p:spPr>
          <a:xfrm>
            <a:off x="594360" y="3959352"/>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Test one product and two authentic creatives: benefits, price and action.</a:t>
            </a:r>
          </a:p>
        </p:txBody>
      </p:sp>
      <p:sp>
        <p:nvSpPr>
          <p:cNvPr id="8" name="TextBox 7"/>
          <p:cNvSpPr txBox="1"/>
          <p:nvPr/>
        </p:nvSpPr>
        <p:spPr>
          <a:xfrm>
            <a:off x="594360" y="4764024"/>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Use Click-to-WhatsApp ads in locations you can serve.</a:t>
            </a:r>
          </a:p>
        </p:txBody>
      </p:sp>
      <p:sp>
        <p:nvSpPr>
          <p:cNvPr id="9" name="TextBox 8"/>
          <p:cNvSpPr txBox="1"/>
          <p:nvPr/>
        </p:nvSpPr>
        <p:spPr>
          <a:xfrm>
            <a:off x="6400800" y="2331720"/>
            <a:ext cx="5166360" cy="640080"/>
          </a:xfrm>
          <a:prstGeom prst="rect">
            <a:avLst/>
          </a:prstGeom>
          <a:noFill/>
        </p:spPr>
        <p:txBody>
          <a:bodyPr wrap="square" lIns="0" rIns="0" tIns="0" bIns="0">
            <a:spAutoFit/>
          </a:bodyPr>
          <a:lstStyle/>
          <a:p>
            <a:pPr>
              <a:spcAft>
                <a:spcPts val="1000"/>
              </a:spcAft>
              <a:defRPr sz="2100" b="1">
                <a:solidFill>
                  <a:srgbClr val="296F69"/>
                </a:solidFill>
                <a:latin typeface="DejaVu Sans"/>
              </a:defRPr>
            </a:pPr>
            <a:r>
              <a:t>Measure paying customers</a:t>
            </a:r>
          </a:p>
        </p:txBody>
      </p:sp>
      <p:sp>
        <p:nvSpPr>
          <p:cNvPr id="10" name="TextBox 9"/>
          <p:cNvSpPr txBox="1"/>
          <p:nvPr/>
        </p:nvSpPr>
        <p:spPr>
          <a:xfrm>
            <a:off x="6400800" y="3154680"/>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Handle inquiries and orders through WhatsApp Business.</a:t>
            </a:r>
          </a:p>
        </p:txBody>
      </p:sp>
      <p:sp>
        <p:nvSpPr>
          <p:cNvPr id="11" name="TextBox 10"/>
          <p:cNvSpPr txBox="1"/>
          <p:nvPr/>
        </p:nvSpPr>
        <p:spPr>
          <a:xfrm>
            <a:off x="6400800" y="3959352"/>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Record ad spend and completed paid purchases from the campaign.</a:t>
            </a:r>
          </a:p>
        </p:txBody>
      </p:sp>
      <p:sp>
        <p:nvSpPr>
          <p:cNvPr id="12" name="TextBox 11"/>
          <p:cNvSpPr txBox="1"/>
          <p:nvPr/>
        </p:nvSpPr>
        <p:spPr>
          <a:xfrm>
            <a:off x="6400800" y="4764024"/>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Calculate cost per purchase; improve based on sales, not messages alone.</a:t>
            </a:r>
          </a:p>
        </p:txBody>
      </p:sp>
      <p:sp>
        <p:nvSpPr>
          <p:cNvPr id="13" name="Rectangle 12"/>
          <p:cNvSpPr/>
          <p:nvPr/>
        </p:nvSpPr>
        <p:spPr>
          <a:xfrm>
            <a:off x="594360" y="5715000"/>
            <a:ext cx="11000232" cy="612648"/>
          </a:xfrm>
          <a:prstGeom prst="rect">
            <a:avLst/>
          </a:prstGeom>
          <a:solidFill>
            <a:srgbClr val="ED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870448"/>
            <a:ext cx="10561320" cy="384048"/>
          </a:xfrm>
          <a:prstGeom prst="rect">
            <a:avLst/>
          </a:prstGeom>
          <a:noFill/>
        </p:spPr>
        <p:txBody>
          <a:bodyPr wrap="square" lIns="0" rIns="0" tIns="0" bIns="0">
            <a:spAutoFit/>
          </a:bodyPr>
          <a:lstStyle/>
          <a:p>
            <a:pPr>
              <a:spcAft>
                <a:spcPts val="1000"/>
              </a:spcAft>
              <a:defRPr sz="1700" b="1">
                <a:solidFill>
                  <a:srgbClr val="296F69"/>
                </a:solidFill>
                <a:latin typeface="DejaVu Sans"/>
              </a:defRPr>
            </a:pPr>
            <a:r>
              <a:t>Acquire paying customers at a cost the business can sustain.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000" b="1">
                <a:solidFill>
                  <a:srgbClr val="296F69"/>
                </a:solidFill>
                <a:latin typeface="DejaVu Sans"/>
              </a:defRPr>
            </a:pPr>
            <a:r>
              <a:t>INSTAPRENYUA MASTERCLASS  /  02 / LOW-COST DIGITAL ADVERTISING</a:t>
            </a:r>
          </a:p>
        </p:txBody>
      </p:sp>
      <p:sp>
        <p:nvSpPr>
          <p:cNvPr id="3" name="TextBox 2"/>
          <p:cNvSpPr txBox="1"/>
          <p:nvPr/>
        </p:nvSpPr>
        <p:spPr>
          <a:xfrm>
            <a:off x="10972800" y="320040"/>
            <a:ext cx="594360" cy="274320"/>
          </a:xfrm>
          <a:prstGeom prst="rect">
            <a:avLst/>
          </a:prstGeom>
          <a:noFill/>
        </p:spPr>
        <p:txBody>
          <a:bodyPr wrap="square" lIns="0" rIns="0" tIns="0" bIns="0">
            <a:spAutoFit/>
          </a:bodyPr>
          <a:lstStyle/>
          <a:p>
            <a:pPr>
              <a:spcAft>
                <a:spcPts val="1000"/>
              </a:spcAft>
              <a:defRPr sz="1000" b="0">
                <a:solidFill>
                  <a:srgbClr val="536369"/>
                </a:solidFill>
                <a:latin typeface="DejaVu Sans"/>
              </a:defRPr>
            </a:pPr>
            <a:r>
              <a:t>05</a:t>
            </a:r>
          </a:p>
        </p:txBody>
      </p:sp>
      <p:sp>
        <p:nvSpPr>
          <p:cNvPr id="4" name="TextBox 3"/>
          <p:cNvSpPr txBox="1"/>
          <p:nvPr/>
        </p:nvSpPr>
        <p:spPr>
          <a:xfrm>
            <a:off x="594360" y="886968"/>
            <a:ext cx="10972800" cy="1143000"/>
          </a:xfrm>
          <a:prstGeom prst="rect">
            <a:avLst/>
          </a:prstGeom>
          <a:noFill/>
        </p:spPr>
        <p:txBody>
          <a:bodyPr wrap="square" lIns="0" rIns="0" tIns="0" bIns="0">
            <a:spAutoFit/>
          </a:bodyPr>
          <a:lstStyle/>
          <a:p>
            <a:pPr>
              <a:spcAft>
                <a:spcPts val="1000"/>
              </a:spcAft>
              <a:defRPr sz="3200" b="1">
                <a:solidFill>
                  <a:srgbClr val="202D31"/>
                </a:solidFill>
                <a:latin typeface="DejaVu Sans"/>
              </a:defRPr>
            </a:pPr>
            <a:r>
              <a:t>Can TZS 35,000 Generate</a:t>
            </a:r>
          </a:p>
          <a:p>
            <a:pPr>
              <a:spcAft>
                <a:spcPts val="1000"/>
              </a:spcAft>
              <a:defRPr sz="3200" b="1">
                <a:solidFill>
                  <a:srgbClr val="202D31"/>
                </a:solidFill>
                <a:latin typeface="DejaVu Sans"/>
              </a:defRPr>
            </a:pPr>
            <a:r>
              <a:t>Profitable Sales?</a:t>
            </a:r>
          </a:p>
        </p:txBody>
      </p:sp>
      <p:graphicFrame>
        <p:nvGraphicFramePr>
          <p:cNvPr id="5" name="Table 4"/>
          <p:cNvGraphicFramePr>
            <a:graphicFrameLocks noGrp="1"/>
          </p:cNvGraphicFramePr>
          <p:nvPr/>
        </p:nvGraphicFramePr>
        <p:xfrm>
          <a:off x="594360" y="2304288"/>
          <a:ext cx="5349240" cy="2468880"/>
        </p:xfrm>
        <a:graphic>
          <a:graphicData uri="http://schemas.openxmlformats.org/drawingml/2006/table">
            <a:tbl>
              <a:tblPr firstRow="1" bandRow="1">
                <a:tableStyleId>{5C22544A-7EE6-4342-B048-85BDC9FD1C3A}</a:tableStyleId>
              </a:tblPr>
              <a:tblGrid>
                <a:gridCol w="3611880"/>
                <a:gridCol w="1737360"/>
              </a:tblGrid>
              <a:tr h="493776">
                <a:tc>
                  <a:txBody>
                    <a:bodyPr/>
                    <a:lstStyle/>
                    <a:p>
                      <a:pPr>
                        <a:defRPr sz="1500" b="1">
                          <a:solidFill>
                            <a:srgbClr val="FFFFFF"/>
                          </a:solidFill>
                          <a:latin typeface="DejaVu Sans"/>
                        </a:defRPr>
                      </a:pPr>
                      <a:r>
                        <a:t>Advertising assumptions</a:t>
                      </a:r>
                    </a:p>
                  </a:txBody>
                  <a:tcPr marL="118872" marR="91440" marT="91440" marB="64008" anchor="ctr">
                    <a:solidFill>
                      <a:srgbClr val="296F69"/>
                    </a:solidFill>
                  </a:tcPr>
                </a:tc>
                <a:tc>
                  <a:txBody>
                    <a:bodyPr/>
                    <a:lstStyle/>
                    <a:p>
                      <a:pPr>
                        <a:defRPr sz="1500" b="1">
                          <a:solidFill>
                            <a:srgbClr val="FFFFFF"/>
                          </a:solidFill>
                          <a:latin typeface="DejaVu Sans"/>
                        </a:defRPr>
                      </a:pPr>
                      <a:r>
                        <a:t>Amount</a:t>
                      </a:r>
                    </a:p>
                  </a:txBody>
                  <a:tcPr marL="118872" marR="91440" marT="91440" marB="64008" anchor="ctr">
                    <a:solidFill>
                      <a:srgbClr val="296F69"/>
                    </a:solidFill>
                  </a:tcPr>
                </a:tc>
              </a:tr>
              <a:tr h="493776">
                <a:tc>
                  <a:txBody>
                    <a:bodyPr/>
                    <a:lstStyle/>
                    <a:p>
                      <a:pPr>
                        <a:defRPr sz="1500" b="0">
                          <a:solidFill>
                            <a:srgbClr val="202D31"/>
                          </a:solidFill>
                          <a:latin typeface="DejaVu Sans"/>
                        </a:defRPr>
                      </a:pPr>
                      <a:r>
                        <a:t>Daily budget</a:t>
                      </a:r>
                    </a:p>
                  </a:txBody>
                  <a:tcPr marL="118872" marR="91440" marT="91440" marB="64008" anchor="ctr">
                    <a:solidFill>
                      <a:srgbClr val="EDF3F0"/>
                    </a:solidFill>
                  </a:tcPr>
                </a:tc>
                <a:tc>
                  <a:txBody>
                    <a:bodyPr/>
                    <a:lstStyle/>
                    <a:p>
                      <a:pPr>
                        <a:defRPr sz="1500" b="0">
                          <a:solidFill>
                            <a:srgbClr val="202D31"/>
                          </a:solidFill>
                          <a:latin typeface="DejaVu Sans"/>
                        </a:defRPr>
                      </a:pPr>
                      <a:r>
                        <a:t>TZS 5,000</a:t>
                      </a:r>
                    </a:p>
                  </a:txBody>
                  <a:tcPr marL="118872" marR="91440" marT="91440" marB="64008" anchor="ctr">
                    <a:solidFill>
                      <a:srgbClr val="EDF3F0"/>
                    </a:solidFill>
                  </a:tcPr>
                </a:tc>
              </a:tr>
              <a:tr h="493776">
                <a:tc>
                  <a:txBody>
                    <a:bodyPr/>
                    <a:lstStyle/>
                    <a:p>
                      <a:pPr>
                        <a:defRPr sz="1500" b="0">
                          <a:solidFill>
                            <a:srgbClr val="202D31"/>
                          </a:solidFill>
                          <a:latin typeface="DejaVu Sans"/>
                        </a:defRPr>
                      </a:pPr>
                      <a:r>
                        <a:t>Campaign duration</a:t>
                      </a:r>
                    </a:p>
                  </a:txBody>
                  <a:tcPr marL="118872" marR="91440" marT="91440" marB="64008" anchor="ctr">
                    <a:solidFill>
                      <a:srgbClr val="FAFAF7"/>
                    </a:solidFill>
                  </a:tcPr>
                </a:tc>
                <a:tc>
                  <a:txBody>
                    <a:bodyPr/>
                    <a:lstStyle/>
                    <a:p>
                      <a:pPr>
                        <a:defRPr sz="1500" b="0">
                          <a:solidFill>
                            <a:srgbClr val="202D31"/>
                          </a:solidFill>
                          <a:latin typeface="DejaVu Sans"/>
                        </a:defRPr>
                      </a:pPr>
                      <a:r>
                        <a:t>7 days</a:t>
                      </a:r>
                    </a:p>
                  </a:txBody>
                  <a:tcPr marL="118872" marR="91440" marT="91440" marB="64008" anchor="ctr">
                    <a:solidFill>
                      <a:srgbClr val="FAFAF7"/>
                    </a:solidFill>
                  </a:tcPr>
                </a:tc>
              </a:tr>
              <a:tr h="493776">
                <a:tc>
                  <a:txBody>
                    <a:bodyPr/>
                    <a:lstStyle/>
                    <a:p>
                      <a:pPr>
                        <a:defRPr sz="1500" b="0">
                          <a:solidFill>
                            <a:srgbClr val="202D31"/>
                          </a:solidFill>
                          <a:latin typeface="DejaVu Sans"/>
                        </a:defRPr>
                      </a:pPr>
                      <a:r>
                        <a:t>Total ad spending</a:t>
                      </a:r>
                    </a:p>
                  </a:txBody>
                  <a:tcPr marL="118872" marR="91440" marT="91440" marB="64008" anchor="ctr">
                    <a:solidFill>
                      <a:srgbClr val="EDF3F0"/>
                    </a:solidFill>
                  </a:tcPr>
                </a:tc>
                <a:tc>
                  <a:txBody>
                    <a:bodyPr/>
                    <a:lstStyle/>
                    <a:p>
                      <a:pPr>
                        <a:defRPr sz="1500" b="0">
                          <a:solidFill>
                            <a:srgbClr val="202D31"/>
                          </a:solidFill>
                          <a:latin typeface="DejaVu Sans"/>
                        </a:defRPr>
                      </a:pPr>
                      <a:r>
                        <a:t>TZS 35,000</a:t>
                      </a:r>
                    </a:p>
                  </a:txBody>
                  <a:tcPr marL="118872" marR="91440" marT="91440" marB="64008" anchor="ctr">
                    <a:solidFill>
                      <a:srgbClr val="EDF3F0"/>
                    </a:solidFill>
                  </a:tcPr>
                </a:tc>
              </a:tr>
              <a:tr h="493776">
                <a:tc>
                  <a:txBody>
                    <a:bodyPr/>
                    <a:lstStyle/>
                    <a:p>
                      <a:pPr>
                        <a:defRPr sz="1500" b="0">
                          <a:solidFill>
                            <a:srgbClr val="202D31"/>
                          </a:solidFill>
                          <a:latin typeface="DejaVu Sans"/>
                        </a:defRPr>
                      </a:pPr>
                      <a:r>
                        <a:t>Contribution per paid sale</a:t>
                      </a:r>
                    </a:p>
                    <a:p>
                      <a:pPr>
                        <a:defRPr sz="1500" b="0">
                          <a:solidFill>
                            <a:srgbClr val="202D31"/>
                          </a:solidFill>
                          <a:latin typeface="DejaVu Sans"/>
                        </a:defRPr>
                      </a:pPr>
                      <a:r>
                        <a:t>before ads</a:t>
                      </a:r>
                    </a:p>
                  </a:txBody>
                  <a:tcPr marL="118872" marR="91440" marT="91440" marB="64008" anchor="ctr">
                    <a:solidFill>
                      <a:srgbClr val="FAFAF7"/>
                    </a:solidFill>
                  </a:tcPr>
                </a:tc>
                <a:tc>
                  <a:txBody>
                    <a:bodyPr/>
                    <a:lstStyle/>
                    <a:p>
                      <a:pPr>
                        <a:defRPr sz="1500" b="0">
                          <a:solidFill>
                            <a:srgbClr val="202D31"/>
                          </a:solidFill>
                          <a:latin typeface="DejaVu Sans"/>
                        </a:defRPr>
                      </a:pPr>
                      <a:r>
                        <a:t>TZS 15,000</a:t>
                      </a:r>
                    </a:p>
                  </a:txBody>
                  <a:tcPr marL="118872" marR="91440" marT="91440" marB="64008" anchor="ctr">
                    <a:solidFill>
                      <a:srgbClr val="FAFAF7"/>
                    </a:solidFill>
                  </a:tcPr>
                </a:tc>
              </a:tr>
            </a:tbl>
          </a:graphicData>
        </a:graphic>
      </p:graphicFrame>
      <p:graphicFrame>
        <p:nvGraphicFramePr>
          <p:cNvPr id="6" name="Table 5"/>
          <p:cNvGraphicFramePr>
            <a:graphicFrameLocks noGrp="1"/>
          </p:cNvGraphicFramePr>
          <p:nvPr/>
        </p:nvGraphicFramePr>
        <p:xfrm>
          <a:off x="6355080" y="2304288"/>
          <a:ext cx="5239511" cy="1975104"/>
        </p:xfrm>
        <a:graphic>
          <a:graphicData uri="http://schemas.openxmlformats.org/drawingml/2006/table">
            <a:tbl>
              <a:tblPr firstRow="1" bandRow="1">
                <a:tableStyleId>{5C22544A-7EE6-4342-B048-85BDC9FD1C3A}</a:tableStyleId>
              </a:tblPr>
              <a:tblGrid>
                <a:gridCol w="1874519"/>
                <a:gridCol w="3364992"/>
              </a:tblGrid>
              <a:tr h="493776">
                <a:tc>
                  <a:txBody>
                    <a:bodyPr/>
                    <a:lstStyle/>
                    <a:p>
                      <a:pPr>
                        <a:defRPr sz="1500" b="1">
                          <a:solidFill>
                            <a:srgbClr val="FFFFFF"/>
                          </a:solidFill>
                          <a:latin typeface="DejaVu Sans"/>
                        </a:defRPr>
                      </a:pPr>
                      <a:r>
                        <a:t>Paid purchases</a:t>
                      </a:r>
                    </a:p>
                  </a:txBody>
                  <a:tcPr marL="118872" marR="91440" marT="91440" marB="64008" anchor="ctr">
                    <a:solidFill>
                      <a:srgbClr val="296F69"/>
                    </a:solidFill>
                  </a:tcPr>
                </a:tc>
                <a:tc>
                  <a:txBody>
                    <a:bodyPr/>
                    <a:lstStyle/>
                    <a:p>
                      <a:pPr>
                        <a:defRPr sz="1500" b="1">
                          <a:solidFill>
                            <a:srgbClr val="FFFFFF"/>
                          </a:solidFill>
                          <a:latin typeface="DejaVu Sans"/>
                        </a:defRPr>
                      </a:pPr>
                      <a:r>
                        <a:t>Contribution after ads</a:t>
                      </a:r>
                    </a:p>
                  </a:txBody>
                  <a:tcPr marL="118872" marR="91440" marT="91440" marB="64008" anchor="ctr">
                    <a:solidFill>
                      <a:srgbClr val="296F69"/>
                    </a:solidFill>
                  </a:tcPr>
                </a:tc>
              </a:tr>
              <a:tr h="493776">
                <a:tc>
                  <a:txBody>
                    <a:bodyPr/>
                    <a:lstStyle/>
                    <a:p>
                      <a:pPr>
                        <a:defRPr sz="1500" b="0">
                          <a:solidFill>
                            <a:srgbClr val="202D31"/>
                          </a:solidFill>
                          <a:latin typeface="DejaVu Sans"/>
                        </a:defRPr>
                      </a:pPr>
                      <a:r>
                        <a:t>1 sale</a:t>
                      </a:r>
                    </a:p>
                  </a:txBody>
                  <a:tcPr marL="118872" marR="91440" marT="91440" marB="64008" anchor="ctr">
                    <a:solidFill>
                      <a:srgbClr val="EDF3F0"/>
                    </a:solidFill>
                  </a:tcPr>
                </a:tc>
                <a:tc>
                  <a:txBody>
                    <a:bodyPr/>
                    <a:lstStyle/>
                    <a:p>
                      <a:pPr>
                        <a:defRPr sz="1500" b="0">
                          <a:solidFill>
                            <a:srgbClr val="202D31"/>
                          </a:solidFill>
                          <a:latin typeface="DejaVu Sans"/>
                        </a:defRPr>
                      </a:pPr>
                      <a:r>
                        <a:t>−TZS 20,000</a:t>
                      </a:r>
                    </a:p>
                  </a:txBody>
                  <a:tcPr marL="118872" marR="91440" marT="91440" marB="64008" anchor="ctr">
                    <a:solidFill>
                      <a:srgbClr val="EDF3F0"/>
                    </a:solidFill>
                  </a:tcPr>
                </a:tc>
              </a:tr>
              <a:tr h="493776">
                <a:tc>
                  <a:txBody>
                    <a:bodyPr/>
                    <a:lstStyle/>
                    <a:p>
                      <a:pPr>
                        <a:defRPr sz="1500" b="0">
                          <a:solidFill>
                            <a:srgbClr val="202D31"/>
                          </a:solidFill>
                          <a:latin typeface="DejaVu Sans"/>
                        </a:defRPr>
                      </a:pPr>
                      <a:r>
                        <a:t>3 sales</a:t>
                      </a:r>
                    </a:p>
                  </a:txBody>
                  <a:tcPr marL="118872" marR="91440" marT="91440" marB="64008" anchor="ctr">
                    <a:solidFill>
                      <a:srgbClr val="FAFAF7"/>
                    </a:solidFill>
                  </a:tcPr>
                </a:tc>
                <a:tc>
                  <a:txBody>
                    <a:bodyPr/>
                    <a:lstStyle/>
                    <a:p>
                      <a:pPr>
                        <a:defRPr sz="1500" b="0">
                          <a:solidFill>
                            <a:srgbClr val="202D31"/>
                          </a:solidFill>
                          <a:latin typeface="DejaVu Sans"/>
                        </a:defRPr>
                      </a:pPr>
                      <a:r>
                        <a:t>+TZS 10,000</a:t>
                      </a:r>
                    </a:p>
                  </a:txBody>
                  <a:tcPr marL="118872" marR="91440" marT="91440" marB="64008" anchor="ctr">
                    <a:solidFill>
                      <a:srgbClr val="FAFAF7"/>
                    </a:solidFill>
                  </a:tcPr>
                </a:tc>
              </a:tr>
              <a:tr h="493776">
                <a:tc>
                  <a:txBody>
                    <a:bodyPr/>
                    <a:lstStyle/>
                    <a:p>
                      <a:pPr>
                        <a:defRPr sz="1500" b="0">
                          <a:solidFill>
                            <a:srgbClr val="202D31"/>
                          </a:solidFill>
                          <a:latin typeface="DejaVu Sans"/>
                        </a:defRPr>
                      </a:pPr>
                      <a:r>
                        <a:t>5 sales</a:t>
                      </a:r>
                    </a:p>
                  </a:txBody>
                  <a:tcPr marL="118872" marR="91440" marT="91440" marB="64008" anchor="ctr">
                    <a:solidFill>
                      <a:srgbClr val="EDF3F0"/>
                    </a:solidFill>
                  </a:tcPr>
                </a:tc>
                <a:tc>
                  <a:txBody>
                    <a:bodyPr/>
                    <a:lstStyle/>
                    <a:p>
                      <a:pPr>
                        <a:defRPr sz="1500" b="0">
                          <a:solidFill>
                            <a:srgbClr val="202D31"/>
                          </a:solidFill>
                          <a:latin typeface="DejaVu Sans"/>
                        </a:defRPr>
                      </a:pPr>
                      <a:r>
                        <a:t>+TZS 40,000</a:t>
                      </a:r>
                    </a:p>
                  </a:txBody>
                  <a:tcPr marL="118872" marR="91440" marT="91440" marB="64008" anchor="ctr">
                    <a:solidFill>
                      <a:srgbClr val="EDF3F0"/>
                    </a:solidFill>
                  </a:tcPr>
                </a:tc>
              </a:tr>
            </a:tbl>
          </a:graphicData>
        </a:graphic>
      </p:graphicFrame>
      <p:sp>
        <p:nvSpPr>
          <p:cNvPr id="7" name="TextBox 6"/>
          <p:cNvSpPr txBox="1"/>
          <p:nvPr/>
        </p:nvSpPr>
        <p:spPr>
          <a:xfrm>
            <a:off x="594360" y="5010912"/>
            <a:ext cx="10972800" cy="521207"/>
          </a:xfrm>
          <a:prstGeom prst="rect">
            <a:avLst/>
          </a:prstGeom>
          <a:noFill/>
        </p:spPr>
        <p:txBody>
          <a:bodyPr wrap="square" lIns="0" rIns="0" tIns="0" bIns="0">
            <a:spAutoFit/>
          </a:bodyPr>
          <a:lstStyle/>
          <a:p>
            <a:pPr>
              <a:spcAft>
                <a:spcPts val="1000"/>
              </a:spcAft>
              <a:defRPr sz="1200" b="0">
                <a:solidFill>
                  <a:srgbClr val="536369"/>
                </a:solidFill>
                <a:latin typeface="DejaVu Sans"/>
              </a:defRPr>
            </a:pPr>
            <a:r>
              <a:t>Illustrative figures only. Excludes overheads, taxes and other unaccounted costs.</a:t>
            </a:r>
          </a:p>
          <a:p>
            <a:pPr>
              <a:spcAft>
                <a:spcPts val="1000"/>
              </a:spcAft>
              <a:defRPr sz="1200" b="0">
                <a:solidFill>
                  <a:srgbClr val="536369"/>
                </a:solidFill>
                <a:latin typeface="DejaVu Sans"/>
              </a:defRPr>
            </a:pPr>
            <a:r>
              <a:t>Advertising performance is not guaranteed.</a:t>
            </a:r>
          </a:p>
        </p:txBody>
      </p:sp>
      <p:sp>
        <p:nvSpPr>
          <p:cNvPr id="8" name="Rectangle 7"/>
          <p:cNvSpPr/>
          <p:nvPr/>
        </p:nvSpPr>
        <p:spPr>
          <a:xfrm>
            <a:off x="594360" y="5715000"/>
            <a:ext cx="11000232" cy="612648"/>
          </a:xfrm>
          <a:prstGeom prst="rect">
            <a:avLst/>
          </a:prstGeom>
          <a:solidFill>
            <a:srgbClr val="ED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870448"/>
            <a:ext cx="10561320" cy="384048"/>
          </a:xfrm>
          <a:prstGeom prst="rect">
            <a:avLst/>
          </a:prstGeom>
          <a:noFill/>
        </p:spPr>
        <p:txBody>
          <a:bodyPr wrap="square" lIns="0" rIns="0" tIns="0" bIns="0">
            <a:spAutoFit/>
          </a:bodyPr>
          <a:lstStyle/>
          <a:p>
            <a:pPr>
              <a:spcAft>
                <a:spcPts val="1000"/>
              </a:spcAft>
              <a:defRPr sz="1700" b="1">
                <a:solidFill>
                  <a:srgbClr val="296F69"/>
                </a:solidFill>
                <a:latin typeface="DejaVu Sans"/>
              </a:defRPr>
            </a:pPr>
            <a:r>
              <a:t>At least 3 completed paid sales are needed to cover the advertising cost.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000" b="1">
                <a:solidFill>
                  <a:srgbClr val="296F69"/>
                </a:solidFill>
                <a:latin typeface="DejaVu Sans"/>
              </a:defRPr>
            </a:pPr>
            <a:r>
              <a:t>INSTAPRENYUA MASTERCLASS  /  03 / CONVERSION &amp; RETENTION</a:t>
            </a:r>
          </a:p>
        </p:txBody>
      </p:sp>
      <p:sp>
        <p:nvSpPr>
          <p:cNvPr id="3" name="TextBox 2"/>
          <p:cNvSpPr txBox="1"/>
          <p:nvPr/>
        </p:nvSpPr>
        <p:spPr>
          <a:xfrm>
            <a:off x="10972800" y="320040"/>
            <a:ext cx="594360" cy="274320"/>
          </a:xfrm>
          <a:prstGeom prst="rect">
            <a:avLst/>
          </a:prstGeom>
          <a:noFill/>
        </p:spPr>
        <p:txBody>
          <a:bodyPr wrap="square" lIns="0" rIns="0" tIns="0" bIns="0">
            <a:spAutoFit/>
          </a:bodyPr>
          <a:lstStyle/>
          <a:p>
            <a:pPr>
              <a:spcAft>
                <a:spcPts val="1000"/>
              </a:spcAft>
              <a:defRPr sz="1000" b="0">
                <a:solidFill>
                  <a:srgbClr val="536369"/>
                </a:solidFill>
                <a:latin typeface="DejaVu Sans"/>
              </a:defRPr>
            </a:pPr>
            <a:r>
              <a:t>06</a:t>
            </a:r>
          </a:p>
        </p:txBody>
      </p:sp>
      <p:sp>
        <p:nvSpPr>
          <p:cNvPr id="4" name="TextBox 3"/>
          <p:cNvSpPr txBox="1"/>
          <p:nvPr/>
        </p:nvSpPr>
        <p:spPr>
          <a:xfrm>
            <a:off x="594360" y="886968"/>
            <a:ext cx="10972800" cy="1143000"/>
          </a:xfrm>
          <a:prstGeom prst="rect">
            <a:avLst/>
          </a:prstGeom>
          <a:noFill/>
        </p:spPr>
        <p:txBody>
          <a:bodyPr wrap="square" lIns="0" rIns="0" tIns="0" bIns="0">
            <a:spAutoFit/>
          </a:bodyPr>
          <a:lstStyle/>
          <a:p>
            <a:pPr>
              <a:spcAft>
                <a:spcPts val="1000"/>
              </a:spcAft>
              <a:defRPr sz="3200" b="1">
                <a:solidFill>
                  <a:srgbClr val="202D31"/>
                </a:solidFill>
                <a:latin typeface="DejaVu Sans"/>
              </a:defRPr>
            </a:pPr>
            <a:r>
              <a:t>Turn Interested Visitors</a:t>
            </a:r>
          </a:p>
          <a:p>
            <a:pPr>
              <a:spcAft>
                <a:spcPts val="1000"/>
              </a:spcAft>
              <a:defRPr sz="3200" b="1">
                <a:solidFill>
                  <a:srgbClr val="202D31"/>
                </a:solidFill>
                <a:latin typeface="DejaVu Sans"/>
              </a:defRPr>
            </a:pPr>
            <a:r>
              <a:t>into Paying Customers</a:t>
            </a:r>
          </a:p>
        </p:txBody>
      </p:sp>
      <p:sp>
        <p:nvSpPr>
          <p:cNvPr id="5" name="TextBox 4"/>
          <p:cNvSpPr txBox="1"/>
          <p:nvPr/>
        </p:nvSpPr>
        <p:spPr>
          <a:xfrm>
            <a:off x="594360" y="2331720"/>
            <a:ext cx="5166360" cy="640080"/>
          </a:xfrm>
          <a:prstGeom prst="rect">
            <a:avLst/>
          </a:prstGeom>
          <a:noFill/>
        </p:spPr>
        <p:txBody>
          <a:bodyPr wrap="square" lIns="0" rIns="0" tIns="0" bIns="0">
            <a:spAutoFit/>
          </a:bodyPr>
          <a:lstStyle/>
          <a:p>
            <a:pPr>
              <a:spcAft>
                <a:spcPts val="1000"/>
              </a:spcAft>
              <a:defRPr sz="2100" b="1">
                <a:solidFill>
                  <a:srgbClr val="296F69"/>
                </a:solidFill>
                <a:latin typeface="DejaVu Sans"/>
              </a:defRPr>
            </a:pPr>
            <a:r>
              <a:t>Build confidence in the product</a:t>
            </a:r>
          </a:p>
        </p:txBody>
      </p:sp>
      <p:sp>
        <p:nvSpPr>
          <p:cNvPr id="6" name="TextBox 5"/>
          <p:cNvSpPr txBox="1"/>
          <p:nvPr/>
        </p:nvSpPr>
        <p:spPr>
          <a:xfrm>
            <a:off x="594360" y="3154680"/>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Explain genuine quality, benefits and value for money.</a:t>
            </a:r>
          </a:p>
        </p:txBody>
      </p:sp>
      <p:sp>
        <p:nvSpPr>
          <p:cNvPr id="7" name="TextBox 6"/>
          <p:cNvSpPr txBox="1"/>
          <p:nvPr/>
        </p:nvSpPr>
        <p:spPr>
          <a:xfrm>
            <a:off x="594360" y="3959352"/>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Show authentic videos and comparisons that clarify suitability.</a:t>
            </a:r>
          </a:p>
        </p:txBody>
      </p:sp>
      <p:sp>
        <p:nvSpPr>
          <p:cNvPr id="8" name="TextBox 7"/>
          <p:cNvSpPr txBox="1"/>
          <p:nvPr/>
        </p:nvSpPr>
        <p:spPr>
          <a:xfrm>
            <a:off x="594360" y="4764024"/>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Set accurate expectations about what the buyer will receive.</a:t>
            </a:r>
          </a:p>
        </p:txBody>
      </p:sp>
      <p:sp>
        <p:nvSpPr>
          <p:cNvPr id="9" name="TextBox 8"/>
          <p:cNvSpPr txBox="1"/>
          <p:nvPr/>
        </p:nvSpPr>
        <p:spPr>
          <a:xfrm>
            <a:off x="6400800" y="2331720"/>
            <a:ext cx="5166360" cy="640080"/>
          </a:xfrm>
          <a:prstGeom prst="rect">
            <a:avLst/>
          </a:prstGeom>
          <a:noFill/>
        </p:spPr>
        <p:txBody>
          <a:bodyPr wrap="square" lIns="0" rIns="0" tIns="0" bIns="0">
            <a:spAutoFit/>
          </a:bodyPr>
          <a:lstStyle/>
          <a:p>
            <a:pPr>
              <a:spcAft>
                <a:spcPts val="1000"/>
              </a:spcAft>
              <a:defRPr sz="2100" b="1">
                <a:solidFill>
                  <a:srgbClr val="296F69"/>
                </a:solidFill>
                <a:latin typeface="DejaVu Sans"/>
              </a:defRPr>
            </a:pPr>
            <a:r>
              <a:t>Make the buying decision easier</a:t>
            </a:r>
          </a:p>
        </p:txBody>
      </p:sp>
      <p:sp>
        <p:nvSpPr>
          <p:cNvPr id="10" name="TextBox 9"/>
          <p:cNvSpPr txBox="1"/>
          <p:nvPr/>
        </p:nvSpPr>
        <p:spPr>
          <a:xfrm>
            <a:off x="6400800" y="3154680"/>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Ask about needs; recommend a suitable fridge and answer concerns.</a:t>
            </a:r>
          </a:p>
        </p:txBody>
      </p:sp>
      <p:sp>
        <p:nvSpPr>
          <p:cNvPr id="11" name="TextBox 10"/>
          <p:cNvSpPr txBox="1"/>
          <p:nvPr/>
        </p:nvSpPr>
        <p:spPr>
          <a:xfrm>
            <a:off x="6400800" y="3959352"/>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Clarify price, availability, delivery and payment in WhatsApp.</a:t>
            </a:r>
          </a:p>
        </p:txBody>
      </p:sp>
      <p:sp>
        <p:nvSpPr>
          <p:cNvPr id="12" name="TextBox 11"/>
          <p:cNvSpPr txBox="1"/>
          <p:nvPr/>
        </p:nvSpPr>
        <p:spPr>
          <a:xfrm>
            <a:off x="6400800" y="4764024"/>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Give one clear next step and follow up on unresolved inquiries.</a:t>
            </a:r>
          </a:p>
        </p:txBody>
      </p:sp>
      <p:sp>
        <p:nvSpPr>
          <p:cNvPr id="13" name="Rectangle 12"/>
          <p:cNvSpPr/>
          <p:nvPr/>
        </p:nvSpPr>
        <p:spPr>
          <a:xfrm>
            <a:off x="594360" y="5715000"/>
            <a:ext cx="11000232" cy="612648"/>
          </a:xfrm>
          <a:prstGeom prst="rect">
            <a:avLst/>
          </a:prstGeom>
          <a:solidFill>
            <a:srgbClr val="ED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870448"/>
            <a:ext cx="10561320" cy="384048"/>
          </a:xfrm>
          <a:prstGeom prst="rect">
            <a:avLst/>
          </a:prstGeom>
          <a:noFill/>
        </p:spPr>
        <p:txBody>
          <a:bodyPr wrap="square" lIns="0" rIns="0" tIns="0" bIns="0">
            <a:spAutoFit/>
          </a:bodyPr>
          <a:lstStyle/>
          <a:p>
            <a:pPr>
              <a:spcAft>
                <a:spcPts val="1000"/>
              </a:spcAft>
              <a:defRPr sz="1700" b="1">
                <a:solidFill>
                  <a:srgbClr val="296F69"/>
                </a:solidFill>
                <a:latin typeface="DejaVu Sans"/>
              </a:defRPr>
            </a:pPr>
            <a:r>
              <a:t>Help customers understand the value, trust the product and complete the purchase.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000" b="1">
                <a:solidFill>
                  <a:srgbClr val="296F69"/>
                </a:solidFill>
                <a:latin typeface="DejaVu Sans"/>
              </a:defRPr>
            </a:pPr>
            <a:r>
              <a:t>INSTAPRENYUA MASTERCLASS  /  03 / CONVERSION &amp; RETENTION</a:t>
            </a:r>
          </a:p>
        </p:txBody>
      </p:sp>
      <p:sp>
        <p:nvSpPr>
          <p:cNvPr id="3" name="TextBox 2"/>
          <p:cNvSpPr txBox="1"/>
          <p:nvPr/>
        </p:nvSpPr>
        <p:spPr>
          <a:xfrm>
            <a:off x="10972800" y="320040"/>
            <a:ext cx="594360" cy="274320"/>
          </a:xfrm>
          <a:prstGeom prst="rect">
            <a:avLst/>
          </a:prstGeom>
          <a:noFill/>
        </p:spPr>
        <p:txBody>
          <a:bodyPr wrap="square" lIns="0" rIns="0" tIns="0" bIns="0">
            <a:spAutoFit/>
          </a:bodyPr>
          <a:lstStyle/>
          <a:p>
            <a:pPr>
              <a:spcAft>
                <a:spcPts val="1000"/>
              </a:spcAft>
              <a:defRPr sz="1000" b="0">
                <a:solidFill>
                  <a:srgbClr val="536369"/>
                </a:solidFill>
                <a:latin typeface="DejaVu Sans"/>
              </a:defRPr>
            </a:pPr>
            <a:r>
              <a:t>07</a:t>
            </a:r>
          </a:p>
        </p:txBody>
      </p:sp>
      <p:sp>
        <p:nvSpPr>
          <p:cNvPr id="4" name="TextBox 3"/>
          <p:cNvSpPr txBox="1"/>
          <p:nvPr/>
        </p:nvSpPr>
        <p:spPr>
          <a:xfrm>
            <a:off x="594360" y="886968"/>
            <a:ext cx="10972800" cy="1143000"/>
          </a:xfrm>
          <a:prstGeom prst="rect">
            <a:avLst/>
          </a:prstGeom>
          <a:noFill/>
        </p:spPr>
        <p:txBody>
          <a:bodyPr wrap="square" lIns="0" rIns="0" tIns="0" bIns="0">
            <a:spAutoFit/>
          </a:bodyPr>
          <a:lstStyle/>
          <a:p>
            <a:pPr>
              <a:spcAft>
                <a:spcPts val="1000"/>
              </a:spcAft>
              <a:defRPr sz="3200" b="1">
                <a:solidFill>
                  <a:srgbClr val="202D31"/>
                </a:solidFill>
                <a:latin typeface="DejaVu Sans"/>
              </a:defRPr>
            </a:pPr>
            <a:r>
              <a:t>Turn Buyers into Returning</a:t>
            </a:r>
          </a:p>
          <a:p>
            <a:pPr>
              <a:spcAft>
                <a:spcPts val="1000"/>
              </a:spcAft>
              <a:defRPr sz="3200" b="1">
                <a:solidFill>
                  <a:srgbClr val="202D31"/>
                </a:solidFill>
                <a:latin typeface="DejaVu Sans"/>
              </a:defRPr>
            </a:pPr>
            <a:r>
              <a:t>Customers and Advocates</a:t>
            </a:r>
          </a:p>
        </p:txBody>
      </p:sp>
      <p:sp>
        <p:nvSpPr>
          <p:cNvPr id="5" name="TextBox 4"/>
          <p:cNvSpPr txBox="1"/>
          <p:nvPr/>
        </p:nvSpPr>
        <p:spPr>
          <a:xfrm>
            <a:off x="594360" y="2331720"/>
            <a:ext cx="5166360" cy="640080"/>
          </a:xfrm>
          <a:prstGeom prst="rect">
            <a:avLst/>
          </a:prstGeom>
          <a:noFill/>
        </p:spPr>
        <p:txBody>
          <a:bodyPr wrap="square" lIns="0" rIns="0" tIns="0" bIns="0">
            <a:spAutoFit/>
          </a:bodyPr>
          <a:lstStyle/>
          <a:p>
            <a:pPr>
              <a:spcAft>
                <a:spcPts val="1000"/>
              </a:spcAft>
              <a:defRPr sz="2100" b="1">
                <a:solidFill>
                  <a:srgbClr val="296F69"/>
                </a:solidFill>
                <a:latin typeface="DejaVu Sans"/>
              </a:defRPr>
            </a:pPr>
            <a:r>
              <a:t>Stay helpful after the sale</a:t>
            </a:r>
          </a:p>
        </p:txBody>
      </p:sp>
      <p:sp>
        <p:nvSpPr>
          <p:cNvPr id="6" name="TextBox 5"/>
          <p:cNvSpPr txBox="1"/>
          <p:nvPr/>
        </p:nvSpPr>
        <p:spPr>
          <a:xfrm>
            <a:off x="594360" y="3154680"/>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Check how the purchase is working and ask for feedback.</a:t>
            </a:r>
          </a:p>
        </p:txBody>
      </p:sp>
      <p:sp>
        <p:nvSpPr>
          <p:cNvPr id="7" name="TextBox 6"/>
          <p:cNvSpPr txBox="1"/>
          <p:nvPr/>
        </p:nvSpPr>
        <p:spPr>
          <a:xfrm>
            <a:off x="594360" y="3959352"/>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Share useful fridge care and usage guidance.</a:t>
            </a:r>
          </a:p>
        </p:txBody>
      </p:sp>
      <p:sp>
        <p:nvSpPr>
          <p:cNvPr id="8" name="TextBox 7"/>
          <p:cNvSpPr txBox="1"/>
          <p:nvPr/>
        </p:nvSpPr>
        <p:spPr>
          <a:xfrm>
            <a:off x="594360" y="4764024"/>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Personalize future contact around the customer’s needs.</a:t>
            </a:r>
          </a:p>
        </p:txBody>
      </p:sp>
      <p:sp>
        <p:nvSpPr>
          <p:cNvPr id="9" name="TextBox 8"/>
          <p:cNvSpPr txBox="1"/>
          <p:nvPr/>
        </p:nvSpPr>
        <p:spPr>
          <a:xfrm>
            <a:off x="6400800" y="2331720"/>
            <a:ext cx="5166360" cy="640080"/>
          </a:xfrm>
          <a:prstGeom prst="rect">
            <a:avLst/>
          </a:prstGeom>
          <a:noFill/>
        </p:spPr>
        <p:txBody>
          <a:bodyPr wrap="square" lIns="0" rIns="0" tIns="0" bIns="0">
            <a:spAutoFit/>
          </a:bodyPr>
          <a:lstStyle/>
          <a:p>
            <a:pPr>
              <a:spcAft>
                <a:spcPts val="1000"/>
              </a:spcAft>
              <a:defRPr sz="2100" b="1">
                <a:solidFill>
                  <a:srgbClr val="296F69"/>
                </a:solidFill>
                <a:latin typeface="DejaVu Sans"/>
              </a:defRPr>
            </a:pPr>
            <a:r>
              <a:t>Earn the next purchase or referral</a:t>
            </a:r>
          </a:p>
        </p:txBody>
      </p:sp>
      <p:sp>
        <p:nvSpPr>
          <p:cNvPr id="10" name="TextBox 9"/>
          <p:cNvSpPr txBox="1"/>
          <p:nvPr/>
        </p:nvSpPr>
        <p:spPr>
          <a:xfrm>
            <a:off x="6400800" y="3154680"/>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Use feedback to improve your messages and customer experience.</a:t>
            </a:r>
          </a:p>
        </p:txBody>
      </p:sp>
      <p:sp>
        <p:nvSpPr>
          <p:cNvPr id="11" name="TextBox 10"/>
          <p:cNvSpPr txBox="1"/>
          <p:nvPr/>
        </p:nvSpPr>
        <p:spPr>
          <a:xfrm>
            <a:off x="6400800" y="3959352"/>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Recommend relevant products without constant promotions.</a:t>
            </a:r>
          </a:p>
        </p:txBody>
      </p:sp>
      <p:sp>
        <p:nvSpPr>
          <p:cNvPr id="12" name="TextBox 11"/>
          <p:cNvSpPr txBox="1"/>
          <p:nvPr/>
        </p:nvSpPr>
        <p:spPr>
          <a:xfrm>
            <a:off x="6400800" y="4764024"/>
            <a:ext cx="5166360" cy="694944"/>
          </a:xfrm>
          <a:prstGeom prst="rect">
            <a:avLst/>
          </a:prstGeom>
          <a:noFill/>
        </p:spPr>
        <p:txBody>
          <a:bodyPr wrap="square" lIns="0" rIns="0" tIns="0" bIns="0">
            <a:spAutoFit/>
          </a:bodyPr>
          <a:lstStyle/>
          <a:p>
            <a:pPr>
              <a:spcAft>
                <a:spcPts val="1000"/>
              </a:spcAft>
              <a:defRPr sz="2000" b="0">
                <a:solidFill>
                  <a:srgbClr val="202D31"/>
                </a:solidFill>
                <a:latin typeface="DejaVu Sans"/>
              </a:defRPr>
            </a:pPr>
            <a:r>
              <a:t>Invite satisfied customers to recommend your business.</a:t>
            </a:r>
          </a:p>
        </p:txBody>
      </p:sp>
      <p:sp>
        <p:nvSpPr>
          <p:cNvPr id="13" name="Rectangle 12"/>
          <p:cNvSpPr/>
          <p:nvPr/>
        </p:nvSpPr>
        <p:spPr>
          <a:xfrm>
            <a:off x="594360" y="5715000"/>
            <a:ext cx="11000232" cy="612648"/>
          </a:xfrm>
          <a:prstGeom prst="rect">
            <a:avLst/>
          </a:prstGeom>
          <a:solidFill>
            <a:srgbClr val="ED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870448"/>
            <a:ext cx="10561320" cy="384048"/>
          </a:xfrm>
          <a:prstGeom prst="rect">
            <a:avLst/>
          </a:prstGeom>
          <a:noFill/>
        </p:spPr>
        <p:txBody>
          <a:bodyPr wrap="square" lIns="0" rIns="0" tIns="0" bIns="0">
            <a:spAutoFit/>
          </a:bodyPr>
          <a:lstStyle/>
          <a:p>
            <a:pPr>
              <a:spcAft>
                <a:spcPts val="1000"/>
              </a:spcAft>
              <a:defRPr sz="1700" b="1">
                <a:solidFill>
                  <a:srgbClr val="296F69"/>
                </a:solidFill>
                <a:latin typeface="DejaVu Sans"/>
              </a:defRPr>
            </a:pPr>
            <a:r>
              <a:t>The relationship should not end when the customer pays.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000" b="1">
                <a:solidFill>
                  <a:srgbClr val="296F69"/>
                </a:solidFill>
                <a:latin typeface="DejaVu Sans"/>
              </a:defRPr>
            </a:pPr>
            <a:r>
              <a:t>INSTAPRENYUA MASTERCLASS  /  THE CUSTOMER GROWTH JOURNEY</a:t>
            </a:r>
          </a:p>
        </p:txBody>
      </p:sp>
      <p:sp>
        <p:nvSpPr>
          <p:cNvPr id="3" name="TextBox 2"/>
          <p:cNvSpPr txBox="1"/>
          <p:nvPr/>
        </p:nvSpPr>
        <p:spPr>
          <a:xfrm>
            <a:off x="10972800" y="320040"/>
            <a:ext cx="594360" cy="274320"/>
          </a:xfrm>
          <a:prstGeom prst="rect">
            <a:avLst/>
          </a:prstGeom>
          <a:noFill/>
        </p:spPr>
        <p:txBody>
          <a:bodyPr wrap="square" lIns="0" rIns="0" tIns="0" bIns="0">
            <a:spAutoFit/>
          </a:bodyPr>
          <a:lstStyle/>
          <a:p>
            <a:pPr>
              <a:spcAft>
                <a:spcPts val="1000"/>
              </a:spcAft>
              <a:defRPr sz="1000" b="0">
                <a:solidFill>
                  <a:srgbClr val="536369"/>
                </a:solidFill>
                <a:latin typeface="DejaVu Sans"/>
              </a:defRPr>
            </a:pPr>
            <a:r>
              <a:t>08</a:t>
            </a:r>
          </a:p>
        </p:txBody>
      </p:sp>
      <p:sp>
        <p:nvSpPr>
          <p:cNvPr id="4" name="TextBox 3"/>
          <p:cNvSpPr txBox="1"/>
          <p:nvPr/>
        </p:nvSpPr>
        <p:spPr>
          <a:xfrm>
            <a:off x="594360" y="886968"/>
            <a:ext cx="10972800" cy="1143000"/>
          </a:xfrm>
          <a:prstGeom prst="rect">
            <a:avLst/>
          </a:prstGeom>
          <a:noFill/>
        </p:spPr>
        <p:txBody>
          <a:bodyPr wrap="square" lIns="0" rIns="0" tIns="0" bIns="0">
            <a:spAutoFit/>
          </a:bodyPr>
          <a:lstStyle/>
          <a:p>
            <a:pPr>
              <a:spcAft>
                <a:spcPts val="1000"/>
              </a:spcAft>
              <a:defRPr sz="3200" b="1">
                <a:solidFill>
                  <a:srgbClr val="202D31"/>
                </a:solidFill>
                <a:latin typeface="DejaVu Sans"/>
              </a:defRPr>
            </a:pPr>
            <a:r>
              <a:t>Make Every Customer</a:t>
            </a:r>
          </a:p>
          <a:p>
            <a:pPr>
              <a:spcAft>
                <a:spcPts val="1000"/>
              </a:spcAft>
              <a:defRPr sz="3200" b="1">
                <a:solidFill>
                  <a:srgbClr val="202D31"/>
                </a:solidFill>
                <a:latin typeface="DejaVu Sans"/>
              </a:defRPr>
            </a:pPr>
            <a:r>
              <a:t>Interaction Count</a:t>
            </a:r>
          </a:p>
        </p:txBody>
      </p:sp>
      <p:sp>
        <p:nvSpPr>
          <p:cNvPr id="5" name="TextBox 4"/>
          <p:cNvSpPr txBox="1"/>
          <p:nvPr/>
        </p:nvSpPr>
        <p:spPr>
          <a:xfrm>
            <a:off x="594360" y="2606040"/>
            <a:ext cx="11000232" cy="457200"/>
          </a:xfrm>
          <a:prstGeom prst="rect">
            <a:avLst/>
          </a:prstGeom>
          <a:noFill/>
        </p:spPr>
        <p:txBody>
          <a:bodyPr wrap="square" lIns="0" rIns="0" tIns="0" bIns="0">
            <a:spAutoFit/>
          </a:bodyPr>
          <a:lstStyle/>
          <a:p>
            <a:pPr>
              <a:spcAft>
                <a:spcPts val="1000"/>
              </a:spcAft>
              <a:defRPr sz="2400" b="1">
                <a:solidFill>
                  <a:srgbClr val="296F69"/>
                </a:solidFill>
                <a:latin typeface="DejaVu Sans"/>
              </a:defRPr>
            </a:pPr>
            <a:r>
              <a:t>Get Discovered → Attract Inquiries → Convert to Sales →</a:t>
            </a:r>
          </a:p>
        </p:txBody>
      </p:sp>
      <p:sp>
        <p:nvSpPr>
          <p:cNvPr id="6" name="TextBox 5"/>
          <p:cNvSpPr txBox="1"/>
          <p:nvPr/>
        </p:nvSpPr>
        <p:spPr>
          <a:xfrm>
            <a:off x="594360" y="3200400"/>
            <a:ext cx="11000232" cy="502920"/>
          </a:xfrm>
          <a:prstGeom prst="rect">
            <a:avLst/>
          </a:prstGeom>
          <a:noFill/>
        </p:spPr>
        <p:txBody>
          <a:bodyPr wrap="square" lIns="0" rIns="0" tIns="0" bIns="0">
            <a:spAutoFit/>
          </a:bodyPr>
          <a:lstStyle/>
          <a:p>
            <a:pPr>
              <a:spcAft>
                <a:spcPts val="1000"/>
              </a:spcAft>
              <a:defRPr sz="2400" b="1">
                <a:solidFill>
                  <a:srgbClr val="296F69"/>
                </a:solidFill>
                <a:latin typeface="DejaVu Sans"/>
              </a:defRPr>
            </a:pPr>
            <a:r>
              <a:t>Encourage Repeat Business &amp; Referrals</a:t>
            </a:r>
          </a:p>
        </p:txBody>
      </p:sp>
      <p:sp>
        <p:nvSpPr>
          <p:cNvPr id="7" name="TextBox 6"/>
          <p:cNvSpPr txBox="1"/>
          <p:nvPr/>
        </p:nvSpPr>
        <p:spPr>
          <a:xfrm>
            <a:off x="594360" y="4297680"/>
            <a:ext cx="10789920" cy="1508760"/>
          </a:xfrm>
          <a:prstGeom prst="rect">
            <a:avLst/>
          </a:prstGeom>
          <a:noFill/>
        </p:spPr>
        <p:txBody>
          <a:bodyPr wrap="square" lIns="0" rIns="0" tIns="0" bIns="0">
            <a:spAutoFit/>
          </a:bodyPr>
          <a:lstStyle/>
          <a:p>
            <a:pPr>
              <a:spcAft>
                <a:spcPts val="1000"/>
              </a:spcAft>
              <a:defRPr sz="2400" b="0">
                <a:solidFill>
                  <a:srgbClr val="202D31"/>
                </a:solidFill>
                <a:latin typeface="DejaVu Sans"/>
              </a:defRPr>
            </a:pPr>
            <a:r>
              <a:t>Being visible online is only the beginning. Sustainable growth comes from attracting the right customers, helping them buy with confidence and building relationships that keep them coming back or recommending your business.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