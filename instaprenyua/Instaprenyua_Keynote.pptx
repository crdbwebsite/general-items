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3 minutes | Same Products, Different Sellers. Why Should Customers Choose You?</a:t>
            </a:r>
          </a:p>
          <a:p/>
          <a:p/>
          <a:p/>
          <a:p>
            <a:r>
              <a:t>A practical self-reflection to uncover what your customers truly value—and how to build a business they trust and recommend.</a:t>
            </a:r>
          </a:p>
          <a:p/>
          <a:p/>
          <a:p/>
          <a:p>
            <a:r>
              <a:t>Approved supporting statement: A practical self-reflection to uncover what your customers truly value—and how to build a business they trust and recommend.</a:t>
            </a:r>
          </a:p>
          <a:p/>
          <a:p>
            <a:r>
              <a:t>Delivery duration: 33 minutes, including a 20-second private reflection on slide 2 and a 75-second closing self-audit on slide 9. The detailed narrative and transition are the spoken script. Objectives, deeper insights, takeaways, delivery cues and private rehearsal prompts are presenter aids, not additional speech.</a:t>
            </a:r>
          </a:p>
          <a:p/>
          <a:p>
            <a:r>
              <a:t>The slide title, number and timing are authoritative. Short natural sentence pauses are included in the delivery budget. Only the two marked moments invite an audience response. Other reflection questions support rehearsal and should not become additional audience activities.</a:t>
            </a:r>
          </a:p>
          <a:p/>
          <a:p>
            <a:r>
              <a:t>All business situations are illustrative. Asha is a fictional Tanzanian clothing entrepreneur; the refrigerator and hair-product sellers are hypothetical. No outcomes, testimonials or commercial results are asserted. Rehearse at a calm conversational pace and use the section timing to keep examples proportionate.</a:t>
            </a:r>
          </a:p>
          <a:p/>
          <a:p/>
          <a:p/>
          <a:p>
            <a:r>
              <a:t>OBJECTIVE</a:t>
            </a:r>
          </a:p>
          <a:p/>
          <a:p>
            <a:r>
              <a:t>Establish customer choice as the central competitive question and frame the three pillars as a connected cycle of evidence, delivery and improvement.</a:t>
            </a:r>
          </a:p>
          <a:p/>
          <a:p/>
          <a:p/>
          <a:p>
            <a:r>
              <a:t>SPOKEN NARRATIVE</a:t>
            </a:r>
          </a:p>
          <a:p/>
          <a:p>
            <a:r>
              <a:t>Two entrepreneurs can sell the same refrigerator, the same dress or the same hair product. Their photographs may look equally attractive. Their prices may even be close. Yet a customer feels more comfortable buying from one of them. What has that entrepreneur made easier, clearer or more dependable?</a:t>
            </a:r>
          </a:p>
          <a:p/>
          <a:p>
            <a:r>
              <a:t>That is our question today: Same Products, Different Sellers. Why Should Customers Choose You? Having stock gives someone the opportunity to buy. Posting regularly gives someone an opportunity to notice. Neither tells us, by itself, why that person should trust our recommendation, spend their money with us or recommend us afterwards.</a:t>
            </a:r>
          </a:p>
          <a:p/>
          <a:p>
            <a:r>
              <a:t>Our purpose is a practical self-reflection to uncover what your customers truly value—and how to build a business they trust and recommend. Some of you already do parts of this very well. The useful question is whether you can see the evidence behind what works and apply it consistently.</a:t>
            </a:r>
          </a:p>
          <a:p/>
          <a:p>
            <a:r>
              <a:t>We will connect three ideas. Customer Intelligence means understanding real buyers, their circumstances and whether demand exists. Exceptional Customer Value means delivering a suitable product, honest expertise and a dependable experience. Continuous Customer Learning means discovering what happens after the sale and using that knowledge to improve.</a:t>
            </a:r>
          </a:p>
          <a:p/>
          <a:p>
            <a:r>
              <a:t>These are connected activities. We understand customers, validate demand, deliver exceptional value, learn from actual use, improve the business and repeat. A seller who knows their product but misunderstands the buyer can recommend the wrong thing. A seller who understands the buyer but fails to deliver the promise still loses trust.</a:t>
            </a:r>
          </a:p>
          <a:p/>
          <a:p>
            <a:r>
              <a:t>Customer preference is never entirely under our control. Affordability, location and availability matter. Our responsibility is to make the parts we can influence useful and credible. We begin with the information on which our decisions depend.</a:t>
            </a:r>
          </a:p>
          <a:p/>
          <a:p/>
          <a:p/>
          <a:p>
            <a:r>
              <a:t>SPOKEN TRANSITION</a:t>
            </a:r>
          </a:p>
          <a:p/>
          <a:p>
            <a:r>
              <a:t>The first place to look is how we decide what to sell and whom to serve.</a:t>
            </a:r>
          </a:p>
          <a:p/>
          <a:p/>
          <a:p/>
          <a:p>
            <a:r>
              <a:t>DEEPER INSIGHT</a:t>
            </a:r>
          </a:p>
          <a:p/>
          <a:p>
            <a:r>
              <a:t>Customer choice comes from a fit between a real need, an affordable and accessible offer, and a credible delivery experience. Each pillar corrects a different source of uncertainty; none guarantees a sale.</a:t>
            </a:r>
          </a:p>
          <a:p/>
          <a:p/>
          <a:p/>
          <a:p>
            <a:r>
              <a:t>TAKEAWAY</a:t>
            </a:r>
          </a:p>
          <a:p/>
          <a:p>
            <a:r>
              <a:t>Treat customer choice as a question to investigate through the full buying and use experience.</a:t>
            </a:r>
          </a:p>
          <a:p/>
          <a:p/>
          <a:p/>
          <a:p>
            <a:r>
              <a:t>REFLECTION / INTERACTION</a:t>
            </a:r>
          </a:p>
          <a:p/>
          <a:p>
            <a:r>
              <a:t>Private rehearsal prompt; do not invite a response or add a pause: What evidence would explain why a recent customer chose this business?</a:t>
            </a:r>
          </a:p>
          <a:p/>
          <a:p/>
          <a:p/>
          <a:p>
            <a:r>
              <a:t>DELIVERY CUE</a:t>
            </a:r>
          </a:p>
          <a:p/>
          <a:p>
            <a:r>
              <a:t>Begin with the two sellers immediately. Emphasise the approved title, then speak the pillar names slowly. Brief sentence pauses are for clarity; no audience activity.</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3 minutes | Are You Studying Your Customers—or Copying Competitors?</a:t>
            </a:r>
          </a:p>
          <a:p/>
          <a:p/>
          <a:p/>
          <a:p>
            <a:r>
              <a:t>A practical self-reflection to uncover what your customers truly value—and how to build a business they trust and recommend.</a:t>
            </a:r>
          </a:p>
          <a:p/>
          <a:p/>
          <a:p/>
          <a:p>
            <a:r>
              <a:t>OBJECTIVE</a:t>
            </a:r>
          </a:p>
          <a:p/>
          <a:p>
            <a:r>
              <a:t>Separate competitor observation from evidence about the entrepreneur’s own customers.</a:t>
            </a:r>
          </a:p>
          <a:p/>
          <a:p/>
          <a:p/>
          <a:p>
            <a:r>
              <a:t>SPOKEN NARRATIVE</a:t>
            </a:r>
          </a:p>
          <a:p/>
          <a:p>
            <a:r>
              <a:t>A competitor introduces a new clothing range. People comment enthusiastically. Other sellers quickly source similar items. That observation may suggest something worth investigating. It does not show who paid, what price they accepted, how many items were returned or whether the range made commercial sense.</a:t>
            </a:r>
          </a:p>
          <a:p/>
          <a:p>
            <a:r>
              <a:t>Meet Asha, a fictional Tanzanian entrepreneur we will follow today. She sells different kinds of clothes. She sees office wear on other pages and considers adding more. Copying the photographs would be easy. Understanding whether office wear fits her own customers takes more work.</a:t>
            </a:r>
          </a:p>
          <a:p/>
          <a:p>
            <a:r>
              <a:t>Asha can start with completed orders. What did people actually buy? What were they trying to use it for? Which sizes were repeatedly unavailable? Where did delivery become difficult? What did customers ask before deciding? Those questions turn a broad trend into a possible business decision.</a:t>
            </a:r>
          </a:p>
          <a:p/>
          <a:p>
            <a:r>
              <a:t>Take twenty seconds privately. Think of one recent stock or service decision. Was it based mainly on what another seller was doing, or on something you observed about your customers? You do not need to share your answer.</a:t>
            </a:r>
          </a:p>
          <a:p/>
          <a:p>
            <a:r>
              <a:t>Competitors remain useful to study: their assortment, availability and service may reveal alternatives customers already have. But visible activity is incomplete evidence. We cannot see another seller’s costs, returns or unsold stock from an Instagram page.</a:t>
            </a:r>
          </a:p>
          <a:p/>
          <a:p>
            <a:r>
              <a:t>For Asha, the decision is not simply, “Office wear is popular.” It is, “I have a reason to investigate whether a specific group of my customers needs office wear I can supply reliably.” That is a stronger starting point because it can be checked.</a:t>
            </a:r>
          </a:p>
          <a:p/>
          <a:p/>
          <a:p/>
          <a:p>
            <a:r>
              <a:t>SPOKEN TRANSITION</a:t>
            </a:r>
          </a:p>
          <a:p/>
          <a:p>
            <a:r>
              <a:t>To find that evidence, we must separate people who notice us from people who actually buy.</a:t>
            </a:r>
          </a:p>
          <a:p/>
          <a:p/>
          <a:p/>
          <a:p>
            <a:r>
              <a:t>DEEPER INSIGHT</a:t>
            </a:r>
          </a:p>
          <a:p/>
          <a:p>
            <a:r>
              <a:t>A visible competitor action is a clue, not a substitute for demand evidence. The same offer can perform differently because customers, supply costs and delivery conditions differ.</a:t>
            </a:r>
          </a:p>
          <a:p/>
          <a:p/>
          <a:p/>
          <a:p>
            <a:r>
              <a:t>TAKEAWAY</a:t>
            </a:r>
          </a:p>
          <a:p/>
          <a:p>
            <a:r>
              <a:t>Attach one piece of customer evidence to the next decision that currently rests on a trend or competitor post.</a:t>
            </a:r>
          </a:p>
          <a:p/>
          <a:p/>
          <a:p/>
          <a:p>
            <a:r>
              <a:t>REFLECTION / INTERACTION</a:t>
            </a:r>
          </a:p>
          <a:p/>
          <a:p>
            <a:r>
              <a:t>Audience interaction 1: Take 20 seconds privately to identify whether one recent decision came from customer evidence or competitor activity. No public responses.</a:t>
            </a:r>
          </a:p>
          <a:p/>
          <a:p/>
          <a:p/>
          <a:p>
            <a:r>
              <a:t>DELIVERY CUE</a:t>
            </a:r>
          </a:p>
          <a:p/>
          <a:p>
            <a:r>
              <a:t>Allow exactly 20 seconds after the fourth paragraph, then resume without taking answers. Clearly identify Asha as fictional. Do not ask the private reflection again.</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4 minutes | Your Followers Are Not Necessarily Your Buyers.</a:t>
            </a:r>
          </a:p>
          <a:p/>
          <a:p/>
          <a:p/>
          <a:p>
            <a:r>
              <a:t>A practical self-reflection to uncover what your customers truly value—and how to build a business they trust and recommend.</a:t>
            </a:r>
          </a:p>
          <a:p/>
          <a:p/>
          <a:p/>
          <a:p>
            <a:r>
              <a:t>OBJECTIVE</a:t>
            </a:r>
          </a:p>
          <a:p/>
          <a:p>
            <a:r>
              <a:t>Show how behavioural customer segments and completed-order evidence are more useful than assuming followers represent buyers.</a:t>
            </a:r>
          </a:p>
          <a:p/>
          <a:p/>
          <a:p/>
          <a:p>
            <a:r>
              <a:t>SPOKEN NARRATIVE</a:t>
            </a:r>
          </a:p>
          <a:p/>
          <a:p>
            <a:r>
              <a:t>Followers can help a business become visible. They can ask questions, share posts and introduce future buyers. But following a page is a different action from paying for an order. Some followers are outside your delivery area. Some like your content but cannot afford the product. Others are interested in the category without needing to buy now.</a:t>
            </a:r>
          </a:p>
          <a:p/>
          <a:p>
            <a:r>
              <a:t>That does not make the audience useless. It means we should use the right evidence for the question. Engagement can tell us what attracts attention. Completed purchases tell us more about who accepted a particular offer at a particular price and under particular conditions.</a:t>
            </a:r>
          </a:p>
          <a:p/>
          <a:p>
            <a:r>
              <a:t>Keep four roles distinct. A follower follows your content. A prospect is a relevant potential customer considering an offer. A buyer makes the purchase. A user actually uses the product. The same person can occupy several roles; these are not fixed stages everyone must pass through. Someone may buy a gift without using it, or buy from you without following your page. When investigating the experience, establish whose experience you need.</a:t>
            </a:r>
          </a:p>
          <a:p/>
          <a:p>
            <a:r>
              <a:t>Asha could review her last twenty to thirty completed orders as a manageable starting exercise. That is not a scientifically sufficient sample or a universal rule. If the orders are old, seasonal or all come from one promotion, she needs a wider and more relevant view before making a large commitment.</a:t>
            </a:r>
          </a:p>
          <a:p/>
          <a:p>
            <a:r>
              <a:t>For each order, she can note the item, price paid, size, delivery location, whether the customer bought before, and any return or problem. She should distinguish completed orders from enquiries and cancellations. A cancelled order may still reveal a problem, but it is not a completed sale.</a:t>
            </a:r>
          </a:p>
          <a:p/>
          <a:p>
            <a:r>
              <a:t>Recent completed orders might suggest that professional women buying office wear are a useful segment. The useful detail is the buying situation: clothes suitable for work, dependable fit, an acceptable total price and delivery before they are needed. Age or gender alone does not explain those requirements. She should also examine whether repeat customers show a pattern and whether returns weaken her first impression.</a:t>
            </a:r>
          </a:p>
          <a:p/>
          <a:p>
            <a:r>
              <a:t>Do not infer purchasing power from appearance, occupation or a profile photograph. Look at prices actually paid, whether delivery charges change the decision and the trade-offs customers describe. A person may value convenience and still have a strict budget. One purchase does not prove continuing affordability.</a:t>
            </a:r>
          </a:p>
          <a:p/>
          <a:p>
            <a:r>
              <a:t>Missing sales also deserve attention. When someone chooses not to buy, a respectful question about what did not fit can uncover price, timing, trust or availability problems. Do not pressure them or treat every explanation as a confirmed cause. Combine what they say with what actually happened.</a:t>
            </a:r>
          </a:p>
          <a:p/>
          <a:p>
            <a:r>
              <a:t>The goal is a useful description of a buyer you can serve, supported by evidence and open to correction. It is more specific than “everyone who likes fashion,” and more useful than a follower count.</a:t>
            </a:r>
          </a:p>
          <a:p/>
          <a:p/>
          <a:p/>
          <a:p>
            <a:r>
              <a:t>SPOKEN TRANSITION</a:t>
            </a:r>
          </a:p>
          <a:p/>
          <a:p>
            <a:r>
              <a:t>Once we have a possible customer segment, the next question is whether a particular offer will earn actual commitment.</a:t>
            </a:r>
          </a:p>
          <a:p/>
          <a:p/>
          <a:p/>
          <a:p>
            <a:r>
              <a:t>DEEPER INSIGHT</a:t>
            </a:r>
          </a:p>
          <a:p/>
          <a:p>
            <a:r>
              <a:t>Segmentation is useful when it explains a buying situation and leads to a different offer or service decision. Descriptive labels alone do not establish needs, affordability or demand.</a:t>
            </a:r>
          </a:p>
          <a:p/>
          <a:p/>
          <a:p/>
          <a:p>
            <a:r>
              <a:t>TAKEAWAY</a:t>
            </a:r>
          </a:p>
          <a:p/>
          <a:p>
            <a:r>
              <a:t>Review a relevant set of completed orders, separate enquiries and cancellations, and write one provisional segment with the evidence and limitations beside it.</a:t>
            </a:r>
          </a:p>
          <a:p/>
          <a:p/>
          <a:p/>
          <a:p>
            <a:r>
              <a:t>REFLECTION / INTERACTION</a:t>
            </a:r>
          </a:p>
          <a:p/>
          <a:p>
            <a:r>
              <a:t>Private rehearsal prompt only; no additional audience activity: Which buying situation is best supported by recent completed orders?</a:t>
            </a:r>
          </a:p>
          <a:p/>
          <a:p/>
          <a:p/>
          <a:p>
            <a:r>
              <a:t>DELIVERY CUE</a:t>
            </a:r>
          </a:p>
          <a:p/>
          <a:p>
            <a:r>
              <a:t>Give the order-review example room to land. Emphasise “starting exercise” and “provisional.” Do not read a long checklist rapidly or ask the room for order counts.</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4 minutes | Before You Stock It, Who Will Buy It?</a:t>
            </a:r>
          </a:p>
          <a:p/>
          <a:p/>
          <a:p/>
          <a:p>
            <a:r>
              <a:t>A practical self-reflection to uncover what your customers truly value—and how to build a business they trust and recommend.</a:t>
            </a:r>
          </a:p>
          <a:p/>
          <a:p/>
          <a:p/>
          <a:p>
            <a:r>
              <a:t>OBJECTIVE</a:t>
            </a:r>
          </a:p>
          <a:p/>
          <a:p>
            <a:r>
              <a:t>Explain proportionate, honest demand validation that checks actual commitment and commercial feasibility before substantial stock investment.</a:t>
            </a:r>
          </a:p>
          <a:p/>
          <a:p/>
          <a:p/>
          <a:p>
            <a:r>
              <a:t>SPOKEN NARRATIVE</a:t>
            </a:r>
          </a:p>
          <a:p/>
          <a:p>
            <a:r>
              <a:t>“I would buy that” can be sincere and still never become a purchase. The person may imagine a different price, need the item much later or expect delivery we cannot provide. Interest becomes more useful when the offer and the customer’s commitment become specific.</a:t>
            </a:r>
          </a:p>
          <a:p/>
          <a:p>
            <a:r>
              <a:t>For Asha, the question is no longer whether people like office wear. It is whether a defined group will buy a specified range, at a stated price, with the sizes, delivery arrangements and terms she can actually honour. Demand is attached to an offer and its conditions.</a:t>
            </a:r>
          </a:p>
          <a:p/>
          <a:p>
            <a:r>
              <a:t>Before buying deeply, she can speak with relevant customers about their most recent office-wear purchases. What did they need? What did they pay, including delivery? What disappointed them? What did they choose instead? If you have no sales history, start with people who recently bought the category, beyond supportive friends. Their actual decisions give you something firmer than asking whether they like your idea.</a:t>
            </a:r>
          </a:p>
          <a:p/>
          <a:p>
            <a:r>
              <a:t>Then she can run a small trial she can afford to fulfil and learn from. That might mean a limited range of available items or an honestly described preorder. Customers must know what exists now, what is being ordered, the total price, the expected delivery time and the cancellation or refund terms. She should not create false availability or collect money for promises she has no reasonable basis to keep.</a:t>
            </a:r>
          </a:p>
          <a:p/>
          <a:p>
            <a:r>
              <a:t>Before the trial, Asha writes what she needs to learn. Will relevant buyers place paid orders at the stated price? Can she obtain the promised sizes? Can the supplier and delivery arrangements meet the stated timing? She records enquiries, confirmed payments, cancellations, fulfilled orders, returns and reasons when known.</a:t>
            </a:r>
          </a:p>
          <a:p/>
          <a:p>
            <a:r>
              <a:t>She also checks whether the offer works for the business. The selling price must be considered alongside sourcing, transport, packaging, payment charges, delivery obligations and likely returns. This is part of validating a workable offer. Selling a few items at a loss does not establish that the offer can continue.</a:t>
            </a:r>
          </a:p>
          <a:p/>
          <a:p>
            <a:r>
              <a:t>There is no single number of interviews or test orders that proves every business idea. The scale of the decision, the variety of buyers, the season and the cost of being wrong matter. A small result can justify another small test. It may be too weak to justify a large shipment. Decide what would make you continue, adjust or stop before seeing the results. Otherwise it is easy to treat any response as encouragement to buy more.</a:t>
            </a:r>
          </a:p>
          <a:p/>
          <a:p>
            <a:r>
              <a:t>If the trial disappoints, separate the possible explanations. Was the price beyond this group’s budget? Were the sizes wrong? Was delivery too slow? The response should follow the evidence. Asha is trying to reduce uncertainty before increasing her commitment, not manufacture a reassuring answer.</a:t>
            </a:r>
          </a:p>
          <a:p/>
          <a:p/>
          <a:p/>
          <a:p>
            <a:r>
              <a:t>SPOKEN TRANSITION</a:t>
            </a:r>
          </a:p>
          <a:p/>
          <a:p>
            <a:r>
              <a:t>Even when demand exists, customers still have alternatives. That brings us to the value they receive from choosing us.</a:t>
            </a:r>
          </a:p>
          <a:p/>
          <a:p/>
          <a:p/>
          <a:p>
            <a:r>
              <a:t>DEEPER INSIGHT</a:t>
            </a:r>
          </a:p>
          <a:p/>
          <a:p>
            <a:r>
              <a:t>Validation concerns a specific offer at a viable price and achievable terms. A trial reduces uncertainty; it does not establish permanent or universal demand.</a:t>
            </a:r>
          </a:p>
          <a:p/>
          <a:p/>
          <a:p/>
          <a:p>
            <a:r>
              <a:t>TAKEAWAY</a:t>
            </a:r>
          </a:p>
          <a:p/>
          <a:p>
            <a:r>
              <a:t>Define the offer, transparent terms, evidence required and affordable test boundary before committing more stock.</a:t>
            </a:r>
          </a:p>
          <a:p/>
          <a:p/>
          <a:p/>
          <a:p>
            <a:r>
              <a:t>REFLECTION / INTERACTION</a:t>
            </a:r>
          </a:p>
          <a:p/>
          <a:p>
            <a:r>
              <a:t>Private rehearsal prompt only; no additional audience activity: What real commitment would justify the next level of stock investment?</a:t>
            </a:r>
          </a:p>
          <a:p/>
          <a:p/>
          <a:p/>
          <a:p>
            <a:r>
              <a:t>DELIVERY CUE</a:t>
            </a:r>
          </a:p>
          <a:p/>
          <a:p>
            <a:r>
              <a:t>Stress “specified offer” and “terms.” Keep the cost check connected to demand; do not expand into a separate finance lesson. Do not imply every seller needs preorders.</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4 minutes | Same Product. Different Value.</a:t>
            </a:r>
          </a:p>
          <a:p/>
          <a:p/>
          <a:p/>
          <a:p>
            <a:r>
              <a:t>A practical self-reflection to uncover what your customers truly value—and how to build a business they trust and recommend.</a:t>
            </a:r>
          </a:p>
          <a:p/>
          <a:p/>
          <a:p/>
          <a:p>
            <a:r>
              <a:t>OBJECTIVE</a:t>
            </a:r>
          </a:p>
          <a:p/>
          <a:p>
            <a:r>
              <a:t>Make differentiation concrete through suitability, honest expertise and a dependable buying experience while recognising price and access constraints.</a:t>
            </a:r>
          </a:p>
          <a:p/>
          <a:p/>
          <a:p/>
          <a:p>
            <a:r>
              <a:t>SPOKEN NARRATIVE</a:t>
            </a:r>
          </a:p>
          <a:p/>
          <a:p>
            <a:r>
              <a:t>Two entrepreneurs offer the same refrigerator model. One can quote the price and say it is a good brand. The other first understands what the buyer needs to store, where the appliance will stand and what delivery arrangements are practical. The physical product may be identical. The quality of the decision can be different.</a:t>
            </a:r>
          </a:p>
          <a:p/>
          <a:p>
            <a:r>
              <a:t>The second seller helps the customer check usable capacity, the space available and the ventilation requirements in the model’s instructions. They explain what is included in delivery and what is not. They show the genuine warranty terms, including who provides service and any relevant conditions. They avoid promises they cannot support.</a:t>
            </a:r>
          </a:p>
          <a:p/>
          <a:p>
            <a:r>
              <a:t>If the customer asks about electricity, a knowledgeable seller uses the model-specific label or manual and explains what the published figure represents. Test conditions and actual household use can differ. The seller should not invent a monthly electricity bill, promise universal savings or compare models using unrelated figures.</a:t>
            </a:r>
          </a:p>
          <a:p/>
          <a:p>
            <a:r>
              <a:t>That expertise is valuable when it prevents a poor choice or reduces uncertainty. It does not automatically justify a higher price. The customer may understand the advice and still choose a lower-priced offer, or need a smaller appliance because of budget or space. Value includes affordability and access as well as helpful service.</a:t>
            </a:r>
          </a:p>
          <a:p/>
          <a:p>
            <a:r>
              <a:t>A trustworthy recommendation may even be, “This model is larger than you need,” or, “We cannot meet your delivery date.” That can cost a sale today. It protects the customer from a promise the business cannot keep. Honesty is practical because an unsuitable purchase creates problems for both sides.</a:t>
            </a:r>
          </a:p>
          <a:p/>
          <a:p>
            <a:r>
              <a:t>Asha can apply the same thinking to clothes. Clear measurements, accurate photographs, fabric information she can verify and an understandable exchange policy can help a buyer choose. None requires pretending the clothes are luxury items. The question is which uncertainties matter in this customer’s buying situation.</a:t>
            </a:r>
          </a:p>
          <a:p/>
          <a:p>
            <a:r>
              <a:t>Useful differentiation must also be deliverable. If a seller advertises personal guidance but replies inconsistently, the promise becomes another source of frustration. Choose a small set of service commitments the business can maintain, and explain their limits clearly.</a:t>
            </a:r>
          </a:p>
          <a:p/>
          <a:p>
            <a:r>
              <a:t>The customer is weighing the whole offer: product, suitability, total price, information, availability and the experience of dealing with us. We should be able to name a concrete benefit and point to the action that delivers it. “We care about customers” becomes credible through what customers can observe.</a:t>
            </a:r>
          </a:p>
          <a:p/>
          <a:p/>
          <a:p/>
          <a:p>
            <a:r>
              <a:t>SPOKEN TRANSITION</a:t>
            </a:r>
          </a:p>
          <a:p/>
          <a:p>
            <a:r>
              <a:t>Helpful advice creates an expectation. Our next responsibility is making sure the product and service deliver it.</a:t>
            </a:r>
          </a:p>
          <a:p/>
          <a:p/>
          <a:p/>
          <a:p>
            <a:r>
              <a:t>DEEPER INSIGHT</a:t>
            </a:r>
          </a:p>
          <a:p/>
          <a:p>
            <a:r>
              <a:t>Customer value is contextual. Expertise differentiates only when it improves a decision or experience that the customer values; willingness to pay must still be established.</a:t>
            </a:r>
          </a:p>
          <a:p/>
          <a:p/>
          <a:p/>
          <a:p>
            <a:r>
              <a:t>TAKEAWAY</a:t>
            </a:r>
          </a:p>
          <a:p/>
          <a:p>
            <a:r>
              <a:t>Choose one relevant customer uncertainty and specify how the business will resolve it consistently.</a:t>
            </a:r>
          </a:p>
          <a:p/>
          <a:p/>
          <a:p/>
          <a:p>
            <a:r>
              <a:t>REFLECTION / INTERACTION</a:t>
            </a:r>
          </a:p>
          <a:p/>
          <a:p>
            <a:r>
              <a:t>Private rehearsal prompt only; no additional audience activity: Which observable part of this business makes a customer’s decision easier or their outcome more dependable?</a:t>
            </a:r>
          </a:p>
          <a:p/>
          <a:p/>
          <a:p/>
          <a:p>
            <a:r>
              <a:t>DELIVERY CUE</a:t>
            </a:r>
          </a:p>
          <a:p/>
          <a:p>
            <a:r>
              <a:t>Use the refrigerator comparison without portraying either seller as a real case. Give the affordability qualification equal weight. Avoid suggesting expertise guarantees a price premium.</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3.5 minutes | Does Your Product Deliver What You Promise?</a:t>
            </a:r>
          </a:p>
          <a:p/>
          <a:p/>
          <a:p/>
          <a:p>
            <a:r>
              <a:t>A practical self-reflection to uncover what your customers truly value—and how to build a business they trust and recommend.</a:t>
            </a:r>
          </a:p>
          <a:p/>
          <a:p/>
          <a:p/>
          <a:p>
            <a:r>
              <a:t>OBJECTIVE</a:t>
            </a:r>
          </a:p>
          <a:p/>
          <a:p>
            <a:r>
              <a:t>Define quality as consistent fulfilment of suitable, supportable promises and show how practical product knowledge protects that standard.</a:t>
            </a:r>
          </a:p>
          <a:p/>
          <a:p/>
          <a:p/>
          <a:p>
            <a:r>
              <a:t>SPOKEN NARRATIVE</a:t>
            </a:r>
          </a:p>
          <a:p/>
          <a:p>
            <a:r>
              <a:t>Quality is not simply another word for expensive. A modestly priced product can provide good value when it does what was accurately promised and is suitable for its intended use. An expensive product can disappoint when its condition, performance or description falls short.</a:t>
            </a:r>
          </a:p>
          <a:p/>
          <a:p>
            <a:r>
              <a:t>For Asha, a quality promise might involve the measurements, seams, fabric description and condition of the clothes she supplies. A beautiful photograph cannot make inconsistent sizing disappear. Before dispatch, she can check the characteristics she has promised and record recurring supplier problems. If she cannot verify a fabric claim, she should not advertise it as fact.</a:t>
            </a:r>
          </a:p>
          <a:p/>
          <a:p>
            <a:r>
              <a:t>For the refrigerator seller, expertise includes knowing the limits of their knowledge. They can explain the manual, installation requirements and warranty process. Technical repairs should go to authorised technicians. Confident guesses about wiring or repairs do not become good customer service because they are offered enthusiastically.</a:t>
            </a:r>
          </a:p>
          <a:p/>
          <a:p>
            <a:r>
              <a:t>The same discipline matters when selecting stock. A supplier’s assurance is useful information to check, not automatic proof. Look at product condition, consistency, authenticity information where relevant, and the terms available when something is wrong. Keep claims proportionate to what can be verified.</a:t>
            </a:r>
          </a:p>
          <a:p/>
          <a:p>
            <a:r>
              <a:t>A practical quality standard can be simple: what must be checked before sale, what information the customer must receive and what the business will do if the agreed standard is not met. The standard should fit the product and the size of the business. It has to be usable on a busy day, not only impressive on paper. Ask what the customer would notice if the check were missed. That helps distinguish a useful quality check from extra work that adds little to the promised outcome.</a:t>
            </a:r>
          </a:p>
          <a:p/>
          <a:p>
            <a:r>
              <a:t>It also needs to be consistent across the experience. If one customer receives accurate guidance and another receives an unsupported claim, the business has not yet made expertise dependable. A short reference sheet based on reliable product information can help everyone give the same answer.</a:t>
            </a:r>
          </a:p>
          <a:p/>
          <a:p>
            <a:r>
              <a:t>We cannot promise a life without problems. We can promise accurately, check what we control and respond fairly when a problem occurs. That is how quality becomes something the customer can recognise, rather than a word we put in a caption.</a:t>
            </a:r>
          </a:p>
          <a:p/>
          <a:p/>
          <a:p/>
          <a:p>
            <a:r>
              <a:t>SPOKEN TRANSITION</a:t>
            </a:r>
          </a:p>
          <a:p/>
          <a:p>
            <a:r>
              <a:t>Some important information only appears when the customer takes the product home and starts using it.</a:t>
            </a:r>
          </a:p>
          <a:p/>
          <a:p/>
          <a:p/>
          <a:p>
            <a:r>
              <a:t>DEEPER INSIGHT</a:t>
            </a:r>
          </a:p>
          <a:p/>
          <a:p>
            <a:r>
              <a:t>A standard becomes useful when it translates a customer promise into checks the business can repeat. Price, confident language and attractive presentation are insufficient evidence of quality.</a:t>
            </a:r>
          </a:p>
          <a:p/>
          <a:p/>
          <a:p/>
          <a:p>
            <a:r>
              <a:t>TAKEAWAY</a:t>
            </a:r>
          </a:p>
          <a:p/>
          <a:p>
            <a:r>
              <a:t>Write a short product-specific promise and a matching pre-sale or dispatch check using reliable information.</a:t>
            </a:r>
          </a:p>
          <a:p/>
          <a:p/>
          <a:p/>
          <a:p>
            <a:r>
              <a:t>REFLECTION / INTERACTION</a:t>
            </a:r>
          </a:p>
          <a:p/>
          <a:p>
            <a:r>
              <a:t>Private rehearsal prompt only; no additional audience activity: Which promise needs a repeatable check before the next order leaves?</a:t>
            </a:r>
          </a:p>
          <a:p/>
          <a:p/>
          <a:p/>
          <a:p>
            <a:r>
              <a:t>DELIVERY CUE</a:t>
            </a:r>
          </a:p>
          <a:p/>
          <a:p>
            <a:r>
              <a:t>Keep a measured pace. Emphasise “does what was accurately promised.” Avoid turning the quality standard into a lengthy operational framework.</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3.5 minutes | The Customer Has Purchased. What Happens Next?</a:t>
            </a:r>
          </a:p>
          <a:p/>
          <a:p/>
          <a:p/>
          <a:p>
            <a:r>
              <a:t>A practical self-reflection to uncover what your customers truly value—and how to build a business they trust and recommend.</a:t>
            </a:r>
          </a:p>
          <a:p/>
          <a:p/>
          <a:p/>
          <a:p>
            <a:r>
              <a:t>OBJECTIVE</a:t>
            </a:r>
          </a:p>
          <a:p/>
          <a:p>
            <a:r>
              <a:t>Show how respectful follow-up reveals the actual use experience without becoming intrusive promotion or unsupported diagnosis.</a:t>
            </a:r>
          </a:p>
          <a:p/>
          <a:p/>
          <a:p/>
          <a:p>
            <a:r>
              <a:t>SPOKEN NARRATIVE</a:t>
            </a:r>
          </a:p>
          <a:p/>
          <a:p>
            <a:r>
              <a:t>Payment tells us that a purchase happened. It does not tell us whether the product worked well in the customer’s life. The refrigerator may have been difficult to position. The dress may fit differently from expected. Instructions that seemed obvious to the seller may have been unclear to the buyer.</a:t>
            </a:r>
          </a:p>
          <a:p/>
          <a:p>
            <a:r>
              <a:t>Consider a hypothetical entrepreneur selling hair products. At purchase, she asks whether the customer would welcome a brief follow-up after an appropriate period of use. She agrees on a suitable channel and respects a refusal. Permission to check the experience is not permission to send repeated promotions.</a:t>
            </a:r>
          </a:p>
          <a:p/>
          <a:p>
            <a:r>
              <a:t>A useful follow-up begins with what happened. Which product did you use? How did you use it, and in what sequence? Were the label instructions clear? Did the packaging arrive intact? What result did you expect, and what did you experience? These questions should feel like a short, relevant conversation, not an interrogation.</a:t>
            </a:r>
          </a:p>
          <a:p/>
          <a:p>
            <a:r>
              <a:t>Suppose a customer says, “The product disappointed me.” That is a report to understand, not a diagnosis. The cause could involve product suitability, unclear expectations, use that differs from label instructions or a product problem. The seller should establish the facts available and keep unconfirmed explanations as hypotheses.</a:t>
            </a:r>
          </a:p>
          <a:p/>
          <a:p>
            <a:r>
              <a:t>If a customer reports irritation, the priority changes. Advise stopping use and seeking qualified care when needed. Do not diagnose the condition, recommend treatment or encourage continued use to complete a sales routine. A serious safety concern warrants prompt action; it should not wait until several customers complain.</a:t>
            </a:r>
          </a:p>
          <a:p/>
          <a:p>
            <a:r>
              <a:t>Follow-up should provide value: clearer label-consistent guidance, a fair response to a genuine problem or a useful route to support. It should be proportionate. Store only the information needed and avoid exposing personal details in a public example. If the customer does not want to respond, respect that. Silence is missing information, not proof of satisfaction and not a reason to keep sending messages.</a:t>
            </a:r>
          </a:p>
          <a:p/>
          <a:p>
            <a:r>
              <a:t>Some products are bought infrequently. A refrigerator customer may have no reason to buy another refrigerator soon. Their positive experience may still lead to a recommendation or referral, but that is a possible result, not a debt the customer owes. A relationship earns its place by being helpful after money has changed hands.</a:t>
            </a:r>
          </a:p>
          <a:p/>
          <a:p/>
          <a:p/>
          <a:p>
            <a:r>
              <a:t>SPOKEN TRANSITION</a:t>
            </a:r>
          </a:p>
          <a:p/>
          <a:p>
            <a:r>
              <a:t>The next step is turning what we hear into an improvement we can explain and check.</a:t>
            </a:r>
          </a:p>
          <a:p/>
          <a:p/>
          <a:p/>
          <a:p>
            <a:r>
              <a:t>DEEPER INSIGHT</a:t>
            </a:r>
          </a:p>
          <a:p/>
          <a:p>
            <a:r>
              <a:t>The use experience is a distinct source of evidence. Respectful follow-up requires consent, useful questions and appropriate boundaries, including escalation of safety concerns.</a:t>
            </a:r>
          </a:p>
          <a:p/>
          <a:p/>
          <a:p/>
          <a:p>
            <a:r>
              <a:t>TAKEAWAY</a:t>
            </a:r>
          </a:p>
          <a:p/>
          <a:p>
            <a:r>
              <a:t>Agree on one relevant follow-up, ask about actual experience, and keep service consent separate from promotional consent.</a:t>
            </a:r>
          </a:p>
          <a:p/>
          <a:p/>
          <a:p/>
          <a:p>
            <a:r>
              <a:t>REFLECTION / INTERACTION</a:t>
            </a:r>
          </a:p>
          <a:p/>
          <a:p>
            <a:r>
              <a:t>Private rehearsal prompt only; no additional audience activity: What useful support would a customer welcome after this purchase?</a:t>
            </a:r>
          </a:p>
          <a:p/>
          <a:p/>
          <a:p/>
          <a:p>
            <a:r>
              <a:t>DELIVERY CUE</a:t>
            </a:r>
          </a:p>
          <a:p/>
          <a:p>
            <a:r>
              <a:t>Keep the safety paragraph clear and unhurried. Do not invite personal health disclosures. No audience activity or public complaint collection.</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4 minutes | What Have Your Customers Helped You Improve?</a:t>
            </a:r>
          </a:p>
          <a:p/>
          <a:p/>
          <a:p/>
          <a:p>
            <a:r>
              <a:t>A practical self-reflection to uncover what your customers truly value—and how to build a business they trust and recommend.</a:t>
            </a:r>
          </a:p>
          <a:p/>
          <a:p/>
          <a:p/>
          <a:p>
            <a:r>
              <a:t>OBJECTIVE</a:t>
            </a:r>
          </a:p>
          <a:p/>
          <a:p>
            <a:r>
              <a:t>Translate customer reports into justified, testable improvements, distinguishing evidence, interpretation and unresolved causes.</a:t>
            </a:r>
          </a:p>
          <a:p/>
          <a:p/>
          <a:p/>
          <a:p>
            <a:r>
              <a:t>SPOKEN NARRATIVE</a:t>
            </a:r>
          </a:p>
          <a:p/>
          <a:p>
            <a:r>
              <a:t>Customer Learning becomes continuous when information changes what the business does. Collecting compliments or recording complaints is only the beginning. We need to connect a report to an investigation, a reasonable change and a check of what happened afterwards.</a:t>
            </a:r>
          </a:p>
          <a:p/>
          <a:p>
            <a:r>
              <a:t>Return to our hair-product seller. A customer reports leakage. The seller records that report, checks the affected packaging and delivery information, and reviews whether the seal was intact before dispatch. One message does not establish whether the cause was a closure problem, handling during delivery or something else.</a:t>
            </a:r>
          </a:p>
          <a:p/>
          <a:p>
            <a:r>
              <a:t>If inspection supports a sealing problem, the response could be a better seal check before dispatch and a discussion with the supplier. If customers instead describe unclear instructions, the business can improve its explanation while staying consistent with the label. A sourcing change needs evidence that sourcing is the problem. The solution should follow the finding.</a:t>
            </a:r>
          </a:p>
          <a:p/>
          <a:p>
            <a:r>
              <a:t>Keep a simple record with the issue, the evidence available, the explanation being considered, the action and a review date. Mark what is verified, what is only partly supported and what is not yet verified. That small distinction helps stop a guess becoming a business fact.</a:t>
            </a:r>
          </a:p>
          <a:p/>
          <a:p>
            <a:r>
              <a:t>Then check whether the change helped. For leakage, establish a baseline using a stated period: how many delivered orders had a leakage report, out of all delivered orders? Count each order once, even if several messages describe it. After the change, use the same definition over a comparable period. Report volume alone can mislead if order volume or the way reports are counted changes.</a:t>
            </a:r>
          </a:p>
          <a:p/>
          <a:p>
            <a:r>
              <a:t>Small numbers and incomplete follow-up still limit the conclusion. No recorded complaint does not prove every customer was satisfied. A change in delivery provider or product mix may also affect the result. We are looking for useful evidence to keep, adjust or stop an action, while being honest about what remains uncertain.</a:t>
            </a:r>
          </a:p>
          <a:p/>
          <a:p>
            <a:r>
              <a:t>Asha can use the same approach for fit-related returns or late deliveries. The refrigerator seller can use questions about setup to improve the explanation given before purchase. Learning can improve sourcing, product checks, instructions, recommendations or service. It should address something customers actually experience.</a:t>
            </a:r>
          </a:p>
          <a:p/>
          <a:p>
            <a:r>
              <a:t>Not every suggestion deserves an immediate change. Consider how serious the issue is, how strong the evidence is, which customers it affects and what the business can realistically do. Safety concerns deserve prompt action even when reported once. Other uncertainties may need another small investigation before a larger commitment.</a:t>
            </a:r>
          </a:p>
          <a:p/>
          <a:p/>
          <a:p/>
          <a:p>
            <a:r>
              <a:t>SPOKEN TRANSITION</a:t>
            </a:r>
          </a:p>
          <a:p/>
          <a:p>
            <a:r>
              <a:t>We can now bring the three pillars together and identify one improvement worth making next.</a:t>
            </a:r>
          </a:p>
          <a:p/>
          <a:p/>
          <a:p/>
          <a:p>
            <a:r>
              <a:t>DEEPER INSIGHT</a:t>
            </a:r>
          </a:p>
          <a:p/>
          <a:p>
            <a:r>
              <a:t>A measured improvement links evidence to a plausible cause and compares a defined outcome fairly. Feedback volume alone does not establish either the cause or the success of a change.</a:t>
            </a:r>
          </a:p>
          <a:p/>
          <a:p/>
          <a:p/>
          <a:p>
            <a:r>
              <a:t>TAKEAWAY</a:t>
            </a:r>
          </a:p>
          <a:p/>
          <a:p>
            <a:r>
              <a:t>Choose one evidenced issue, make one proportionate change, and review a comparable outcome with its denominator and limitations.</a:t>
            </a:r>
          </a:p>
          <a:p/>
          <a:p/>
          <a:p/>
          <a:p>
            <a:r>
              <a:t>REFLECTION / INTERACTION</a:t>
            </a:r>
          </a:p>
          <a:p/>
          <a:p>
            <a:r>
              <a:t>Private rehearsal prompt only; no additional audience activity: Which customer report has led to a documented change, and what evidence shows whether it helped?</a:t>
            </a:r>
          </a:p>
          <a:p/>
          <a:p/>
          <a:p/>
          <a:p>
            <a:r>
              <a:t>DELIVERY CUE</a:t>
            </a:r>
          </a:p>
          <a:p/>
          <a:p>
            <a:r>
              <a:t>Explain the denominator in ordinary language: delivered orders with leakage out of all delivered orders. Count an order once. Do not invent before-and-after results. The example is an evaluation method, not a proven success story.</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4 minutes | Why Should Customers Choose Your Business?</a:t>
            </a:r>
          </a:p>
          <a:p/>
          <a:p/>
          <a:p/>
          <a:p>
            <a:r>
              <a:t>A practical self-reflection to uncover what your customers truly value—and how to build a business they trust and recommend.</a:t>
            </a:r>
          </a:p>
          <a:p/>
          <a:p/>
          <a:p/>
          <a:p>
            <a:r>
              <a:t>OBJECTIVE</a:t>
            </a:r>
          </a:p>
          <a:p/>
          <a:p>
            <a:r>
              <a:t>Complete the three-dimension self-audit and commit to one evidenced improvement with a baseline, outcome measure, denominator and review date.</a:t>
            </a:r>
          </a:p>
          <a:p/>
          <a:p/>
          <a:p/>
          <a:p>
            <a:r>
              <a:t>SPOKEN NARRATIVE</a:t>
            </a:r>
          </a:p>
          <a:p/>
          <a:p>
            <a:r>
              <a:t>Return to the question we began with: why should customers choose your business? The strongest answer is a benefit you can deliver and support with evidence. Use the toolkit to examine three questions.</a:t>
            </a:r>
          </a:p>
          <a:p/>
          <a:p>
            <a:r>
              <a:t>Customer Intelligence: “Do I really understand who buys from me, what they value and whether genuine demand exists?” Exceptional Customer Value: “What makes my product quality, expertise and customer experience genuinely worth choosing?” Continuous Customer Learning: “What have I learned from actual customers that has changed or improved my business?”</a:t>
            </a:r>
          </a:p>
          <a:p/>
          <a:p>
            <a:r>
              <a:t>For each, mark: “Verified through actual evidence,” “Partially supported,” or “Not yet verified.” Write the evidence and its date. An honest gap is useful. A confident answer without evidence gives you less to work with.</a:t>
            </a:r>
          </a:p>
          <a:p/>
          <a:p>
            <a:r>
              <a:t>Take seventy-five seconds now to begin, rather than finish, the audit. Choose one question, mark its evidence status and note the most useful gap. Write one next action and a realistic review date. Complete the other questions afterwards with actual records. For your chosen action, add who will do it, a baseline and the outcome you will check, with a denominator where relevant. If the baseline is missing, collecting it can be your first action.</a:t>
            </a:r>
          </a:p>
          <a:p/>
          <a:p>
            <a:r>
              <a:t>A practical commitment could be to check every dispatched package’s seal, then review delivered orders with leakage out of all delivered orders against a recorded baseline. Or it could be one transparent office-wear trial, judged against actual paid and fulfilled orders at the stated price. Choose the action your evidence supports.</a:t>
            </a:r>
          </a:p>
          <a:p/>
          <a:p>
            <a:r>
              <a:t>Customer Intelligence helps you understand the choice. Exceptional Customer Value gives customers a reason to make it. Continuous Customer Learning helps you improve that reason. Customers can encounter similar products in many places. Give them a clear, credible experience they have reason to trust and recommend.</a:t>
            </a:r>
          </a:p>
          <a:p/>
          <a:p/>
          <a:p/>
          <a:p>
            <a:r>
              <a:t>DEEPER INSIGHT</a:t>
            </a:r>
          </a:p>
          <a:p/>
          <a:p>
            <a:r>
              <a:t>The audit is a decision aid, not a score or certification. A focused action tied to evidence is more useful than promising to improve all three pillars at once.</a:t>
            </a:r>
          </a:p>
          <a:p/>
          <a:p/>
          <a:p/>
          <a:p>
            <a:r>
              <a:t>TAKEAWAY</a:t>
            </a:r>
          </a:p>
          <a:p/>
          <a:p>
            <a:r>
              <a:t>Leave with one improvement, an owner, a deadline, a baseline, a defined outcome and denominator, and a review date.</a:t>
            </a:r>
          </a:p>
          <a:p/>
          <a:p/>
          <a:p/>
          <a:p>
            <a:r>
              <a:t>REFLECTION / INTERACTION</a:t>
            </a:r>
          </a:p>
          <a:p/>
          <a:p>
            <a:r>
              <a:t>Audience interaction 2: Allow 75 seconds to choose one audit question, mark its evidence status and draft one next action with a review date. Complete the evidence and measurement details afterwards; no public reporting round.</a:t>
            </a:r>
          </a:p>
          <a:p/>
          <a:p/>
          <a:p/>
          <a:p>
            <a:r>
              <a:t>DELIVERY CUE</a:t>
            </a:r>
          </a:p>
          <a:p/>
          <a:p>
            <a:r>
              <a:t>Read the three audit questions exactly. Pause for exactly 75 seconds after the fourth paragraph. This is a first draft; participants complete the audit with records afterwards. Then deliver the final two paragraphs. Finish within four minutes; do not add a sharing exercise.</a:t>
            </a:r>
          </a:p>
          <a:p/>
          <a:p/>
          <a:p/>
          <a:p>
            <a:r>
              <a:t>DESIGN STATUS</a:t>
            </a:r>
          </a:p>
          <a:p/>
          <a:p>
            <a:r>
              <a:t>Neutral draft: no official brand assets supplied. White/ink/grey restrained editorial design with a muted blue-grey accent, explicitly not official Instaprenyua colours. No logos or QR codes invented. Editable native shapes and 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66928" y="6345936"/>
            <a:ext cx="11055096" cy="0"/>
          </a:xfrm>
          <a:prstGeom prst="line">
            <a:avLst/>
          </a:prstGeom>
          <a:ln w="12700">
            <a:solidFill>
              <a:srgbClr val="D3DBDF"/>
            </a:solidFill>
          </a:ln>
        </p:spPr>
      </p:cxnSp>
      <p:sp>
        <p:nvSpPr>
          <p:cNvPr id="3" name="TextBox 2"/>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4" name="TextBox 3"/>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01</a:t>
            </a:r>
          </a:p>
        </p:txBody>
      </p:sp>
      <p:sp>
        <p:nvSpPr>
          <p:cNvPr id="5" name="TextBox 4"/>
          <p:cNvSpPr txBox="1"/>
          <p:nvPr/>
        </p:nvSpPr>
        <p:spPr>
          <a:xfrm>
            <a:off x="585216" y="585216"/>
            <a:ext cx="9875520" cy="457200"/>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425968"/>
                </a:solidFill>
                <a:latin typeface="DejaVu Sans"/>
              </a:defRPr>
            </a:pPr>
            <a:r>
              <a:t>Instaprenyua</a:t>
            </a:r>
          </a:p>
        </p:txBody>
      </p:sp>
      <p:sp>
        <p:nvSpPr>
          <p:cNvPr id="6" name="Rectangle 5"/>
          <p:cNvSpPr/>
          <p:nvPr/>
        </p:nvSpPr>
        <p:spPr>
          <a:xfrm>
            <a:off x="585216" y="1307592"/>
            <a:ext cx="658368" cy="68580"/>
          </a:xfrm>
          <a:prstGeom prst="rect">
            <a:avLst/>
          </a:prstGeom>
          <a:solidFill>
            <a:srgbClr val="425968"/>
          </a:solidFill>
          <a:ln>
            <a:noFill/>
          </a:ln>
          <a:effectLst/>
        </p:spPr>
        <p:txBody>
          <a:bodyPr rtlCol="0" anchor="ctr"/>
          <a:lstStyle/>
          <a:p>
            <a:pPr algn="ctr"/>
          </a:p>
        </p:txBody>
      </p:sp>
      <p:sp>
        <p:nvSpPr>
          <p:cNvPr id="7" name="TextBox 6"/>
          <p:cNvSpPr txBox="1"/>
          <p:nvPr/>
        </p:nvSpPr>
        <p:spPr>
          <a:xfrm>
            <a:off x="566928" y="1609344"/>
            <a:ext cx="10844784" cy="2029968"/>
          </a:xfrm>
          <a:prstGeom prst="rect">
            <a:avLst/>
          </a:prstGeom>
          <a:noFill/>
        </p:spPr>
        <p:txBody>
          <a:bodyPr wrap="square" lIns="0" rIns="0" tIns="0" bIns="0" anchor="t">
            <a:spAutoFit/>
          </a:bodyPr>
          <a:lstStyle/>
          <a:p>
            <a:pPr algn="l">
              <a:lnSpc>
                <a:spcPct val="108000"/>
              </a:lnSpc>
              <a:spcBef>
                <a:spcPts val="0"/>
              </a:spcBef>
              <a:spcAft>
                <a:spcPts val="0"/>
              </a:spcAft>
              <a:defRPr sz="4400" b="1">
                <a:solidFill>
                  <a:srgbClr val="20282D"/>
                </a:solidFill>
                <a:latin typeface="DejaVu Sans"/>
              </a:defRPr>
            </a:pPr>
            <a:r>
              <a:t>Same Products, Different Sellers. Why Should Customers Choose You?</a:t>
            </a:r>
          </a:p>
        </p:txBody>
      </p:sp>
      <p:sp>
        <p:nvSpPr>
          <p:cNvPr id="8" name="TextBox 7"/>
          <p:cNvSpPr txBox="1"/>
          <p:nvPr/>
        </p:nvSpPr>
        <p:spPr>
          <a:xfrm>
            <a:off x="594360" y="4041648"/>
            <a:ext cx="10149840" cy="1143000"/>
          </a:xfrm>
          <a:prstGeom prst="rect">
            <a:avLst/>
          </a:prstGeom>
          <a:noFill/>
        </p:spPr>
        <p:txBody>
          <a:bodyPr wrap="square" lIns="0" rIns="0" tIns="0" bIns="0" anchor="t">
            <a:spAutoFit/>
          </a:bodyPr>
          <a:lstStyle/>
          <a:p>
            <a:pPr algn="l">
              <a:lnSpc>
                <a:spcPct val="117000"/>
              </a:lnSpc>
              <a:spcBef>
                <a:spcPts val="0"/>
              </a:spcBef>
              <a:spcAft>
                <a:spcPts val="0"/>
              </a:spcAft>
              <a:defRPr sz="2200" b="0">
                <a:solidFill>
                  <a:srgbClr val="425968"/>
                </a:solidFill>
                <a:latin typeface="DejaVu Sans"/>
              </a:defRPr>
            </a:pPr>
            <a:r>
              <a:t>A practical self-reflection to uncover what your customers truly value—and how to build a business they trust and recommend.</a:t>
            </a:r>
          </a:p>
        </p:txBody>
      </p:sp>
      <p:sp>
        <p:nvSpPr>
          <p:cNvPr id="9" name="TextBox 8"/>
          <p:cNvSpPr txBox="1"/>
          <p:nvPr/>
        </p:nvSpPr>
        <p:spPr>
          <a:xfrm>
            <a:off x="594360" y="5532120"/>
            <a:ext cx="10149840" cy="365760"/>
          </a:xfrm>
          <a:prstGeom prst="rect">
            <a:avLst/>
          </a:prstGeom>
          <a:noFill/>
        </p:spPr>
        <p:txBody>
          <a:bodyPr wrap="square" lIns="0" rIns="0" tIns="0" bIns="0" anchor="t">
            <a:spAutoFit/>
          </a:bodyPr>
          <a:lstStyle/>
          <a:p>
            <a:pPr algn="l">
              <a:lnSpc>
                <a:spcPct val="113000"/>
              </a:lnSpc>
              <a:spcBef>
                <a:spcPts val="0"/>
              </a:spcBef>
              <a:spcAft>
                <a:spcPts val="0"/>
              </a:spcAft>
              <a:defRPr sz="2000" b="0">
                <a:solidFill>
                  <a:srgbClr val="586269"/>
                </a:solidFill>
                <a:latin typeface="DejaVu Sans"/>
              </a:defRPr>
            </a:pPr>
            <a:r>
              <a:t>Understand. Deliver. Learn.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Are You Studying Your Customers—or Copying Competitors?</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02</a:t>
            </a:r>
          </a:p>
        </p:txBody>
      </p:sp>
      <p:sp>
        <p:nvSpPr>
          <p:cNvPr id="6" name="Rectangle 5"/>
          <p:cNvSpPr/>
          <p:nvPr/>
        </p:nvSpPr>
        <p:spPr>
          <a:xfrm>
            <a:off x="566928" y="2103120"/>
            <a:ext cx="5330952" cy="2468880"/>
          </a:xfrm>
          <a:prstGeom prst="rect">
            <a:avLst/>
          </a:prstGeom>
          <a:solidFill>
            <a:srgbClr val="F1F4F5"/>
          </a:solidFill>
          <a:ln>
            <a:noFill/>
          </a:ln>
          <a:effectLst/>
        </p:spPr>
        <p:txBody>
          <a:bodyPr rtlCol="0" anchor="ctr"/>
          <a:lstStyle/>
          <a:p>
            <a:pPr algn="ctr"/>
          </a:p>
        </p:txBody>
      </p:sp>
      <p:sp>
        <p:nvSpPr>
          <p:cNvPr id="7" name="Rectangle 6"/>
          <p:cNvSpPr/>
          <p:nvPr/>
        </p:nvSpPr>
        <p:spPr>
          <a:xfrm>
            <a:off x="6181344" y="2103120"/>
            <a:ext cx="5440680" cy="2468880"/>
          </a:xfrm>
          <a:prstGeom prst="rect">
            <a:avLst/>
          </a:prstGeom>
          <a:solidFill>
            <a:srgbClr val="425968"/>
          </a:solidFill>
          <a:ln>
            <a:noFill/>
          </a:ln>
          <a:effectLst/>
        </p:spPr>
        <p:txBody>
          <a:bodyPr rtlCol="0" anchor="ctr"/>
          <a:lstStyle/>
          <a:p>
            <a:pPr algn="ctr"/>
          </a:p>
        </p:txBody>
      </p:sp>
      <p:sp>
        <p:nvSpPr>
          <p:cNvPr id="8" name="TextBox 7"/>
          <p:cNvSpPr txBox="1"/>
          <p:nvPr/>
        </p:nvSpPr>
        <p:spPr>
          <a:xfrm>
            <a:off x="832104" y="2377440"/>
            <a:ext cx="4681728" cy="292608"/>
          </a:xfrm>
          <a:prstGeom prst="rect">
            <a:avLst/>
          </a:prstGeom>
          <a:noFill/>
        </p:spPr>
        <p:txBody>
          <a:bodyPr wrap="square" lIns="0" rIns="0" tIns="0" bIns="0" anchor="t">
            <a:spAutoFit/>
          </a:bodyPr>
          <a:lstStyle/>
          <a:p>
            <a:pPr algn="l">
              <a:lnSpc>
                <a:spcPct val="113000"/>
              </a:lnSpc>
              <a:spcBef>
                <a:spcPts val="0"/>
              </a:spcBef>
              <a:spcAft>
                <a:spcPts val="0"/>
              </a:spcAft>
              <a:defRPr sz="1600" b="1">
                <a:solidFill>
                  <a:srgbClr val="586269"/>
                </a:solidFill>
                <a:latin typeface="DejaVu Sans"/>
              </a:defRPr>
            </a:pPr>
            <a:r>
              <a:t>COMPETITOR-LED</a:t>
            </a:r>
          </a:p>
        </p:txBody>
      </p:sp>
      <p:sp>
        <p:nvSpPr>
          <p:cNvPr id="9" name="TextBox 8"/>
          <p:cNvSpPr txBox="1"/>
          <p:nvPr/>
        </p:nvSpPr>
        <p:spPr>
          <a:xfrm>
            <a:off x="832104" y="2889504"/>
            <a:ext cx="4645152" cy="1170432"/>
          </a:xfrm>
          <a:prstGeom prst="rect">
            <a:avLst/>
          </a:prstGeom>
          <a:noFill/>
        </p:spPr>
        <p:txBody>
          <a:bodyPr wrap="square" lIns="0" rIns="0" tIns="0" bIns="0" anchor="t">
            <a:spAutoFit/>
          </a:bodyPr>
          <a:lstStyle/>
          <a:p>
            <a:pPr algn="l">
              <a:lnSpc>
                <a:spcPct val="120000"/>
              </a:lnSpc>
              <a:spcBef>
                <a:spcPts val="0"/>
              </a:spcBef>
              <a:spcAft>
                <a:spcPts val="0"/>
              </a:spcAft>
              <a:defRPr sz="2800" b="1">
                <a:solidFill>
                  <a:srgbClr val="20282D"/>
                </a:solidFill>
                <a:latin typeface="DejaVu Sans"/>
              </a:defRPr>
            </a:pPr>
            <a:r>
              <a:t>Competitor stocks it.</a:t>
            </a:r>
          </a:p>
          <a:p>
            <a:pPr algn="l">
              <a:lnSpc>
                <a:spcPct val="120000"/>
              </a:lnSpc>
              <a:spcBef>
                <a:spcPts val="0"/>
              </a:spcBef>
              <a:spcAft>
                <a:spcPts val="0"/>
              </a:spcAft>
              <a:defRPr sz="2800" b="1">
                <a:solidFill>
                  <a:srgbClr val="20282D"/>
                </a:solidFill>
                <a:latin typeface="DejaVu Sans"/>
              </a:defRPr>
            </a:pPr>
            <a:r>
              <a:t>So I stock it.</a:t>
            </a:r>
          </a:p>
        </p:txBody>
      </p:sp>
      <p:sp>
        <p:nvSpPr>
          <p:cNvPr id="10" name="TextBox 9"/>
          <p:cNvSpPr txBox="1"/>
          <p:nvPr/>
        </p:nvSpPr>
        <p:spPr>
          <a:xfrm>
            <a:off x="6464808" y="2377440"/>
            <a:ext cx="4681728" cy="292608"/>
          </a:xfrm>
          <a:prstGeom prst="rect">
            <a:avLst/>
          </a:prstGeom>
          <a:noFill/>
        </p:spPr>
        <p:txBody>
          <a:bodyPr wrap="square" lIns="0" rIns="0" tIns="0" bIns="0" anchor="t">
            <a:spAutoFit/>
          </a:bodyPr>
          <a:lstStyle/>
          <a:p>
            <a:pPr algn="l">
              <a:lnSpc>
                <a:spcPct val="113000"/>
              </a:lnSpc>
              <a:spcBef>
                <a:spcPts val="0"/>
              </a:spcBef>
              <a:spcAft>
                <a:spcPts val="0"/>
              </a:spcAft>
              <a:defRPr sz="1600" b="1">
                <a:solidFill>
                  <a:srgbClr val="FFFFFF"/>
                </a:solidFill>
                <a:latin typeface="DejaVu Sans"/>
              </a:defRPr>
            </a:pPr>
            <a:r>
              <a:t>CUSTOMER-LED</a:t>
            </a:r>
          </a:p>
        </p:txBody>
      </p:sp>
      <p:sp>
        <p:nvSpPr>
          <p:cNvPr id="11" name="TextBox 10"/>
          <p:cNvSpPr txBox="1"/>
          <p:nvPr/>
        </p:nvSpPr>
        <p:spPr>
          <a:xfrm>
            <a:off x="6464808" y="2889504"/>
            <a:ext cx="4709160" cy="1234440"/>
          </a:xfrm>
          <a:prstGeom prst="rect">
            <a:avLst/>
          </a:prstGeom>
          <a:noFill/>
        </p:spPr>
        <p:txBody>
          <a:bodyPr wrap="square" lIns="0" rIns="0" tIns="0" bIns="0" anchor="t">
            <a:spAutoFit/>
          </a:bodyPr>
          <a:lstStyle/>
          <a:p>
            <a:pPr algn="l">
              <a:lnSpc>
                <a:spcPct val="120000"/>
              </a:lnSpc>
              <a:spcBef>
                <a:spcPts val="0"/>
              </a:spcBef>
              <a:spcAft>
                <a:spcPts val="0"/>
              </a:spcAft>
              <a:defRPr sz="2700" b="1">
                <a:solidFill>
                  <a:srgbClr val="FFFFFF"/>
                </a:solidFill>
                <a:latin typeface="DejaVu Sans"/>
              </a:defRPr>
            </a:pPr>
            <a:r>
              <a:t>Observe a customer need.</a:t>
            </a:r>
          </a:p>
          <a:p>
            <a:pPr algn="l">
              <a:lnSpc>
                <a:spcPct val="120000"/>
              </a:lnSpc>
              <a:spcBef>
                <a:spcPts val="0"/>
              </a:spcBef>
              <a:spcAft>
                <a:spcPts val="0"/>
              </a:spcAft>
              <a:defRPr sz="2700" b="1">
                <a:solidFill>
                  <a:srgbClr val="FFFFFF"/>
                </a:solidFill>
                <a:latin typeface="DejaVu Sans"/>
              </a:defRPr>
            </a:pPr>
            <a:r>
              <a:t>Test it with evidence.</a:t>
            </a:r>
          </a:p>
        </p:txBody>
      </p:sp>
      <p:sp>
        <p:nvSpPr>
          <p:cNvPr id="12" name="TextBox 11"/>
          <p:cNvSpPr txBox="1"/>
          <p:nvPr/>
        </p:nvSpPr>
        <p:spPr>
          <a:xfrm>
            <a:off x="585216" y="4882896"/>
            <a:ext cx="10789920" cy="347472"/>
          </a:xfrm>
          <a:prstGeom prst="rect">
            <a:avLst/>
          </a:prstGeom>
          <a:noFill/>
        </p:spPr>
        <p:txBody>
          <a:bodyPr wrap="square" lIns="0" rIns="0" tIns="0" bIns="0" anchor="t">
            <a:spAutoFit/>
          </a:bodyPr>
          <a:lstStyle/>
          <a:p>
            <a:pPr algn="l">
              <a:lnSpc>
                <a:spcPct val="113000"/>
              </a:lnSpc>
              <a:spcBef>
                <a:spcPts val="0"/>
              </a:spcBef>
              <a:spcAft>
                <a:spcPts val="0"/>
              </a:spcAft>
              <a:defRPr sz="2000" b="1">
                <a:solidFill>
                  <a:srgbClr val="425968"/>
                </a:solidFill>
                <a:latin typeface="DejaVu Sans"/>
              </a:defRPr>
            </a:pPr>
            <a:r>
              <a:t>Asha · hypothetical clothing business</a:t>
            </a:r>
          </a:p>
        </p:txBody>
      </p:sp>
      <p:sp>
        <p:nvSpPr>
          <p:cNvPr id="13" name="TextBox 12"/>
          <p:cNvSpPr txBox="1"/>
          <p:nvPr/>
        </p:nvSpPr>
        <p:spPr>
          <a:xfrm>
            <a:off x="585216" y="5394960"/>
            <a:ext cx="10789920" cy="429768"/>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20282D"/>
                </a:solidFill>
                <a:latin typeface="DejaVu Sans"/>
              </a:defRPr>
            </a:pPr>
            <a:r>
              <a:t>Office-wear purchases suggest a segment to investigate.</a:t>
            </a:r>
          </a:p>
        </p:txBody>
      </p:sp>
      <p:sp>
        <p:nvSpPr>
          <p:cNvPr id="14" name="TextBox 13"/>
          <p:cNvSpPr txBox="1"/>
          <p:nvPr/>
        </p:nvSpPr>
        <p:spPr>
          <a:xfrm>
            <a:off x="585216" y="5952744"/>
            <a:ext cx="10698480" cy="237744"/>
          </a:xfrm>
          <a:prstGeom prst="rect">
            <a:avLst/>
          </a:prstGeom>
          <a:noFill/>
        </p:spPr>
        <p:txBody>
          <a:bodyPr wrap="square" lIns="0" rIns="0" tIns="0" bIns="0" anchor="t">
            <a:spAutoFit/>
          </a:bodyPr>
          <a:lstStyle/>
          <a:p>
            <a:pPr algn="l">
              <a:lnSpc>
                <a:spcPct val="113000"/>
              </a:lnSpc>
              <a:spcBef>
                <a:spcPts val="0"/>
              </a:spcBef>
              <a:spcAft>
                <a:spcPts val="0"/>
              </a:spcAft>
              <a:defRPr sz="1300" b="0">
                <a:solidFill>
                  <a:srgbClr val="586269"/>
                </a:solidFill>
                <a:latin typeface="DejaVu Sans"/>
              </a:defRPr>
            </a:pPr>
            <a:r>
              <a:t>Private reflection · 20 seconds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Your Followers Are Not Necessarily Your Buyers.</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03</a:t>
            </a:r>
          </a:p>
        </p:txBody>
      </p:sp>
      <p:sp>
        <p:nvSpPr>
          <p:cNvPr id="6" name="Rectangle 5"/>
          <p:cNvSpPr/>
          <p:nvPr/>
        </p:nvSpPr>
        <p:spPr>
          <a:xfrm>
            <a:off x="566928" y="2112264"/>
            <a:ext cx="5404104" cy="1335024"/>
          </a:xfrm>
          <a:prstGeom prst="rect">
            <a:avLst/>
          </a:prstGeom>
          <a:solidFill>
            <a:srgbClr val="F1F4F5"/>
          </a:solidFill>
          <a:ln>
            <a:noFill/>
          </a:ln>
          <a:effectLst/>
        </p:spPr>
        <p:txBody>
          <a:bodyPr rtlCol="0" anchor="ctr"/>
          <a:lstStyle/>
          <a:p>
            <a:pPr algn="ctr"/>
          </a:p>
        </p:txBody>
      </p:sp>
      <p:sp>
        <p:nvSpPr>
          <p:cNvPr id="7" name="Rectangle 6"/>
          <p:cNvSpPr/>
          <p:nvPr/>
        </p:nvSpPr>
        <p:spPr>
          <a:xfrm>
            <a:off x="566928" y="2112264"/>
            <a:ext cx="68580" cy="1335024"/>
          </a:xfrm>
          <a:prstGeom prst="rect">
            <a:avLst/>
          </a:prstGeom>
          <a:solidFill>
            <a:srgbClr val="425968"/>
          </a:solidFill>
          <a:ln>
            <a:noFill/>
          </a:ln>
          <a:effectLst/>
        </p:spPr>
        <p:txBody>
          <a:bodyPr rtlCol="0" anchor="ctr"/>
          <a:lstStyle/>
          <a:p>
            <a:pPr algn="ctr"/>
          </a:p>
        </p:txBody>
      </p:sp>
      <p:sp>
        <p:nvSpPr>
          <p:cNvPr id="8" name="TextBox 7"/>
          <p:cNvSpPr txBox="1"/>
          <p:nvPr/>
        </p:nvSpPr>
        <p:spPr>
          <a:xfrm>
            <a:off x="822960" y="2313432"/>
            <a:ext cx="4681728" cy="411480"/>
          </a:xfrm>
          <a:prstGeom prst="rect">
            <a:avLst/>
          </a:prstGeom>
          <a:noFill/>
        </p:spPr>
        <p:txBody>
          <a:bodyPr wrap="square" lIns="0" rIns="0" tIns="0" bIns="0" anchor="t">
            <a:spAutoFit/>
          </a:bodyPr>
          <a:lstStyle/>
          <a:p>
            <a:pPr algn="l">
              <a:lnSpc>
                <a:spcPct val="113000"/>
              </a:lnSpc>
              <a:spcBef>
                <a:spcPts val="0"/>
              </a:spcBef>
              <a:spcAft>
                <a:spcPts val="0"/>
              </a:spcAft>
              <a:defRPr sz="2500" b="1">
                <a:solidFill>
                  <a:srgbClr val="20282D"/>
                </a:solidFill>
                <a:latin typeface="DejaVu Sans"/>
              </a:defRPr>
            </a:pPr>
            <a:r>
              <a:t>Followers</a:t>
            </a:r>
          </a:p>
        </p:txBody>
      </p:sp>
      <p:sp>
        <p:nvSpPr>
          <p:cNvPr id="9" name="TextBox 8"/>
          <p:cNvSpPr txBox="1"/>
          <p:nvPr/>
        </p:nvSpPr>
        <p:spPr>
          <a:xfrm>
            <a:off x="822960" y="2852928"/>
            <a:ext cx="4681728" cy="365760"/>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425968"/>
                </a:solidFill>
                <a:latin typeface="DejaVu Sans"/>
              </a:defRPr>
            </a:pPr>
            <a:r>
              <a:t>Follow your account.</a:t>
            </a:r>
          </a:p>
        </p:txBody>
      </p:sp>
      <p:sp>
        <p:nvSpPr>
          <p:cNvPr id="10" name="Rectangle 9"/>
          <p:cNvSpPr/>
          <p:nvPr/>
        </p:nvSpPr>
        <p:spPr>
          <a:xfrm>
            <a:off x="6217920" y="2112264"/>
            <a:ext cx="5404104" cy="1335024"/>
          </a:xfrm>
          <a:prstGeom prst="rect">
            <a:avLst/>
          </a:prstGeom>
          <a:solidFill>
            <a:srgbClr val="F1F4F5"/>
          </a:solidFill>
          <a:ln>
            <a:noFill/>
          </a:ln>
          <a:effectLst/>
        </p:spPr>
        <p:txBody>
          <a:bodyPr rtlCol="0" anchor="ctr"/>
          <a:lstStyle/>
          <a:p>
            <a:pPr algn="ctr"/>
          </a:p>
        </p:txBody>
      </p:sp>
      <p:sp>
        <p:nvSpPr>
          <p:cNvPr id="11" name="Rectangle 10"/>
          <p:cNvSpPr/>
          <p:nvPr/>
        </p:nvSpPr>
        <p:spPr>
          <a:xfrm>
            <a:off x="6217920" y="2112264"/>
            <a:ext cx="68580" cy="1335024"/>
          </a:xfrm>
          <a:prstGeom prst="rect">
            <a:avLst/>
          </a:prstGeom>
          <a:solidFill>
            <a:srgbClr val="425968"/>
          </a:solidFill>
          <a:ln>
            <a:noFill/>
          </a:ln>
          <a:effectLst/>
        </p:spPr>
        <p:txBody>
          <a:bodyPr rtlCol="0" anchor="ctr"/>
          <a:lstStyle/>
          <a:p>
            <a:pPr algn="ctr"/>
          </a:p>
        </p:txBody>
      </p:sp>
      <p:sp>
        <p:nvSpPr>
          <p:cNvPr id="12" name="TextBox 11"/>
          <p:cNvSpPr txBox="1"/>
          <p:nvPr/>
        </p:nvSpPr>
        <p:spPr>
          <a:xfrm>
            <a:off x="6473952" y="2313432"/>
            <a:ext cx="4681728" cy="411480"/>
          </a:xfrm>
          <a:prstGeom prst="rect">
            <a:avLst/>
          </a:prstGeom>
          <a:noFill/>
        </p:spPr>
        <p:txBody>
          <a:bodyPr wrap="square" lIns="0" rIns="0" tIns="0" bIns="0" anchor="t">
            <a:spAutoFit/>
          </a:bodyPr>
          <a:lstStyle/>
          <a:p>
            <a:pPr algn="l">
              <a:lnSpc>
                <a:spcPct val="113000"/>
              </a:lnSpc>
              <a:spcBef>
                <a:spcPts val="0"/>
              </a:spcBef>
              <a:spcAft>
                <a:spcPts val="0"/>
              </a:spcAft>
              <a:defRPr sz="2500" b="1">
                <a:solidFill>
                  <a:srgbClr val="20282D"/>
                </a:solidFill>
                <a:latin typeface="DejaVu Sans"/>
              </a:defRPr>
            </a:pPr>
            <a:r>
              <a:t>Prospects</a:t>
            </a:r>
          </a:p>
        </p:txBody>
      </p:sp>
      <p:sp>
        <p:nvSpPr>
          <p:cNvPr id="13" name="TextBox 12"/>
          <p:cNvSpPr txBox="1"/>
          <p:nvPr/>
        </p:nvSpPr>
        <p:spPr>
          <a:xfrm>
            <a:off x="6473952" y="2852928"/>
            <a:ext cx="4681728" cy="365760"/>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425968"/>
                </a:solidFill>
                <a:latin typeface="DejaVu Sans"/>
              </a:defRPr>
            </a:pPr>
            <a:r>
              <a:t>Consider a purchase.</a:t>
            </a:r>
          </a:p>
        </p:txBody>
      </p:sp>
      <p:sp>
        <p:nvSpPr>
          <p:cNvPr id="14" name="Rectangle 13"/>
          <p:cNvSpPr/>
          <p:nvPr/>
        </p:nvSpPr>
        <p:spPr>
          <a:xfrm>
            <a:off x="566928" y="3685032"/>
            <a:ext cx="5404104" cy="1335024"/>
          </a:xfrm>
          <a:prstGeom prst="rect">
            <a:avLst/>
          </a:prstGeom>
          <a:solidFill>
            <a:srgbClr val="F1F4F5"/>
          </a:solidFill>
          <a:ln>
            <a:noFill/>
          </a:ln>
          <a:effectLst/>
        </p:spPr>
        <p:txBody>
          <a:bodyPr rtlCol="0" anchor="ctr"/>
          <a:lstStyle/>
          <a:p>
            <a:pPr algn="ctr"/>
          </a:p>
        </p:txBody>
      </p:sp>
      <p:sp>
        <p:nvSpPr>
          <p:cNvPr id="15" name="Rectangle 14"/>
          <p:cNvSpPr/>
          <p:nvPr/>
        </p:nvSpPr>
        <p:spPr>
          <a:xfrm>
            <a:off x="566928" y="3685032"/>
            <a:ext cx="68580" cy="1335024"/>
          </a:xfrm>
          <a:prstGeom prst="rect">
            <a:avLst/>
          </a:prstGeom>
          <a:solidFill>
            <a:srgbClr val="425968"/>
          </a:solidFill>
          <a:ln>
            <a:noFill/>
          </a:ln>
          <a:effectLst/>
        </p:spPr>
        <p:txBody>
          <a:bodyPr rtlCol="0" anchor="ctr"/>
          <a:lstStyle/>
          <a:p>
            <a:pPr algn="ctr"/>
          </a:p>
        </p:txBody>
      </p:sp>
      <p:sp>
        <p:nvSpPr>
          <p:cNvPr id="16" name="TextBox 15"/>
          <p:cNvSpPr txBox="1"/>
          <p:nvPr/>
        </p:nvSpPr>
        <p:spPr>
          <a:xfrm>
            <a:off x="822960" y="3886200"/>
            <a:ext cx="4681728" cy="411480"/>
          </a:xfrm>
          <a:prstGeom prst="rect">
            <a:avLst/>
          </a:prstGeom>
          <a:noFill/>
        </p:spPr>
        <p:txBody>
          <a:bodyPr wrap="square" lIns="0" rIns="0" tIns="0" bIns="0" anchor="t">
            <a:spAutoFit/>
          </a:bodyPr>
          <a:lstStyle/>
          <a:p>
            <a:pPr algn="l">
              <a:lnSpc>
                <a:spcPct val="113000"/>
              </a:lnSpc>
              <a:spcBef>
                <a:spcPts val="0"/>
              </a:spcBef>
              <a:spcAft>
                <a:spcPts val="0"/>
              </a:spcAft>
              <a:defRPr sz="2500" b="1">
                <a:solidFill>
                  <a:srgbClr val="20282D"/>
                </a:solidFill>
                <a:latin typeface="DejaVu Sans"/>
              </a:defRPr>
            </a:pPr>
            <a:r>
              <a:t>Buyers</a:t>
            </a:r>
          </a:p>
        </p:txBody>
      </p:sp>
      <p:sp>
        <p:nvSpPr>
          <p:cNvPr id="17" name="TextBox 16"/>
          <p:cNvSpPr txBox="1"/>
          <p:nvPr/>
        </p:nvSpPr>
        <p:spPr>
          <a:xfrm>
            <a:off x="822960" y="4425696"/>
            <a:ext cx="4681728" cy="365760"/>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425968"/>
                </a:solidFill>
                <a:latin typeface="DejaVu Sans"/>
              </a:defRPr>
            </a:pPr>
            <a:r>
              <a:t>Pay for the purchase.</a:t>
            </a:r>
          </a:p>
        </p:txBody>
      </p:sp>
      <p:sp>
        <p:nvSpPr>
          <p:cNvPr id="18" name="Rectangle 17"/>
          <p:cNvSpPr/>
          <p:nvPr/>
        </p:nvSpPr>
        <p:spPr>
          <a:xfrm>
            <a:off x="6217920" y="3685032"/>
            <a:ext cx="5404104" cy="1335024"/>
          </a:xfrm>
          <a:prstGeom prst="rect">
            <a:avLst/>
          </a:prstGeom>
          <a:solidFill>
            <a:srgbClr val="F1F4F5"/>
          </a:solidFill>
          <a:ln>
            <a:noFill/>
          </a:ln>
          <a:effectLst/>
        </p:spPr>
        <p:txBody>
          <a:bodyPr rtlCol="0" anchor="ctr"/>
          <a:lstStyle/>
          <a:p>
            <a:pPr algn="ctr"/>
          </a:p>
        </p:txBody>
      </p:sp>
      <p:sp>
        <p:nvSpPr>
          <p:cNvPr id="19" name="Rectangle 18"/>
          <p:cNvSpPr/>
          <p:nvPr/>
        </p:nvSpPr>
        <p:spPr>
          <a:xfrm>
            <a:off x="6217920" y="3685032"/>
            <a:ext cx="68580" cy="1335024"/>
          </a:xfrm>
          <a:prstGeom prst="rect">
            <a:avLst/>
          </a:prstGeom>
          <a:solidFill>
            <a:srgbClr val="425968"/>
          </a:solidFill>
          <a:ln>
            <a:noFill/>
          </a:ln>
          <a:effectLst/>
        </p:spPr>
        <p:txBody>
          <a:bodyPr rtlCol="0" anchor="ctr"/>
          <a:lstStyle/>
          <a:p>
            <a:pPr algn="ctr"/>
          </a:p>
        </p:txBody>
      </p:sp>
      <p:sp>
        <p:nvSpPr>
          <p:cNvPr id="20" name="TextBox 19"/>
          <p:cNvSpPr txBox="1"/>
          <p:nvPr/>
        </p:nvSpPr>
        <p:spPr>
          <a:xfrm>
            <a:off x="6473952" y="3886200"/>
            <a:ext cx="4681728" cy="411480"/>
          </a:xfrm>
          <a:prstGeom prst="rect">
            <a:avLst/>
          </a:prstGeom>
          <a:noFill/>
        </p:spPr>
        <p:txBody>
          <a:bodyPr wrap="square" lIns="0" rIns="0" tIns="0" bIns="0" anchor="t">
            <a:spAutoFit/>
          </a:bodyPr>
          <a:lstStyle/>
          <a:p>
            <a:pPr algn="l">
              <a:lnSpc>
                <a:spcPct val="113000"/>
              </a:lnSpc>
              <a:spcBef>
                <a:spcPts val="0"/>
              </a:spcBef>
              <a:spcAft>
                <a:spcPts val="0"/>
              </a:spcAft>
              <a:defRPr sz="2500" b="1">
                <a:solidFill>
                  <a:srgbClr val="20282D"/>
                </a:solidFill>
                <a:latin typeface="DejaVu Sans"/>
              </a:defRPr>
            </a:pPr>
            <a:r>
              <a:t>Users</a:t>
            </a:r>
          </a:p>
        </p:txBody>
      </p:sp>
      <p:sp>
        <p:nvSpPr>
          <p:cNvPr id="21" name="TextBox 20"/>
          <p:cNvSpPr txBox="1"/>
          <p:nvPr/>
        </p:nvSpPr>
        <p:spPr>
          <a:xfrm>
            <a:off x="6473952" y="4425696"/>
            <a:ext cx="4681728" cy="365760"/>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425968"/>
                </a:solidFill>
                <a:latin typeface="DejaVu Sans"/>
              </a:defRPr>
            </a:pPr>
            <a:r>
              <a:t>Use the product.</a:t>
            </a:r>
          </a:p>
        </p:txBody>
      </p:sp>
      <p:sp>
        <p:nvSpPr>
          <p:cNvPr id="22" name="TextBox 21"/>
          <p:cNvSpPr txBox="1"/>
          <p:nvPr/>
        </p:nvSpPr>
        <p:spPr>
          <a:xfrm>
            <a:off x="585216" y="5413248"/>
            <a:ext cx="10972800" cy="658368"/>
          </a:xfrm>
          <a:prstGeom prst="rect">
            <a:avLst/>
          </a:prstGeom>
          <a:noFill/>
        </p:spPr>
        <p:txBody>
          <a:bodyPr wrap="square" lIns="0" rIns="0" tIns="0" bIns="0" anchor="t">
            <a:spAutoFit/>
          </a:bodyPr>
          <a:lstStyle/>
          <a:p>
            <a:pPr algn="l">
              <a:lnSpc>
                <a:spcPct val="116000"/>
              </a:lnSpc>
              <a:spcBef>
                <a:spcPts val="0"/>
              </a:spcBef>
              <a:spcAft>
                <a:spcPts val="0"/>
              </a:spcAft>
              <a:defRPr sz="2000" b="0">
                <a:solidFill>
                  <a:srgbClr val="425968"/>
                </a:solidFill>
                <a:latin typeface="DejaVu Sans"/>
              </a:defRPr>
            </a:pPr>
            <a:r>
              <a:t>These roles can overlap. Study completed orders to understand buying behaviour.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Before You Stock It, Who Will Buy It?</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04</a:t>
            </a:r>
          </a:p>
        </p:txBody>
      </p:sp>
      <p:sp>
        <p:nvSpPr>
          <p:cNvPr id="6" name="TextBox 5"/>
          <p:cNvSpPr txBox="1"/>
          <p:nvPr/>
        </p:nvSpPr>
        <p:spPr>
          <a:xfrm>
            <a:off x="585216" y="1920240"/>
            <a:ext cx="10789920" cy="320040"/>
          </a:xfrm>
          <a:prstGeom prst="rect">
            <a:avLst/>
          </a:prstGeom>
          <a:noFill/>
        </p:spPr>
        <p:txBody>
          <a:bodyPr wrap="square" lIns="0" rIns="0" tIns="0" bIns="0" anchor="t">
            <a:spAutoFit/>
          </a:bodyPr>
          <a:lstStyle/>
          <a:p>
            <a:pPr algn="l">
              <a:lnSpc>
                <a:spcPct val="113000"/>
              </a:lnSpc>
              <a:spcBef>
                <a:spcPts val="0"/>
              </a:spcBef>
              <a:spcAft>
                <a:spcPts val="0"/>
              </a:spcAft>
              <a:defRPr sz="1800" b="0">
                <a:solidFill>
                  <a:srgbClr val="425968"/>
                </a:solidFill>
                <a:latin typeface="DejaVu Sans"/>
              </a:defRPr>
            </a:pPr>
            <a:r>
              <a:t>Asha · hypothetical office-wear trial</a:t>
            </a:r>
          </a:p>
        </p:txBody>
      </p:sp>
      <p:sp>
        <p:nvSpPr>
          <p:cNvPr id="7" name="Rectangle 6"/>
          <p:cNvSpPr/>
          <p:nvPr/>
        </p:nvSpPr>
        <p:spPr>
          <a:xfrm>
            <a:off x="585216" y="2450592"/>
            <a:ext cx="3337560" cy="73152"/>
          </a:xfrm>
          <a:prstGeom prst="rect">
            <a:avLst/>
          </a:prstGeom>
          <a:solidFill>
            <a:srgbClr val="425968"/>
          </a:solidFill>
          <a:ln>
            <a:noFill/>
          </a:ln>
          <a:effectLst/>
        </p:spPr>
        <p:txBody>
          <a:bodyPr rtlCol="0" anchor="ctr"/>
          <a:lstStyle/>
          <a:p>
            <a:pPr algn="ctr"/>
          </a:p>
        </p:txBody>
      </p:sp>
      <p:sp>
        <p:nvSpPr>
          <p:cNvPr id="8" name="TextBox 7"/>
          <p:cNvSpPr txBox="1"/>
          <p:nvPr/>
        </p:nvSpPr>
        <p:spPr>
          <a:xfrm>
            <a:off x="585216" y="2724912"/>
            <a:ext cx="3337560" cy="457200"/>
          </a:xfrm>
          <a:prstGeom prst="rect">
            <a:avLst/>
          </a:prstGeom>
          <a:noFill/>
        </p:spPr>
        <p:txBody>
          <a:bodyPr wrap="square" lIns="0" rIns="0" tIns="0" bIns="0" anchor="t">
            <a:spAutoFit/>
          </a:bodyPr>
          <a:lstStyle/>
          <a:p>
            <a:pPr algn="l">
              <a:lnSpc>
                <a:spcPct val="113000"/>
              </a:lnSpc>
              <a:spcBef>
                <a:spcPts val="0"/>
              </a:spcBef>
              <a:spcAft>
                <a:spcPts val="0"/>
              </a:spcAft>
              <a:defRPr sz="2800" b="1">
                <a:solidFill>
                  <a:srgbClr val="20282D"/>
                </a:solidFill>
                <a:latin typeface="DejaVu Sans"/>
              </a:defRPr>
            </a:pPr>
            <a:r>
              <a:t>Observe</a:t>
            </a:r>
          </a:p>
        </p:txBody>
      </p:sp>
      <p:sp>
        <p:nvSpPr>
          <p:cNvPr id="9" name="TextBox 8"/>
          <p:cNvSpPr txBox="1"/>
          <p:nvPr/>
        </p:nvSpPr>
        <p:spPr>
          <a:xfrm>
            <a:off x="585216" y="3401568"/>
            <a:ext cx="3364992" cy="2377440"/>
          </a:xfrm>
          <a:prstGeom prst="rect">
            <a:avLst/>
          </a:prstGeom>
          <a:noFill/>
        </p:spPr>
        <p:txBody>
          <a:bodyPr wrap="square" lIns="0" rIns="0" tIns="0" bIns="0" anchor="t">
            <a:spAutoFit/>
          </a:bodyPr>
          <a:lstStyle/>
          <a:p>
            <a:pPr algn="l">
              <a:lnSpc>
                <a:spcPct val="115000"/>
              </a:lnSpc>
              <a:spcBef>
                <a:spcPts val="0"/>
              </a:spcBef>
              <a:spcAft>
                <a:spcPts val="0"/>
              </a:spcAft>
              <a:defRPr sz="2200" b="0">
                <a:solidFill>
                  <a:srgbClr val="20282D"/>
                </a:solidFill>
                <a:latin typeface="DejaVu Sans"/>
              </a:defRPr>
            </a:pPr>
            <a:r>
              <a:t>Review completed</a:t>
            </a:r>
          </a:p>
          <a:p>
            <a:pPr algn="l">
              <a:lnSpc>
                <a:spcPct val="115000"/>
              </a:lnSpc>
              <a:spcBef>
                <a:spcPts val="0"/>
              </a:spcBef>
              <a:spcAft>
                <a:spcPts val="0"/>
              </a:spcAft>
              <a:defRPr sz="2200" b="0">
                <a:solidFill>
                  <a:srgbClr val="20282D"/>
                </a:solidFill>
                <a:latin typeface="DejaVu Sans"/>
              </a:defRPr>
            </a:pPr>
            <a:r>
              <a:t>office-wear purchases.</a:t>
            </a:r>
          </a:p>
          <a:p>
            <a:pPr algn="l">
              <a:lnSpc>
                <a:spcPct val="115000"/>
              </a:lnSpc>
              <a:spcBef>
                <a:spcPts val="0"/>
              </a:spcBef>
              <a:spcAft>
                <a:spcPts val="0"/>
              </a:spcAft>
              <a:defRPr sz="2200" b="0">
                <a:solidFill>
                  <a:srgbClr val="20282D"/>
                </a:solidFill>
                <a:latin typeface="DejaVu Sans"/>
              </a:defRPr>
            </a:pPr>
          </a:p>
          <a:p>
            <a:pPr algn="l">
              <a:lnSpc>
                <a:spcPct val="115000"/>
              </a:lnSpc>
              <a:spcBef>
                <a:spcPts val="0"/>
              </a:spcBef>
              <a:spcAft>
                <a:spcPts val="0"/>
              </a:spcAft>
              <a:defRPr sz="2200" b="0">
                <a:solidFill>
                  <a:srgbClr val="20282D"/>
                </a:solidFill>
                <a:latin typeface="DejaVu Sans"/>
              </a:defRPr>
            </a:pPr>
            <a:r>
              <a:t>Who bought?</a:t>
            </a:r>
          </a:p>
          <a:p>
            <a:pPr algn="l">
              <a:lnSpc>
                <a:spcPct val="115000"/>
              </a:lnSpc>
              <a:spcBef>
                <a:spcPts val="0"/>
              </a:spcBef>
              <a:spcAft>
                <a:spcPts val="0"/>
              </a:spcAft>
              <a:defRPr sz="2200" b="0">
                <a:solidFill>
                  <a:srgbClr val="20282D"/>
                </a:solidFill>
                <a:latin typeface="DejaVu Sans"/>
              </a:defRPr>
            </a:pPr>
            <a:r>
              <a:t>What was returned?</a:t>
            </a:r>
          </a:p>
        </p:txBody>
      </p:sp>
      <p:sp>
        <p:nvSpPr>
          <p:cNvPr id="10" name="Rectangle 9"/>
          <p:cNvSpPr/>
          <p:nvPr/>
        </p:nvSpPr>
        <p:spPr>
          <a:xfrm>
            <a:off x="4425696" y="2450592"/>
            <a:ext cx="3337560" cy="73152"/>
          </a:xfrm>
          <a:prstGeom prst="rect">
            <a:avLst/>
          </a:prstGeom>
          <a:solidFill>
            <a:srgbClr val="425968"/>
          </a:solidFill>
          <a:ln>
            <a:noFill/>
          </a:ln>
          <a:effectLst/>
        </p:spPr>
        <p:txBody>
          <a:bodyPr rtlCol="0" anchor="ctr"/>
          <a:lstStyle/>
          <a:p>
            <a:pPr algn="ctr"/>
          </a:p>
        </p:txBody>
      </p:sp>
      <p:sp>
        <p:nvSpPr>
          <p:cNvPr id="11" name="TextBox 10"/>
          <p:cNvSpPr txBox="1"/>
          <p:nvPr/>
        </p:nvSpPr>
        <p:spPr>
          <a:xfrm>
            <a:off x="4425696" y="2724912"/>
            <a:ext cx="3337560" cy="457200"/>
          </a:xfrm>
          <a:prstGeom prst="rect">
            <a:avLst/>
          </a:prstGeom>
          <a:noFill/>
        </p:spPr>
        <p:txBody>
          <a:bodyPr wrap="square" lIns="0" rIns="0" tIns="0" bIns="0" anchor="t">
            <a:spAutoFit/>
          </a:bodyPr>
          <a:lstStyle/>
          <a:p>
            <a:pPr algn="l">
              <a:lnSpc>
                <a:spcPct val="113000"/>
              </a:lnSpc>
              <a:spcBef>
                <a:spcPts val="0"/>
              </a:spcBef>
              <a:spcAft>
                <a:spcPts val="0"/>
              </a:spcAft>
              <a:defRPr sz="2800" b="1">
                <a:solidFill>
                  <a:srgbClr val="20282D"/>
                </a:solidFill>
                <a:latin typeface="DejaVu Sans"/>
              </a:defRPr>
            </a:pPr>
            <a:r>
              <a:t>Test</a:t>
            </a:r>
          </a:p>
        </p:txBody>
      </p:sp>
      <p:sp>
        <p:nvSpPr>
          <p:cNvPr id="12" name="TextBox 11"/>
          <p:cNvSpPr txBox="1"/>
          <p:nvPr/>
        </p:nvSpPr>
        <p:spPr>
          <a:xfrm>
            <a:off x="4425696" y="3401568"/>
            <a:ext cx="3364992" cy="2377440"/>
          </a:xfrm>
          <a:prstGeom prst="rect">
            <a:avLst/>
          </a:prstGeom>
          <a:noFill/>
        </p:spPr>
        <p:txBody>
          <a:bodyPr wrap="square" lIns="0" rIns="0" tIns="0" bIns="0" anchor="t">
            <a:spAutoFit/>
          </a:bodyPr>
          <a:lstStyle/>
          <a:p>
            <a:pPr algn="l">
              <a:lnSpc>
                <a:spcPct val="115000"/>
              </a:lnSpc>
              <a:spcBef>
                <a:spcPts val="0"/>
              </a:spcBef>
              <a:spcAft>
                <a:spcPts val="0"/>
              </a:spcAft>
              <a:defRPr sz="2200" b="0">
                <a:solidFill>
                  <a:srgbClr val="20282D"/>
                </a:solidFill>
                <a:latin typeface="DejaVu Sans"/>
              </a:defRPr>
            </a:pPr>
            <a:r>
              <a:t>Offer a small range.</a:t>
            </a:r>
          </a:p>
          <a:p>
            <a:pPr algn="l">
              <a:lnSpc>
                <a:spcPct val="115000"/>
              </a:lnSpc>
              <a:spcBef>
                <a:spcPts val="0"/>
              </a:spcBef>
              <a:spcAft>
                <a:spcPts val="0"/>
              </a:spcAft>
              <a:defRPr sz="2200" b="0">
                <a:solidFill>
                  <a:srgbClr val="20282D"/>
                </a:solidFill>
                <a:latin typeface="DejaVu Sans"/>
              </a:defRPr>
            </a:pPr>
            <a:r>
              <a:t>State price, availability,</a:t>
            </a:r>
          </a:p>
          <a:p>
            <a:pPr algn="l">
              <a:lnSpc>
                <a:spcPct val="115000"/>
              </a:lnSpc>
              <a:spcBef>
                <a:spcPts val="0"/>
              </a:spcBef>
              <a:spcAft>
                <a:spcPts val="0"/>
              </a:spcAft>
              <a:defRPr sz="2200" b="0">
                <a:solidFill>
                  <a:srgbClr val="20282D"/>
                </a:solidFill>
                <a:latin typeface="DejaVu Sans"/>
              </a:defRPr>
            </a:pPr>
            <a:r>
              <a:t>delivery and refund terms.</a:t>
            </a:r>
          </a:p>
        </p:txBody>
      </p:sp>
      <p:sp>
        <p:nvSpPr>
          <p:cNvPr id="13" name="Rectangle 12"/>
          <p:cNvSpPr/>
          <p:nvPr/>
        </p:nvSpPr>
        <p:spPr>
          <a:xfrm>
            <a:off x="8257031" y="2450592"/>
            <a:ext cx="3337560" cy="73152"/>
          </a:xfrm>
          <a:prstGeom prst="rect">
            <a:avLst/>
          </a:prstGeom>
          <a:solidFill>
            <a:srgbClr val="425968"/>
          </a:solidFill>
          <a:ln>
            <a:noFill/>
          </a:ln>
          <a:effectLst/>
        </p:spPr>
        <p:txBody>
          <a:bodyPr rtlCol="0" anchor="ctr"/>
          <a:lstStyle/>
          <a:p>
            <a:pPr algn="ctr"/>
          </a:p>
        </p:txBody>
      </p:sp>
      <p:sp>
        <p:nvSpPr>
          <p:cNvPr id="14" name="TextBox 13"/>
          <p:cNvSpPr txBox="1"/>
          <p:nvPr/>
        </p:nvSpPr>
        <p:spPr>
          <a:xfrm>
            <a:off x="8257031" y="2724912"/>
            <a:ext cx="3337560" cy="457200"/>
          </a:xfrm>
          <a:prstGeom prst="rect">
            <a:avLst/>
          </a:prstGeom>
          <a:noFill/>
        </p:spPr>
        <p:txBody>
          <a:bodyPr wrap="square" lIns="0" rIns="0" tIns="0" bIns="0" anchor="t">
            <a:spAutoFit/>
          </a:bodyPr>
          <a:lstStyle/>
          <a:p>
            <a:pPr algn="l">
              <a:lnSpc>
                <a:spcPct val="113000"/>
              </a:lnSpc>
              <a:spcBef>
                <a:spcPts val="0"/>
              </a:spcBef>
              <a:spcAft>
                <a:spcPts val="0"/>
              </a:spcAft>
              <a:defRPr sz="2800" b="1">
                <a:solidFill>
                  <a:srgbClr val="20282D"/>
                </a:solidFill>
                <a:latin typeface="DejaVu Sans"/>
              </a:defRPr>
            </a:pPr>
            <a:r>
              <a:t>Decide</a:t>
            </a:r>
          </a:p>
        </p:txBody>
      </p:sp>
      <p:sp>
        <p:nvSpPr>
          <p:cNvPr id="15" name="TextBox 14"/>
          <p:cNvSpPr txBox="1"/>
          <p:nvPr/>
        </p:nvSpPr>
        <p:spPr>
          <a:xfrm>
            <a:off x="8257031" y="3401568"/>
            <a:ext cx="3364992" cy="2377440"/>
          </a:xfrm>
          <a:prstGeom prst="rect">
            <a:avLst/>
          </a:prstGeom>
          <a:noFill/>
        </p:spPr>
        <p:txBody>
          <a:bodyPr wrap="square" lIns="0" rIns="0" tIns="0" bIns="0" anchor="t">
            <a:spAutoFit/>
          </a:bodyPr>
          <a:lstStyle/>
          <a:p>
            <a:pPr algn="l">
              <a:lnSpc>
                <a:spcPct val="115000"/>
              </a:lnSpc>
              <a:spcBef>
                <a:spcPts val="0"/>
              </a:spcBef>
              <a:spcAft>
                <a:spcPts val="0"/>
              </a:spcAft>
              <a:defRPr sz="2200" b="0">
                <a:solidFill>
                  <a:srgbClr val="20282D"/>
                </a:solidFill>
                <a:latin typeface="DejaVu Sans"/>
              </a:defRPr>
            </a:pPr>
            <a:r>
              <a:t>Check fulfilled orders,</a:t>
            </a:r>
          </a:p>
          <a:p>
            <a:pPr algn="l">
              <a:lnSpc>
                <a:spcPct val="115000"/>
              </a:lnSpc>
              <a:spcBef>
                <a:spcPts val="0"/>
              </a:spcBef>
              <a:spcAft>
                <a:spcPts val="0"/>
              </a:spcAft>
              <a:defRPr sz="2200" b="0">
                <a:solidFill>
                  <a:srgbClr val="20282D"/>
                </a:solidFill>
                <a:latin typeface="DejaVu Sans"/>
              </a:defRPr>
            </a:pPr>
            <a:r>
              <a:t>returns and commercially</a:t>
            </a:r>
          </a:p>
          <a:p>
            <a:pPr algn="l">
              <a:lnSpc>
                <a:spcPct val="115000"/>
              </a:lnSpc>
              <a:spcBef>
                <a:spcPts val="0"/>
              </a:spcBef>
              <a:spcAft>
                <a:spcPts val="0"/>
              </a:spcAft>
              <a:defRPr sz="2200" b="0">
                <a:solidFill>
                  <a:srgbClr val="20282D"/>
                </a:solidFill>
                <a:latin typeface="DejaVu Sans"/>
              </a:defRPr>
            </a:pPr>
            <a:r>
              <a:t>viable delivery.</a:t>
            </a:r>
          </a:p>
          <a:p>
            <a:pPr algn="l">
              <a:lnSpc>
                <a:spcPct val="115000"/>
              </a:lnSpc>
              <a:spcBef>
                <a:spcPts val="0"/>
              </a:spcBef>
              <a:spcAft>
                <a:spcPts val="0"/>
              </a:spcAft>
              <a:defRPr sz="2200" b="0">
                <a:solidFill>
                  <a:srgbClr val="20282D"/>
                </a:solidFill>
                <a:latin typeface="DejaVu Sans"/>
              </a:defRPr>
            </a:pPr>
          </a:p>
          <a:p>
            <a:pPr algn="l">
              <a:lnSpc>
                <a:spcPct val="115000"/>
              </a:lnSpc>
              <a:spcBef>
                <a:spcPts val="0"/>
              </a:spcBef>
              <a:spcAft>
                <a:spcPts val="0"/>
              </a:spcAft>
              <a:defRPr sz="2200" b="0">
                <a:solidFill>
                  <a:srgbClr val="20282D"/>
                </a:solidFill>
                <a:latin typeface="DejaVu Sans"/>
              </a:defRPr>
            </a:pPr>
            <a:r>
              <a:t>Reorder, adjust or stop.</a:t>
            </a:r>
          </a:p>
        </p:txBody>
      </p:sp>
      <p:sp>
        <p:nvSpPr>
          <p:cNvPr id="16" name="Right Arrow 15"/>
          <p:cNvSpPr/>
          <p:nvPr/>
        </p:nvSpPr>
        <p:spPr>
          <a:xfrm>
            <a:off x="4078224" y="2779776"/>
            <a:ext cx="228600" cy="219456"/>
          </a:xfrm>
          <a:prstGeom prst="rightArrow">
            <a:avLst/>
          </a:prstGeom>
          <a:solidFill>
            <a:srgbClr val="425968"/>
          </a:solidFill>
          <a:ln>
            <a:noFill/>
          </a:ln>
          <a:effectLst/>
        </p:spPr>
        <p:txBody>
          <a:bodyPr rtlCol="0" anchor="ctr"/>
          <a:lstStyle/>
          <a:p>
            <a:pPr algn="ctr"/>
          </a:p>
        </p:txBody>
      </p:sp>
      <p:sp>
        <p:nvSpPr>
          <p:cNvPr id="17" name="Right Arrow 16"/>
          <p:cNvSpPr/>
          <p:nvPr/>
        </p:nvSpPr>
        <p:spPr>
          <a:xfrm>
            <a:off x="7909560" y="2779776"/>
            <a:ext cx="228600" cy="219456"/>
          </a:xfrm>
          <a:prstGeom prst="rightArrow">
            <a:avLst/>
          </a:prstGeom>
          <a:solidFill>
            <a:srgbClr val="425968"/>
          </a:solidFill>
          <a:ln>
            <a:noFill/>
          </a:ln>
          <a:effectLst/>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Same Product. Different Value.</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05</a:t>
            </a:r>
          </a:p>
        </p:txBody>
      </p:sp>
      <p:sp>
        <p:nvSpPr>
          <p:cNvPr id="6" name="TextBox 5"/>
          <p:cNvSpPr txBox="1"/>
          <p:nvPr/>
        </p:nvSpPr>
        <p:spPr>
          <a:xfrm>
            <a:off x="585216" y="1911095"/>
            <a:ext cx="10789920" cy="320040"/>
          </a:xfrm>
          <a:prstGeom prst="rect">
            <a:avLst/>
          </a:prstGeom>
          <a:noFill/>
        </p:spPr>
        <p:txBody>
          <a:bodyPr wrap="square" lIns="0" rIns="0" tIns="0" bIns="0" anchor="t">
            <a:spAutoFit/>
          </a:bodyPr>
          <a:lstStyle/>
          <a:p>
            <a:pPr algn="l">
              <a:lnSpc>
                <a:spcPct val="113000"/>
              </a:lnSpc>
              <a:spcBef>
                <a:spcPts val="0"/>
              </a:spcBef>
              <a:spcAft>
                <a:spcPts val="0"/>
              </a:spcAft>
              <a:defRPr sz="1800" b="0">
                <a:solidFill>
                  <a:srgbClr val="425968"/>
                </a:solidFill>
                <a:latin typeface="DejaVu Sans"/>
              </a:defRPr>
            </a:pPr>
            <a:r>
              <a:t>Same refrigerator model · hypothetical comparison</a:t>
            </a:r>
          </a:p>
        </p:txBody>
      </p:sp>
      <p:sp>
        <p:nvSpPr>
          <p:cNvPr id="7" name="Rectangle 6"/>
          <p:cNvSpPr/>
          <p:nvPr/>
        </p:nvSpPr>
        <p:spPr>
          <a:xfrm>
            <a:off x="585216" y="2423160"/>
            <a:ext cx="5312664" cy="2002536"/>
          </a:xfrm>
          <a:prstGeom prst="rect">
            <a:avLst/>
          </a:prstGeom>
          <a:solidFill>
            <a:srgbClr val="F1F4F5"/>
          </a:solidFill>
          <a:ln>
            <a:noFill/>
          </a:ln>
          <a:effectLst/>
        </p:spPr>
        <p:txBody>
          <a:bodyPr rtlCol="0" anchor="ctr"/>
          <a:lstStyle/>
          <a:p>
            <a:pPr algn="ctr"/>
          </a:p>
        </p:txBody>
      </p:sp>
      <p:sp>
        <p:nvSpPr>
          <p:cNvPr id="8" name="Rectangle 7"/>
          <p:cNvSpPr/>
          <p:nvPr/>
        </p:nvSpPr>
        <p:spPr>
          <a:xfrm>
            <a:off x="6208776" y="2423160"/>
            <a:ext cx="5394960" cy="2002536"/>
          </a:xfrm>
          <a:prstGeom prst="rect">
            <a:avLst/>
          </a:prstGeom>
          <a:solidFill>
            <a:srgbClr val="425968"/>
          </a:solidFill>
          <a:ln>
            <a:noFill/>
          </a:ln>
          <a:effectLst/>
        </p:spPr>
        <p:txBody>
          <a:bodyPr rtlCol="0" anchor="ctr"/>
          <a:lstStyle/>
          <a:p>
            <a:pPr algn="ctr"/>
          </a:p>
        </p:txBody>
      </p:sp>
      <p:sp>
        <p:nvSpPr>
          <p:cNvPr id="9" name="TextBox 8"/>
          <p:cNvSpPr txBox="1"/>
          <p:nvPr/>
        </p:nvSpPr>
        <p:spPr>
          <a:xfrm>
            <a:off x="859536" y="2660904"/>
            <a:ext cx="4663440" cy="283464"/>
          </a:xfrm>
          <a:prstGeom prst="rect">
            <a:avLst/>
          </a:prstGeom>
          <a:noFill/>
        </p:spPr>
        <p:txBody>
          <a:bodyPr wrap="square" lIns="0" rIns="0" tIns="0" bIns="0" anchor="t">
            <a:spAutoFit/>
          </a:bodyPr>
          <a:lstStyle/>
          <a:p>
            <a:pPr algn="l">
              <a:lnSpc>
                <a:spcPct val="113000"/>
              </a:lnSpc>
              <a:spcBef>
                <a:spcPts val="0"/>
              </a:spcBef>
              <a:spcAft>
                <a:spcPts val="0"/>
              </a:spcAft>
              <a:defRPr sz="1600" b="1">
                <a:solidFill>
                  <a:srgbClr val="586269"/>
                </a:solidFill>
                <a:latin typeface="DejaVu Sans"/>
              </a:defRPr>
            </a:pPr>
            <a:r>
              <a:t>SELLER A</a:t>
            </a:r>
          </a:p>
        </p:txBody>
      </p:sp>
      <p:sp>
        <p:nvSpPr>
          <p:cNvPr id="10" name="TextBox 9"/>
          <p:cNvSpPr txBox="1"/>
          <p:nvPr/>
        </p:nvSpPr>
        <p:spPr>
          <a:xfrm>
            <a:off x="859536" y="3108960"/>
            <a:ext cx="4636008" cy="566928"/>
          </a:xfrm>
          <a:prstGeom prst="rect">
            <a:avLst/>
          </a:prstGeom>
          <a:noFill/>
        </p:spPr>
        <p:txBody>
          <a:bodyPr wrap="square" lIns="0" rIns="0" tIns="0" bIns="0" anchor="t">
            <a:spAutoFit/>
          </a:bodyPr>
          <a:lstStyle/>
          <a:p>
            <a:pPr algn="l">
              <a:lnSpc>
                <a:spcPct val="113000"/>
              </a:lnSpc>
              <a:spcBef>
                <a:spcPts val="0"/>
              </a:spcBef>
              <a:spcAft>
                <a:spcPts val="0"/>
              </a:spcAft>
              <a:defRPr sz="3000" b="1">
                <a:solidFill>
                  <a:srgbClr val="20282D"/>
                </a:solidFill>
                <a:latin typeface="DejaVu Sans"/>
              </a:defRPr>
            </a:pPr>
            <a:r>
              <a:t>Model + price</a:t>
            </a:r>
          </a:p>
        </p:txBody>
      </p:sp>
      <p:sp>
        <p:nvSpPr>
          <p:cNvPr id="11" name="TextBox 10"/>
          <p:cNvSpPr txBox="1"/>
          <p:nvPr/>
        </p:nvSpPr>
        <p:spPr>
          <a:xfrm>
            <a:off x="859536" y="3776472"/>
            <a:ext cx="4645152" cy="365760"/>
          </a:xfrm>
          <a:prstGeom prst="rect">
            <a:avLst/>
          </a:prstGeom>
          <a:noFill/>
        </p:spPr>
        <p:txBody>
          <a:bodyPr wrap="square" lIns="0" rIns="0" tIns="0" bIns="0" anchor="t">
            <a:spAutoFit/>
          </a:bodyPr>
          <a:lstStyle/>
          <a:p>
            <a:pPr algn="l">
              <a:lnSpc>
                <a:spcPct val="113000"/>
              </a:lnSpc>
              <a:spcBef>
                <a:spcPts val="0"/>
              </a:spcBef>
              <a:spcAft>
                <a:spcPts val="0"/>
              </a:spcAft>
              <a:defRPr sz="2000" b="0">
                <a:solidFill>
                  <a:srgbClr val="20282D"/>
                </a:solidFill>
                <a:latin typeface="DejaVu Sans"/>
              </a:defRPr>
            </a:pPr>
            <a:r>
              <a:t>Offers the model. Quotes the price.</a:t>
            </a:r>
          </a:p>
        </p:txBody>
      </p:sp>
      <p:sp>
        <p:nvSpPr>
          <p:cNvPr id="12" name="TextBox 11"/>
          <p:cNvSpPr txBox="1"/>
          <p:nvPr/>
        </p:nvSpPr>
        <p:spPr>
          <a:xfrm>
            <a:off x="6483096" y="2660904"/>
            <a:ext cx="4663440" cy="283464"/>
          </a:xfrm>
          <a:prstGeom prst="rect">
            <a:avLst/>
          </a:prstGeom>
          <a:noFill/>
        </p:spPr>
        <p:txBody>
          <a:bodyPr wrap="square" lIns="0" rIns="0" tIns="0" bIns="0" anchor="t">
            <a:spAutoFit/>
          </a:bodyPr>
          <a:lstStyle/>
          <a:p>
            <a:pPr algn="l">
              <a:lnSpc>
                <a:spcPct val="113000"/>
              </a:lnSpc>
              <a:spcBef>
                <a:spcPts val="0"/>
              </a:spcBef>
              <a:spcAft>
                <a:spcPts val="0"/>
              </a:spcAft>
              <a:defRPr sz="1600" b="1">
                <a:solidFill>
                  <a:srgbClr val="FFFFFF"/>
                </a:solidFill>
                <a:latin typeface="DejaVu Sans"/>
              </a:defRPr>
            </a:pPr>
            <a:r>
              <a:t>SELLER B</a:t>
            </a:r>
          </a:p>
        </p:txBody>
      </p:sp>
      <p:sp>
        <p:nvSpPr>
          <p:cNvPr id="13" name="TextBox 12"/>
          <p:cNvSpPr txBox="1"/>
          <p:nvPr/>
        </p:nvSpPr>
        <p:spPr>
          <a:xfrm>
            <a:off x="6483096" y="3108960"/>
            <a:ext cx="4636008" cy="566928"/>
          </a:xfrm>
          <a:prstGeom prst="rect">
            <a:avLst/>
          </a:prstGeom>
          <a:noFill/>
        </p:spPr>
        <p:txBody>
          <a:bodyPr wrap="square" lIns="0" rIns="0" tIns="0" bIns="0" anchor="t">
            <a:spAutoFit/>
          </a:bodyPr>
          <a:lstStyle/>
          <a:p>
            <a:pPr algn="l">
              <a:lnSpc>
                <a:spcPct val="113000"/>
              </a:lnSpc>
              <a:spcBef>
                <a:spcPts val="0"/>
              </a:spcBef>
              <a:spcAft>
                <a:spcPts val="0"/>
              </a:spcAft>
              <a:defRPr sz="2600" b="1">
                <a:solidFill>
                  <a:srgbClr val="FFFFFF"/>
                </a:solidFill>
                <a:latin typeface="DejaVu Sans"/>
              </a:defRPr>
            </a:pPr>
            <a:r>
              <a:t>Fit + reliable delivery</a:t>
            </a:r>
          </a:p>
        </p:txBody>
      </p:sp>
      <p:sp>
        <p:nvSpPr>
          <p:cNvPr id="14" name="TextBox 13"/>
          <p:cNvSpPr txBox="1"/>
          <p:nvPr/>
        </p:nvSpPr>
        <p:spPr>
          <a:xfrm>
            <a:off x="6483096" y="3776472"/>
            <a:ext cx="4645152" cy="448056"/>
          </a:xfrm>
          <a:prstGeom prst="rect">
            <a:avLst/>
          </a:prstGeom>
          <a:noFill/>
        </p:spPr>
        <p:txBody>
          <a:bodyPr wrap="square" lIns="0" rIns="0" tIns="0" bIns="0" anchor="t">
            <a:spAutoFit/>
          </a:bodyPr>
          <a:lstStyle/>
          <a:p>
            <a:pPr algn="l">
              <a:lnSpc>
                <a:spcPct val="113000"/>
              </a:lnSpc>
              <a:spcBef>
                <a:spcPts val="0"/>
              </a:spcBef>
              <a:spcAft>
                <a:spcPts val="0"/>
              </a:spcAft>
              <a:defRPr sz="2000" b="0">
                <a:solidFill>
                  <a:srgbClr val="FFFFFF"/>
                </a:solidFill>
                <a:latin typeface="DejaVu Sans"/>
              </a:defRPr>
            </a:pPr>
            <a:r>
              <a:t>Checks need. Sets clear terms.</a:t>
            </a:r>
          </a:p>
        </p:txBody>
      </p:sp>
      <p:sp>
        <p:nvSpPr>
          <p:cNvPr id="15" name="Rectangle 14"/>
          <p:cNvSpPr/>
          <p:nvPr/>
        </p:nvSpPr>
        <p:spPr>
          <a:xfrm>
            <a:off x="585216" y="4727448"/>
            <a:ext cx="2404872" cy="566928"/>
          </a:xfrm>
          <a:prstGeom prst="rect">
            <a:avLst/>
          </a:prstGeom>
          <a:solidFill>
            <a:srgbClr val="F1F4F5"/>
          </a:solidFill>
          <a:ln w="12700">
            <a:solidFill>
              <a:srgbClr val="D3DBDF"/>
            </a:solidFill>
          </a:ln>
          <a:effectLst/>
        </p:spPr>
        <p:txBody>
          <a:bodyPr rtlCol="0" anchor="ctr"/>
          <a:lstStyle/>
          <a:p>
            <a:pPr algn="ctr"/>
          </a:p>
        </p:txBody>
      </p:sp>
      <p:sp>
        <p:nvSpPr>
          <p:cNvPr id="16" name="TextBox 15"/>
          <p:cNvSpPr txBox="1"/>
          <p:nvPr/>
        </p:nvSpPr>
        <p:spPr>
          <a:xfrm>
            <a:off x="630936" y="4846320"/>
            <a:ext cx="2313432" cy="320040"/>
          </a:xfrm>
          <a:prstGeom prst="rect">
            <a:avLst/>
          </a:prstGeom>
          <a:noFill/>
        </p:spPr>
        <p:txBody>
          <a:bodyPr wrap="square" lIns="0" rIns="0" tIns="0" bIns="0" anchor="t">
            <a:spAutoFit/>
          </a:bodyPr>
          <a:lstStyle/>
          <a:p>
            <a:pPr algn="ctr">
              <a:lnSpc>
                <a:spcPct val="100000"/>
              </a:lnSpc>
              <a:spcBef>
                <a:spcPts val="0"/>
              </a:spcBef>
              <a:spcAft>
                <a:spcPts val="0"/>
              </a:spcAft>
              <a:defRPr sz="2100" b="0">
                <a:solidFill>
                  <a:srgbClr val="425968"/>
                </a:solidFill>
                <a:latin typeface="DejaVu Sans"/>
              </a:defRPr>
            </a:pPr>
            <a:r>
              <a:t>Capacity</a:t>
            </a:r>
          </a:p>
        </p:txBody>
      </p:sp>
      <p:sp>
        <p:nvSpPr>
          <p:cNvPr id="17" name="Rectangle 16"/>
          <p:cNvSpPr/>
          <p:nvPr/>
        </p:nvSpPr>
        <p:spPr>
          <a:xfrm>
            <a:off x="3182112" y="4727448"/>
            <a:ext cx="1984248" cy="566928"/>
          </a:xfrm>
          <a:prstGeom prst="rect">
            <a:avLst/>
          </a:prstGeom>
          <a:solidFill>
            <a:srgbClr val="F1F4F5"/>
          </a:solidFill>
          <a:ln w="12700">
            <a:solidFill>
              <a:srgbClr val="D3DBDF"/>
            </a:solidFill>
          </a:ln>
          <a:effectLst/>
        </p:spPr>
        <p:txBody>
          <a:bodyPr rtlCol="0" anchor="ctr"/>
          <a:lstStyle/>
          <a:p>
            <a:pPr algn="ctr"/>
          </a:p>
        </p:txBody>
      </p:sp>
      <p:sp>
        <p:nvSpPr>
          <p:cNvPr id="18" name="TextBox 17"/>
          <p:cNvSpPr txBox="1"/>
          <p:nvPr/>
        </p:nvSpPr>
        <p:spPr>
          <a:xfrm>
            <a:off x="3227832" y="4846320"/>
            <a:ext cx="1892807" cy="320040"/>
          </a:xfrm>
          <a:prstGeom prst="rect">
            <a:avLst/>
          </a:prstGeom>
          <a:noFill/>
        </p:spPr>
        <p:txBody>
          <a:bodyPr wrap="square" lIns="0" rIns="0" tIns="0" bIns="0" anchor="t">
            <a:spAutoFit/>
          </a:bodyPr>
          <a:lstStyle/>
          <a:p>
            <a:pPr algn="ctr">
              <a:lnSpc>
                <a:spcPct val="100000"/>
              </a:lnSpc>
              <a:spcBef>
                <a:spcPts val="0"/>
              </a:spcBef>
              <a:spcAft>
                <a:spcPts val="0"/>
              </a:spcAft>
              <a:defRPr sz="2100" b="0">
                <a:solidFill>
                  <a:srgbClr val="425968"/>
                </a:solidFill>
                <a:latin typeface="DejaVu Sans"/>
              </a:defRPr>
            </a:pPr>
            <a:r>
              <a:t>Space</a:t>
            </a:r>
          </a:p>
        </p:txBody>
      </p:sp>
      <p:sp>
        <p:nvSpPr>
          <p:cNvPr id="19" name="Rectangle 18"/>
          <p:cNvSpPr/>
          <p:nvPr/>
        </p:nvSpPr>
        <p:spPr>
          <a:xfrm>
            <a:off x="5358384" y="4727448"/>
            <a:ext cx="2916936" cy="566928"/>
          </a:xfrm>
          <a:prstGeom prst="rect">
            <a:avLst/>
          </a:prstGeom>
          <a:solidFill>
            <a:srgbClr val="F1F4F5"/>
          </a:solidFill>
          <a:ln w="12700">
            <a:solidFill>
              <a:srgbClr val="D3DBDF"/>
            </a:solidFill>
          </a:ln>
          <a:effectLst/>
        </p:spPr>
        <p:txBody>
          <a:bodyPr rtlCol="0" anchor="ctr"/>
          <a:lstStyle/>
          <a:p>
            <a:pPr algn="ctr"/>
          </a:p>
        </p:txBody>
      </p:sp>
      <p:sp>
        <p:nvSpPr>
          <p:cNvPr id="20" name="TextBox 19"/>
          <p:cNvSpPr txBox="1"/>
          <p:nvPr/>
        </p:nvSpPr>
        <p:spPr>
          <a:xfrm>
            <a:off x="5404104" y="4846320"/>
            <a:ext cx="2825496" cy="320040"/>
          </a:xfrm>
          <a:prstGeom prst="rect">
            <a:avLst/>
          </a:prstGeom>
          <a:noFill/>
        </p:spPr>
        <p:txBody>
          <a:bodyPr wrap="square" lIns="0" rIns="0" tIns="0" bIns="0" anchor="t">
            <a:spAutoFit/>
          </a:bodyPr>
          <a:lstStyle/>
          <a:p>
            <a:pPr algn="ctr">
              <a:lnSpc>
                <a:spcPct val="100000"/>
              </a:lnSpc>
              <a:spcBef>
                <a:spcPts val="0"/>
              </a:spcBef>
              <a:spcAft>
                <a:spcPts val="0"/>
              </a:spcAft>
              <a:defRPr sz="2100" b="0">
                <a:solidFill>
                  <a:srgbClr val="425968"/>
                </a:solidFill>
                <a:latin typeface="DejaVu Sans"/>
              </a:defRPr>
            </a:pPr>
            <a:r>
              <a:t>Energy label</a:t>
            </a:r>
          </a:p>
        </p:txBody>
      </p:sp>
      <p:sp>
        <p:nvSpPr>
          <p:cNvPr id="21" name="Rectangle 20"/>
          <p:cNvSpPr/>
          <p:nvPr/>
        </p:nvSpPr>
        <p:spPr>
          <a:xfrm>
            <a:off x="8467344" y="4727448"/>
            <a:ext cx="3136392" cy="566928"/>
          </a:xfrm>
          <a:prstGeom prst="rect">
            <a:avLst/>
          </a:prstGeom>
          <a:solidFill>
            <a:srgbClr val="F1F4F5"/>
          </a:solidFill>
          <a:ln w="12700">
            <a:solidFill>
              <a:srgbClr val="D3DBDF"/>
            </a:solidFill>
          </a:ln>
          <a:effectLst/>
        </p:spPr>
        <p:txBody>
          <a:bodyPr rtlCol="0" anchor="ctr"/>
          <a:lstStyle/>
          <a:p>
            <a:pPr algn="ctr"/>
          </a:p>
        </p:txBody>
      </p:sp>
      <p:sp>
        <p:nvSpPr>
          <p:cNvPr id="22" name="TextBox 21"/>
          <p:cNvSpPr txBox="1"/>
          <p:nvPr/>
        </p:nvSpPr>
        <p:spPr>
          <a:xfrm>
            <a:off x="8513064" y="4846320"/>
            <a:ext cx="3044952" cy="320040"/>
          </a:xfrm>
          <a:prstGeom prst="rect">
            <a:avLst/>
          </a:prstGeom>
          <a:noFill/>
        </p:spPr>
        <p:txBody>
          <a:bodyPr wrap="square" lIns="0" rIns="0" tIns="0" bIns="0" anchor="t">
            <a:spAutoFit/>
          </a:bodyPr>
          <a:lstStyle/>
          <a:p>
            <a:pPr algn="ctr">
              <a:lnSpc>
                <a:spcPct val="100000"/>
              </a:lnSpc>
              <a:spcBef>
                <a:spcPts val="0"/>
              </a:spcBef>
              <a:spcAft>
                <a:spcPts val="0"/>
              </a:spcAft>
              <a:defRPr sz="2100" b="0">
                <a:solidFill>
                  <a:srgbClr val="425968"/>
                </a:solidFill>
                <a:latin typeface="DejaVu Sans"/>
              </a:defRPr>
            </a:pPr>
            <a:r>
              <a:t>Warranty</a:t>
            </a:r>
          </a:p>
        </p:txBody>
      </p:sp>
      <p:sp>
        <p:nvSpPr>
          <p:cNvPr id="23" name="TextBox 22"/>
          <p:cNvSpPr txBox="1"/>
          <p:nvPr/>
        </p:nvSpPr>
        <p:spPr>
          <a:xfrm>
            <a:off x="585216" y="5641848"/>
            <a:ext cx="10972800" cy="402336"/>
          </a:xfrm>
          <a:prstGeom prst="rect">
            <a:avLst/>
          </a:prstGeom>
          <a:noFill/>
        </p:spPr>
        <p:txBody>
          <a:bodyPr wrap="square" lIns="0" rIns="0" tIns="0" bIns="0" anchor="t">
            <a:spAutoFit/>
          </a:bodyPr>
          <a:lstStyle/>
          <a:p>
            <a:pPr algn="l">
              <a:lnSpc>
                <a:spcPct val="113000"/>
              </a:lnSpc>
              <a:spcBef>
                <a:spcPts val="0"/>
              </a:spcBef>
              <a:spcAft>
                <a:spcPts val="0"/>
              </a:spcAft>
              <a:defRPr sz="2000" b="0">
                <a:solidFill>
                  <a:srgbClr val="425968"/>
                </a:solidFill>
                <a:latin typeface="DejaVu Sans"/>
              </a:defRPr>
            </a:pPr>
            <a:r>
              <a:t>Expertise must earn its value; a higher price is not automatic.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Does Your Product Deliver What You Promise?</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06</a:t>
            </a:r>
          </a:p>
        </p:txBody>
      </p:sp>
      <p:sp>
        <p:nvSpPr>
          <p:cNvPr id="6" name="TextBox 5"/>
          <p:cNvSpPr txBox="1"/>
          <p:nvPr/>
        </p:nvSpPr>
        <p:spPr>
          <a:xfrm>
            <a:off x="585216" y="2020824"/>
            <a:ext cx="10789920" cy="502920"/>
          </a:xfrm>
          <a:prstGeom prst="rect">
            <a:avLst/>
          </a:prstGeom>
          <a:noFill/>
        </p:spPr>
        <p:txBody>
          <a:bodyPr wrap="square" lIns="0" rIns="0" tIns="0" bIns="0" anchor="t">
            <a:spAutoFit/>
          </a:bodyPr>
          <a:lstStyle/>
          <a:p>
            <a:pPr algn="l">
              <a:lnSpc>
                <a:spcPct val="113000"/>
              </a:lnSpc>
              <a:spcBef>
                <a:spcPts val="0"/>
              </a:spcBef>
              <a:spcAft>
                <a:spcPts val="0"/>
              </a:spcAft>
              <a:defRPr sz="2700" b="0">
                <a:solidFill>
                  <a:srgbClr val="425968"/>
                </a:solidFill>
                <a:latin typeface="DejaVu Sans"/>
              </a:defRPr>
            </a:pPr>
            <a:r>
              <a:t>Quality: suitable, dependable, consistently delivered.</a:t>
            </a:r>
          </a:p>
        </p:txBody>
      </p:sp>
      <p:sp>
        <p:nvSpPr>
          <p:cNvPr id="7" name="Rectangle 6"/>
          <p:cNvSpPr/>
          <p:nvPr/>
        </p:nvSpPr>
        <p:spPr>
          <a:xfrm>
            <a:off x="585216" y="2852928"/>
            <a:ext cx="3346704" cy="2176272"/>
          </a:xfrm>
          <a:prstGeom prst="rect">
            <a:avLst/>
          </a:prstGeom>
          <a:solidFill>
            <a:srgbClr val="F1F4F5"/>
          </a:solidFill>
          <a:ln>
            <a:noFill/>
          </a:ln>
          <a:effectLst/>
        </p:spPr>
        <p:txBody>
          <a:bodyPr rtlCol="0" anchor="ctr"/>
          <a:lstStyle/>
          <a:p>
            <a:pPr algn="ctr"/>
          </a:p>
        </p:txBody>
      </p:sp>
      <p:sp>
        <p:nvSpPr>
          <p:cNvPr id="8" name="TextBox 7"/>
          <p:cNvSpPr txBox="1"/>
          <p:nvPr/>
        </p:nvSpPr>
        <p:spPr>
          <a:xfrm>
            <a:off x="795528" y="3127248"/>
            <a:ext cx="2926080" cy="475488"/>
          </a:xfrm>
          <a:prstGeom prst="rect">
            <a:avLst/>
          </a:prstGeom>
          <a:noFill/>
        </p:spPr>
        <p:txBody>
          <a:bodyPr wrap="square" lIns="0" rIns="0" tIns="0" bIns="0" anchor="t">
            <a:spAutoFit/>
          </a:bodyPr>
          <a:lstStyle/>
          <a:p>
            <a:pPr algn="l">
              <a:lnSpc>
                <a:spcPct val="113000"/>
              </a:lnSpc>
              <a:spcBef>
                <a:spcPts val="0"/>
              </a:spcBef>
              <a:spcAft>
                <a:spcPts val="0"/>
              </a:spcAft>
              <a:defRPr sz="2800" b="1">
                <a:solidFill>
                  <a:srgbClr val="20282D"/>
                </a:solidFill>
                <a:latin typeface="DejaVu Sans"/>
              </a:defRPr>
            </a:pPr>
            <a:r>
              <a:t>Promise</a:t>
            </a:r>
          </a:p>
        </p:txBody>
      </p:sp>
      <p:sp>
        <p:nvSpPr>
          <p:cNvPr id="9" name="TextBox 8"/>
          <p:cNvSpPr txBox="1"/>
          <p:nvPr/>
        </p:nvSpPr>
        <p:spPr>
          <a:xfrm>
            <a:off x="795528" y="3822191"/>
            <a:ext cx="2926080" cy="932688"/>
          </a:xfrm>
          <a:prstGeom prst="rect">
            <a:avLst/>
          </a:prstGeom>
          <a:noFill/>
        </p:spPr>
        <p:txBody>
          <a:bodyPr wrap="square" lIns="0" rIns="0" tIns="0" bIns="0" anchor="t">
            <a:spAutoFit/>
          </a:bodyPr>
          <a:lstStyle/>
          <a:p>
            <a:pPr algn="l">
              <a:lnSpc>
                <a:spcPct val="120000"/>
              </a:lnSpc>
              <a:spcBef>
                <a:spcPts val="0"/>
              </a:spcBef>
              <a:spcAft>
                <a:spcPts val="0"/>
              </a:spcAft>
              <a:defRPr sz="2300" b="0">
                <a:solidFill>
                  <a:srgbClr val="425968"/>
                </a:solidFill>
                <a:latin typeface="DejaVu Sans"/>
              </a:defRPr>
            </a:pPr>
            <a:r>
              <a:t>Make accurate,</a:t>
            </a:r>
          </a:p>
          <a:p>
            <a:pPr algn="l">
              <a:lnSpc>
                <a:spcPct val="120000"/>
              </a:lnSpc>
              <a:spcBef>
                <a:spcPts val="0"/>
              </a:spcBef>
              <a:spcAft>
                <a:spcPts val="0"/>
              </a:spcAft>
              <a:defRPr sz="2300" b="0">
                <a:solidFill>
                  <a:srgbClr val="425968"/>
                </a:solidFill>
                <a:latin typeface="DejaVu Sans"/>
              </a:defRPr>
            </a:pPr>
            <a:r>
              <a:t>specific claims.</a:t>
            </a:r>
          </a:p>
        </p:txBody>
      </p:sp>
      <p:sp>
        <p:nvSpPr>
          <p:cNvPr id="10" name="Rectangle 9"/>
          <p:cNvSpPr/>
          <p:nvPr/>
        </p:nvSpPr>
        <p:spPr>
          <a:xfrm>
            <a:off x="4425696" y="2852928"/>
            <a:ext cx="3346704" cy="2176272"/>
          </a:xfrm>
          <a:prstGeom prst="rect">
            <a:avLst/>
          </a:prstGeom>
          <a:solidFill>
            <a:srgbClr val="F1F4F5"/>
          </a:solidFill>
          <a:ln>
            <a:noFill/>
          </a:ln>
          <a:effectLst/>
        </p:spPr>
        <p:txBody>
          <a:bodyPr rtlCol="0" anchor="ctr"/>
          <a:lstStyle/>
          <a:p>
            <a:pPr algn="ctr"/>
          </a:p>
        </p:txBody>
      </p:sp>
      <p:sp>
        <p:nvSpPr>
          <p:cNvPr id="11" name="TextBox 10"/>
          <p:cNvSpPr txBox="1"/>
          <p:nvPr/>
        </p:nvSpPr>
        <p:spPr>
          <a:xfrm>
            <a:off x="4636008" y="3127248"/>
            <a:ext cx="2926080" cy="475488"/>
          </a:xfrm>
          <a:prstGeom prst="rect">
            <a:avLst/>
          </a:prstGeom>
          <a:noFill/>
        </p:spPr>
        <p:txBody>
          <a:bodyPr wrap="square" lIns="0" rIns="0" tIns="0" bIns="0" anchor="t">
            <a:spAutoFit/>
          </a:bodyPr>
          <a:lstStyle/>
          <a:p>
            <a:pPr algn="l">
              <a:lnSpc>
                <a:spcPct val="113000"/>
              </a:lnSpc>
              <a:spcBef>
                <a:spcPts val="0"/>
              </a:spcBef>
              <a:spcAft>
                <a:spcPts val="0"/>
              </a:spcAft>
              <a:defRPr sz="2800" b="1">
                <a:solidFill>
                  <a:srgbClr val="20282D"/>
                </a:solidFill>
                <a:latin typeface="DejaVu Sans"/>
              </a:defRPr>
            </a:pPr>
            <a:r>
              <a:t>Check</a:t>
            </a:r>
          </a:p>
        </p:txBody>
      </p:sp>
      <p:sp>
        <p:nvSpPr>
          <p:cNvPr id="12" name="TextBox 11"/>
          <p:cNvSpPr txBox="1"/>
          <p:nvPr/>
        </p:nvSpPr>
        <p:spPr>
          <a:xfrm>
            <a:off x="4636008" y="3822191"/>
            <a:ext cx="2926080" cy="932688"/>
          </a:xfrm>
          <a:prstGeom prst="rect">
            <a:avLst/>
          </a:prstGeom>
          <a:noFill/>
        </p:spPr>
        <p:txBody>
          <a:bodyPr wrap="square" lIns="0" rIns="0" tIns="0" bIns="0" anchor="t">
            <a:spAutoFit/>
          </a:bodyPr>
          <a:lstStyle/>
          <a:p>
            <a:pPr algn="l">
              <a:lnSpc>
                <a:spcPct val="120000"/>
              </a:lnSpc>
              <a:spcBef>
                <a:spcPts val="0"/>
              </a:spcBef>
              <a:spcAft>
                <a:spcPts val="0"/>
              </a:spcAft>
              <a:defRPr sz="2300" b="0">
                <a:solidFill>
                  <a:srgbClr val="425968"/>
                </a:solidFill>
                <a:latin typeface="DejaVu Sans"/>
              </a:defRPr>
            </a:pPr>
            <a:r>
              <a:t>Check suitability,</a:t>
            </a:r>
          </a:p>
          <a:p>
            <a:pPr algn="l">
              <a:lnSpc>
                <a:spcPct val="120000"/>
              </a:lnSpc>
              <a:spcBef>
                <a:spcPts val="0"/>
              </a:spcBef>
              <a:spcAft>
                <a:spcPts val="0"/>
              </a:spcAft>
              <a:defRPr sz="2300" b="0">
                <a:solidFill>
                  <a:srgbClr val="425968"/>
                </a:solidFill>
                <a:latin typeface="DejaVu Sans"/>
              </a:defRPr>
            </a:pPr>
            <a:r>
              <a:t>product and terms.</a:t>
            </a:r>
          </a:p>
        </p:txBody>
      </p:sp>
      <p:sp>
        <p:nvSpPr>
          <p:cNvPr id="13" name="Rectangle 12"/>
          <p:cNvSpPr/>
          <p:nvPr/>
        </p:nvSpPr>
        <p:spPr>
          <a:xfrm>
            <a:off x="8257031" y="2852928"/>
            <a:ext cx="3346704" cy="2176272"/>
          </a:xfrm>
          <a:prstGeom prst="rect">
            <a:avLst/>
          </a:prstGeom>
          <a:solidFill>
            <a:srgbClr val="F1F4F5"/>
          </a:solidFill>
          <a:ln>
            <a:noFill/>
          </a:ln>
          <a:effectLst/>
        </p:spPr>
        <p:txBody>
          <a:bodyPr rtlCol="0" anchor="ctr"/>
          <a:lstStyle/>
          <a:p>
            <a:pPr algn="ctr"/>
          </a:p>
        </p:txBody>
      </p:sp>
      <p:sp>
        <p:nvSpPr>
          <p:cNvPr id="14" name="TextBox 13"/>
          <p:cNvSpPr txBox="1"/>
          <p:nvPr/>
        </p:nvSpPr>
        <p:spPr>
          <a:xfrm>
            <a:off x="8467344" y="3127248"/>
            <a:ext cx="2926080" cy="475488"/>
          </a:xfrm>
          <a:prstGeom prst="rect">
            <a:avLst/>
          </a:prstGeom>
          <a:noFill/>
        </p:spPr>
        <p:txBody>
          <a:bodyPr wrap="square" lIns="0" rIns="0" tIns="0" bIns="0" anchor="t">
            <a:spAutoFit/>
          </a:bodyPr>
          <a:lstStyle/>
          <a:p>
            <a:pPr algn="l">
              <a:lnSpc>
                <a:spcPct val="113000"/>
              </a:lnSpc>
              <a:spcBef>
                <a:spcPts val="0"/>
              </a:spcBef>
              <a:spcAft>
                <a:spcPts val="0"/>
              </a:spcAft>
              <a:defRPr sz="2800" b="1">
                <a:solidFill>
                  <a:srgbClr val="20282D"/>
                </a:solidFill>
                <a:latin typeface="DejaVu Sans"/>
              </a:defRPr>
            </a:pPr>
            <a:r>
              <a:t>Deliver</a:t>
            </a:r>
          </a:p>
        </p:txBody>
      </p:sp>
      <p:sp>
        <p:nvSpPr>
          <p:cNvPr id="15" name="TextBox 14"/>
          <p:cNvSpPr txBox="1"/>
          <p:nvPr/>
        </p:nvSpPr>
        <p:spPr>
          <a:xfrm>
            <a:off x="8467344" y="3822191"/>
            <a:ext cx="2926080" cy="932688"/>
          </a:xfrm>
          <a:prstGeom prst="rect">
            <a:avLst/>
          </a:prstGeom>
          <a:noFill/>
        </p:spPr>
        <p:txBody>
          <a:bodyPr wrap="square" lIns="0" rIns="0" tIns="0" bIns="0" anchor="t">
            <a:spAutoFit/>
          </a:bodyPr>
          <a:lstStyle/>
          <a:p>
            <a:pPr algn="l">
              <a:lnSpc>
                <a:spcPct val="120000"/>
              </a:lnSpc>
              <a:spcBef>
                <a:spcPts val="0"/>
              </a:spcBef>
              <a:spcAft>
                <a:spcPts val="0"/>
              </a:spcAft>
              <a:defRPr sz="2300" b="0">
                <a:solidFill>
                  <a:srgbClr val="425968"/>
                </a:solidFill>
                <a:latin typeface="DejaVu Sans"/>
              </a:defRPr>
            </a:pPr>
            <a:r>
              <a:t>Meet the promise</a:t>
            </a:r>
          </a:p>
          <a:p>
            <a:pPr algn="l">
              <a:lnSpc>
                <a:spcPct val="120000"/>
              </a:lnSpc>
              <a:spcBef>
                <a:spcPts val="0"/>
              </a:spcBef>
              <a:spcAft>
                <a:spcPts val="0"/>
              </a:spcAft>
              <a:defRPr sz="2300" b="0">
                <a:solidFill>
                  <a:srgbClr val="425968"/>
                </a:solidFill>
                <a:latin typeface="DejaVu Sans"/>
              </a:defRPr>
            </a:pPr>
            <a:r>
              <a:t>reliably.</a:t>
            </a:r>
          </a:p>
        </p:txBody>
      </p:sp>
      <p:sp>
        <p:nvSpPr>
          <p:cNvPr id="16" name="Right Arrow 15"/>
          <p:cNvSpPr/>
          <p:nvPr/>
        </p:nvSpPr>
        <p:spPr>
          <a:xfrm>
            <a:off x="4050791" y="3758184"/>
            <a:ext cx="265176" cy="246888"/>
          </a:xfrm>
          <a:prstGeom prst="rightArrow">
            <a:avLst/>
          </a:prstGeom>
          <a:solidFill>
            <a:srgbClr val="425968"/>
          </a:solidFill>
          <a:ln>
            <a:noFill/>
          </a:ln>
          <a:effectLst/>
        </p:spPr>
        <p:txBody>
          <a:bodyPr rtlCol="0" anchor="ctr"/>
          <a:lstStyle/>
          <a:p>
            <a:pPr algn="ctr"/>
          </a:p>
        </p:txBody>
      </p:sp>
      <p:sp>
        <p:nvSpPr>
          <p:cNvPr id="17" name="Right Arrow 16"/>
          <p:cNvSpPr/>
          <p:nvPr/>
        </p:nvSpPr>
        <p:spPr>
          <a:xfrm>
            <a:off x="7891272" y="3758184"/>
            <a:ext cx="265176" cy="246888"/>
          </a:xfrm>
          <a:prstGeom prst="rightArrow">
            <a:avLst/>
          </a:prstGeom>
          <a:solidFill>
            <a:srgbClr val="425968"/>
          </a:solidFill>
          <a:ln>
            <a:noFill/>
          </a:ln>
          <a:effectLst/>
        </p:spPr>
        <p:txBody>
          <a:bodyPr rtlCol="0" anchor="ctr"/>
          <a:lstStyle/>
          <a:p>
            <a:pPr algn="ctr"/>
          </a:p>
        </p:txBody>
      </p:sp>
      <p:sp>
        <p:nvSpPr>
          <p:cNvPr id="18" name="TextBox 17"/>
          <p:cNvSpPr txBox="1"/>
          <p:nvPr/>
        </p:nvSpPr>
        <p:spPr>
          <a:xfrm>
            <a:off x="585216" y="5532120"/>
            <a:ext cx="10972800" cy="484632"/>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425968"/>
                </a:solidFill>
                <a:latin typeface="DejaVu Sans"/>
              </a:defRPr>
            </a:pPr>
            <a:r>
              <a:t>Clear instructions. Genuine warranty terms. Honest limits.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The Customer Has Purchased. What Happens Next?</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07</a:t>
            </a:r>
          </a:p>
        </p:txBody>
      </p:sp>
      <p:sp>
        <p:nvSpPr>
          <p:cNvPr id="6" name="Rectangle 5"/>
          <p:cNvSpPr/>
          <p:nvPr/>
        </p:nvSpPr>
        <p:spPr>
          <a:xfrm>
            <a:off x="585216" y="2359152"/>
            <a:ext cx="3017520" cy="950976"/>
          </a:xfrm>
          <a:prstGeom prst="rect">
            <a:avLst/>
          </a:prstGeom>
          <a:solidFill>
            <a:srgbClr val="F1F4F5"/>
          </a:solidFill>
          <a:ln>
            <a:noFill/>
          </a:ln>
          <a:effectLst/>
        </p:spPr>
        <p:txBody>
          <a:bodyPr rtlCol="0" anchor="ctr"/>
          <a:lstStyle/>
          <a:p>
            <a:pPr algn="ctr"/>
          </a:p>
        </p:txBody>
      </p:sp>
      <p:sp>
        <p:nvSpPr>
          <p:cNvPr id="7" name="TextBox 6"/>
          <p:cNvSpPr txBox="1"/>
          <p:nvPr/>
        </p:nvSpPr>
        <p:spPr>
          <a:xfrm>
            <a:off x="676656" y="2587752"/>
            <a:ext cx="2834639" cy="566928"/>
          </a:xfrm>
          <a:prstGeom prst="rect">
            <a:avLst/>
          </a:prstGeom>
          <a:noFill/>
        </p:spPr>
        <p:txBody>
          <a:bodyPr wrap="square" lIns="0" rIns="0" tIns="0" bIns="0" anchor="t">
            <a:spAutoFit/>
          </a:bodyPr>
          <a:lstStyle/>
          <a:p>
            <a:pPr algn="ctr">
              <a:lnSpc>
                <a:spcPct val="113000"/>
              </a:lnSpc>
              <a:spcBef>
                <a:spcPts val="0"/>
              </a:spcBef>
              <a:spcAft>
                <a:spcPts val="0"/>
              </a:spcAft>
              <a:defRPr sz="2900" b="1">
                <a:solidFill>
                  <a:srgbClr val="20282D"/>
                </a:solidFill>
                <a:latin typeface="DejaVu Sans"/>
              </a:defRPr>
            </a:pPr>
            <a:r>
              <a:t>Paid</a:t>
            </a:r>
          </a:p>
        </p:txBody>
      </p:sp>
      <p:sp>
        <p:nvSpPr>
          <p:cNvPr id="8" name="Rectangle 7"/>
          <p:cNvSpPr/>
          <p:nvPr/>
        </p:nvSpPr>
        <p:spPr>
          <a:xfrm>
            <a:off x="4178808" y="2359152"/>
            <a:ext cx="3017520" cy="950976"/>
          </a:xfrm>
          <a:prstGeom prst="rect">
            <a:avLst/>
          </a:prstGeom>
          <a:solidFill>
            <a:srgbClr val="F1F4F5"/>
          </a:solidFill>
          <a:ln>
            <a:noFill/>
          </a:ln>
          <a:effectLst/>
        </p:spPr>
        <p:txBody>
          <a:bodyPr rtlCol="0" anchor="ctr"/>
          <a:lstStyle/>
          <a:p>
            <a:pPr algn="ctr"/>
          </a:p>
        </p:txBody>
      </p:sp>
      <p:sp>
        <p:nvSpPr>
          <p:cNvPr id="9" name="TextBox 8"/>
          <p:cNvSpPr txBox="1"/>
          <p:nvPr/>
        </p:nvSpPr>
        <p:spPr>
          <a:xfrm>
            <a:off x="4270248" y="2587752"/>
            <a:ext cx="2834639" cy="566928"/>
          </a:xfrm>
          <a:prstGeom prst="rect">
            <a:avLst/>
          </a:prstGeom>
          <a:noFill/>
        </p:spPr>
        <p:txBody>
          <a:bodyPr wrap="square" lIns="0" rIns="0" tIns="0" bIns="0" anchor="t">
            <a:spAutoFit/>
          </a:bodyPr>
          <a:lstStyle/>
          <a:p>
            <a:pPr algn="ctr">
              <a:lnSpc>
                <a:spcPct val="113000"/>
              </a:lnSpc>
              <a:spcBef>
                <a:spcPts val="0"/>
              </a:spcBef>
              <a:spcAft>
                <a:spcPts val="0"/>
              </a:spcAft>
              <a:defRPr sz="2900" b="1">
                <a:solidFill>
                  <a:srgbClr val="20282D"/>
                </a:solidFill>
                <a:latin typeface="DejaVu Sans"/>
              </a:defRPr>
            </a:pPr>
            <a:r>
              <a:t>Delivered</a:t>
            </a:r>
          </a:p>
        </p:txBody>
      </p:sp>
      <p:sp>
        <p:nvSpPr>
          <p:cNvPr id="10" name="Rectangle 9"/>
          <p:cNvSpPr/>
          <p:nvPr/>
        </p:nvSpPr>
        <p:spPr>
          <a:xfrm>
            <a:off x="7772400" y="2221992"/>
            <a:ext cx="3840480" cy="1225296"/>
          </a:xfrm>
          <a:prstGeom prst="rect">
            <a:avLst/>
          </a:prstGeom>
          <a:solidFill>
            <a:srgbClr val="425968"/>
          </a:solidFill>
          <a:ln>
            <a:noFill/>
          </a:ln>
          <a:effectLst/>
        </p:spPr>
        <p:txBody>
          <a:bodyPr rtlCol="0" anchor="ctr"/>
          <a:lstStyle/>
          <a:p>
            <a:pPr algn="ctr"/>
          </a:p>
        </p:txBody>
      </p:sp>
      <p:sp>
        <p:nvSpPr>
          <p:cNvPr id="11" name="TextBox 10"/>
          <p:cNvSpPr txBox="1"/>
          <p:nvPr/>
        </p:nvSpPr>
        <p:spPr>
          <a:xfrm>
            <a:off x="7863840" y="2450592"/>
            <a:ext cx="3657600" cy="566928"/>
          </a:xfrm>
          <a:prstGeom prst="rect">
            <a:avLst/>
          </a:prstGeom>
          <a:noFill/>
        </p:spPr>
        <p:txBody>
          <a:bodyPr wrap="square" lIns="0" rIns="0" tIns="0" bIns="0" anchor="t">
            <a:spAutoFit/>
          </a:bodyPr>
          <a:lstStyle/>
          <a:p>
            <a:pPr algn="ctr">
              <a:lnSpc>
                <a:spcPct val="113000"/>
              </a:lnSpc>
              <a:spcBef>
                <a:spcPts val="0"/>
              </a:spcBef>
              <a:spcAft>
                <a:spcPts val="0"/>
              </a:spcAft>
              <a:defRPr sz="2900" b="1">
                <a:solidFill>
                  <a:srgbClr val="FFFFFF"/>
                </a:solidFill>
                <a:latin typeface="DejaVu Sans"/>
              </a:defRPr>
            </a:pPr>
            <a:r>
              <a:t>Used</a:t>
            </a:r>
          </a:p>
        </p:txBody>
      </p:sp>
      <p:sp>
        <p:nvSpPr>
          <p:cNvPr id="12" name="Right Arrow 11"/>
          <p:cNvSpPr/>
          <p:nvPr/>
        </p:nvSpPr>
        <p:spPr>
          <a:xfrm>
            <a:off x="3730752" y="2706624"/>
            <a:ext cx="274320" cy="246888"/>
          </a:xfrm>
          <a:prstGeom prst="rightArrow">
            <a:avLst/>
          </a:prstGeom>
          <a:solidFill>
            <a:srgbClr val="425968"/>
          </a:solidFill>
          <a:ln>
            <a:noFill/>
          </a:ln>
          <a:effectLst/>
        </p:spPr>
        <p:txBody>
          <a:bodyPr rtlCol="0" anchor="ctr"/>
          <a:lstStyle/>
          <a:p>
            <a:pPr algn="ctr"/>
          </a:p>
        </p:txBody>
      </p:sp>
      <p:sp>
        <p:nvSpPr>
          <p:cNvPr id="13" name="Right Arrow 12"/>
          <p:cNvSpPr/>
          <p:nvPr/>
        </p:nvSpPr>
        <p:spPr>
          <a:xfrm>
            <a:off x="7324344" y="2706624"/>
            <a:ext cx="274320" cy="246888"/>
          </a:xfrm>
          <a:prstGeom prst="rightArrow">
            <a:avLst/>
          </a:prstGeom>
          <a:solidFill>
            <a:srgbClr val="425968"/>
          </a:solidFill>
          <a:ln>
            <a:noFill/>
          </a:ln>
          <a:effectLst/>
        </p:spPr>
        <p:txBody>
          <a:bodyPr rtlCol="0" anchor="ctr"/>
          <a:lstStyle/>
          <a:p>
            <a:pPr algn="ctr"/>
          </a:p>
        </p:txBody>
      </p:sp>
      <p:sp>
        <p:nvSpPr>
          <p:cNvPr id="14" name="TextBox 13"/>
          <p:cNvSpPr txBox="1"/>
          <p:nvPr/>
        </p:nvSpPr>
        <p:spPr>
          <a:xfrm>
            <a:off x="585216" y="3941063"/>
            <a:ext cx="10972800" cy="630936"/>
          </a:xfrm>
          <a:prstGeom prst="rect">
            <a:avLst/>
          </a:prstGeom>
          <a:noFill/>
        </p:spPr>
        <p:txBody>
          <a:bodyPr wrap="square" lIns="0" rIns="0" tIns="0" bIns="0" anchor="t">
            <a:spAutoFit/>
          </a:bodyPr>
          <a:lstStyle/>
          <a:p>
            <a:pPr algn="l">
              <a:lnSpc>
                <a:spcPct val="113000"/>
              </a:lnSpc>
              <a:spcBef>
                <a:spcPts val="0"/>
              </a:spcBef>
              <a:spcAft>
                <a:spcPts val="0"/>
              </a:spcAft>
              <a:defRPr sz="3000" b="1">
                <a:solidFill>
                  <a:srgbClr val="20282D"/>
                </a:solidFill>
                <a:latin typeface="DejaVu Sans"/>
              </a:defRPr>
            </a:pPr>
            <a:r>
              <a:t>“What happened when you used it?”</a:t>
            </a:r>
          </a:p>
        </p:txBody>
      </p:sp>
      <p:sp>
        <p:nvSpPr>
          <p:cNvPr id="15" name="TextBox 14"/>
          <p:cNvSpPr txBox="1"/>
          <p:nvPr/>
        </p:nvSpPr>
        <p:spPr>
          <a:xfrm>
            <a:off x="585216" y="4773168"/>
            <a:ext cx="10789920" cy="429768"/>
          </a:xfrm>
          <a:prstGeom prst="rect">
            <a:avLst/>
          </a:prstGeom>
          <a:noFill/>
        </p:spPr>
        <p:txBody>
          <a:bodyPr wrap="square" lIns="0" rIns="0" tIns="0" bIns="0" anchor="t">
            <a:spAutoFit/>
          </a:bodyPr>
          <a:lstStyle/>
          <a:p>
            <a:pPr algn="l">
              <a:lnSpc>
                <a:spcPct val="113000"/>
              </a:lnSpc>
              <a:spcBef>
                <a:spcPts val="0"/>
              </a:spcBef>
              <a:spcAft>
                <a:spcPts val="0"/>
              </a:spcAft>
              <a:defRPr sz="2200" b="0">
                <a:solidFill>
                  <a:srgbClr val="425968"/>
                </a:solidFill>
                <a:latin typeface="DejaVu Sans"/>
              </a:defRPr>
            </a:pPr>
            <a:r>
              <a:t>Ask permission for a brief, useful follow-up.</a:t>
            </a:r>
          </a:p>
        </p:txBody>
      </p:sp>
      <p:sp>
        <p:nvSpPr>
          <p:cNvPr id="16" name="TextBox 15"/>
          <p:cNvSpPr txBox="1"/>
          <p:nvPr/>
        </p:nvSpPr>
        <p:spPr>
          <a:xfrm>
            <a:off x="585216" y="5596128"/>
            <a:ext cx="10972800" cy="365760"/>
          </a:xfrm>
          <a:prstGeom prst="rect">
            <a:avLst/>
          </a:prstGeom>
          <a:noFill/>
        </p:spPr>
        <p:txBody>
          <a:bodyPr wrap="square" lIns="0" rIns="0" tIns="0" bIns="0" anchor="t">
            <a:spAutoFit/>
          </a:bodyPr>
          <a:lstStyle/>
          <a:p>
            <a:pPr algn="l">
              <a:lnSpc>
                <a:spcPct val="113000"/>
              </a:lnSpc>
              <a:spcBef>
                <a:spcPts val="0"/>
              </a:spcBef>
              <a:spcAft>
                <a:spcPts val="0"/>
              </a:spcAft>
              <a:defRPr sz="2000" b="0">
                <a:solidFill>
                  <a:srgbClr val="586269"/>
                </a:solidFill>
                <a:latin typeface="DejaVu Sans"/>
              </a:defRPr>
            </a:pPr>
            <a:r>
              <a:t>Hair-product example · performance / instructions / packaging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What Have Your Customers Helped You Improve?</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08</a:t>
            </a:r>
          </a:p>
        </p:txBody>
      </p:sp>
      <p:sp>
        <p:nvSpPr>
          <p:cNvPr id="6" name="TextBox 5"/>
          <p:cNvSpPr txBox="1"/>
          <p:nvPr/>
        </p:nvSpPr>
        <p:spPr>
          <a:xfrm>
            <a:off x="585216" y="1920240"/>
            <a:ext cx="10789920" cy="320040"/>
          </a:xfrm>
          <a:prstGeom prst="rect">
            <a:avLst/>
          </a:prstGeom>
          <a:noFill/>
        </p:spPr>
        <p:txBody>
          <a:bodyPr wrap="square" lIns="0" rIns="0" tIns="0" bIns="0" anchor="t">
            <a:spAutoFit/>
          </a:bodyPr>
          <a:lstStyle/>
          <a:p>
            <a:pPr algn="l">
              <a:lnSpc>
                <a:spcPct val="113000"/>
              </a:lnSpc>
              <a:spcBef>
                <a:spcPts val="0"/>
              </a:spcBef>
              <a:spcAft>
                <a:spcPts val="0"/>
              </a:spcAft>
              <a:defRPr sz="1800" b="0">
                <a:solidFill>
                  <a:srgbClr val="425968"/>
                </a:solidFill>
                <a:latin typeface="DejaVu Sans"/>
              </a:defRPr>
            </a:pPr>
            <a:r>
              <a:t>Hair-product example · investigate a leakage report</a:t>
            </a:r>
          </a:p>
        </p:txBody>
      </p:sp>
      <p:sp>
        <p:nvSpPr>
          <p:cNvPr id="7" name="Rectangle 6"/>
          <p:cNvSpPr/>
          <p:nvPr/>
        </p:nvSpPr>
        <p:spPr>
          <a:xfrm>
            <a:off x="585216" y="2395728"/>
            <a:ext cx="2340864" cy="2203704"/>
          </a:xfrm>
          <a:prstGeom prst="rect">
            <a:avLst/>
          </a:prstGeom>
          <a:solidFill>
            <a:srgbClr val="F1F4F5"/>
          </a:solidFill>
          <a:ln>
            <a:noFill/>
          </a:ln>
          <a:effectLst/>
        </p:spPr>
        <p:txBody>
          <a:bodyPr rtlCol="0" anchor="ctr"/>
          <a:lstStyle/>
          <a:p>
            <a:pPr algn="ctr"/>
          </a:p>
        </p:txBody>
      </p:sp>
      <p:sp>
        <p:nvSpPr>
          <p:cNvPr id="8" name="TextBox 7"/>
          <p:cNvSpPr txBox="1"/>
          <p:nvPr/>
        </p:nvSpPr>
        <p:spPr>
          <a:xfrm>
            <a:off x="713232" y="2706624"/>
            <a:ext cx="2084831" cy="749808"/>
          </a:xfrm>
          <a:prstGeom prst="rect">
            <a:avLst/>
          </a:prstGeom>
          <a:noFill/>
        </p:spPr>
        <p:txBody>
          <a:bodyPr wrap="square" lIns="0" rIns="0" tIns="0" bIns="0" anchor="t">
            <a:spAutoFit/>
          </a:bodyPr>
          <a:lstStyle/>
          <a:p>
            <a:pPr algn="ctr">
              <a:lnSpc>
                <a:spcPct val="113000"/>
              </a:lnSpc>
              <a:spcBef>
                <a:spcPts val="0"/>
              </a:spcBef>
              <a:spcAft>
                <a:spcPts val="0"/>
              </a:spcAft>
              <a:defRPr sz="2200" b="1">
                <a:solidFill>
                  <a:srgbClr val="20282D"/>
                </a:solidFill>
                <a:latin typeface="DejaVu Sans"/>
              </a:defRPr>
            </a:pPr>
            <a:r>
              <a:t>Experience</a:t>
            </a:r>
          </a:p>
        </p:txBody>
      </p:sp>
      <p:sp>
        <p:nvSpPr>
          <p:cNvPr id="9" name="TextBox 8"/>
          <p:cNvSpPr txBox="1"/>
          <p:nvPr/>
        </p:nvSpPr>
        <p:spPr>
          <a:xfrm>
            <a:off x="731520" y="3648456"/>
            <a:ext cx="2048256" cy="758952"/>
          </a:xfrm>
          <a:prstGeom prst="rect">
            <a:avLst/>
          </a:prstGeom>
          <a:noFill/>
        </p:spPr>
        <p:txBody>
          <a:bodyPr wrap="square" lIns="0" rIns="0" tIns="0" bIns="0" anchor="t">
            <a:spAutoFit/>
          </a:bodyPr>
          <a:lstStyle/>
          <a:p>
            <a:pPr algn="ctr">
              <a:lnSpc>
                <a:spcPct val="116000"/>
              </a:lnSpc>
              <a:spcBef>
                <a:spcPts val="0"/>
              </a:spcBef>
              <a:spcAft>
                <a:spcPts val="0"/>
              </a:spcAft>
              <a:defRPr sz="2000" b="0">
                <a:solidFill>
                  <a:srgbClr val="425968"/>
                </a:solidFill>
                <a:latin typeface="DejaVu Sans"/>
              </a:defRPr>
            </a:pPr>
            <a:r>
              <a:t>Leakage</a:t>
            </a:r>
          </a:p>
          <a:p>
            <a:pPr algn="ctr">
              <a:lnSpc>
                <a:spcPct val="116000"/>
              </a:lnSpc>
              <a:spcBef>
                <a:spcPts val="0"/>
              </a:spcBef>
              <a:spcAft>
                <a:spcPts val="0"/>
              </a:spcAft>
              <a:defRPr sz="2000" b="0">
                <a:solidFill>
                  <a:srgbClr val="425968"/>
                </a:solidFill>
                <a:latin typeface="DejaVu Sans"/>
              </a:defRPr>
            </a:pPr>
            <a:r>
              <a:t>reported.</a:t>
            </a:r>
          </a:p>
        </p:txBody>
      </p:sp>
      <p:sp>
        <p:nvSpPr>
          <p:cNvPr id="10" name="Rectangle 9"/>
          <p:cNvSpPr/>
          <p:nvPr/>
        </p:nvSpPr>
        <p:spPr>
          <a:xfrm>
            <a:off x="3474720" y="2395728"/>
            <a:ext cx="2340864" cy="2203704"/>
          </a:xfrm>
          <a:prstGeom prst="rect">
            <a:avLst/>
          </a:prstGeom>
          <a:solidFill>
            <a:srgbClr val="F1F4F5"/>
          </a:solidFill>
          <a:ln>
            <a:noFill/>
          </a:ln>
          <a:effectLst/>
        </p:spPr>
        <p:txBody>
          <a:bodyPr rtlCol="0" anchor="ctr"/>
          <a:lstStyle/>
          <a:p>
            <a:pPr algn="ctr"/>
          </a:p>
        </p:txBody>
      </p:sp>
      <p:sp>
        <p:nvSpPr>
          <p:cNvPr id="11" name="TextBox 10"/>
          <p:cNvSpPr txBox="1"/>
          <p:nvPr/>
        </p:nvSpPr>
        <p:spPr>
          <a:xfrm>
            <a:off x="3602736" y="2706624"/>
            <a:ext cx="2084831" cy="749808"/>
          </a:xfrm>
          <a:prstGeom prst="rect">
            <a:avLst/>
          </a:prstGeom>
          <a:noFill/>
        </p:spPr>
        <p:txBody>
          <a:bodyPr wrap="square" lIns="0" rIns="0" tIns="0" bIns="0" anchor="t">
            <a:spAutoFit/>
          </a:bodyPr>
          <a:lstStyle/>
          <a:p>
            <a:pPr algn="ctr">
              <a:lnSpc>
                <a:spcPct val="113000"/>
              </a:lnSpc>
              <a:spcBef>
                <a:spcPts val="0"/>
              </a:spcBef>
              <a:spcAft>
                <a:spcPts val="0"/>
              </a:spcAft>
              <a:defRPr sz="2200" b="1">
                <a:solidFill>
                  <a:srgbClr val="20282D"/>
                </a:solidFill>
                <a:latin typeface="DejaVu Sans"/>
              </a:defRPr>
            </a:pPr>
            <a:r>
              <a:t>Investigate</a:t>
            </a:r>
          </a:p>
        </p:txBody>
      </p:sp>
      <p:sp>
        <p:nvSpPr>
          <p:cNvPr id="12" name="TextBox 11"/>
          <p:cNvSpPr txBox="1"/>
          <p:nvPr/>
        </p:nvSpPr>
        <p:spPr>
          <a:xfrm>
            <a:off x="3621024" y="3648456"/>
            <a:ext cx="2048256" cy="758952"/>
          </a:xfrm>
          <a:prstGeom prst="rect">
            <a:avLst/>
          </a:prstGeom>
          <a:noFill/>
        </p:spPr>
        <p:txBody>
          <a:bodyPr wrap="square" lIns="0" rIns="0" tIns="0" bIns="0" anchor="t">
            <a:spAutoFit/>
          </a:bodyPr>
          <a:lstStyle/>
          <a:p>
            <a:pPr algn="ctr">
              <a:lnSpc>
                <a:spcPct val="116000"/>
              </a:lnSpc>
              <a:spcBef>
                <a:spcPts val="0"/>
              </a:spcBef>
              <a:spcAft>
                <a:spcPts val="0"/>
              </a:spcAft>
              <a:defRPr sz="2000" b="0">
                <a:solidFill>
                  <a:srgbClr val="425968"/>
                </a:solidFill>
                <a:latin typeface="DejaVu Sans"/>
              </a:defRPr>
            </a:pPr>
            <a:r>
              <a:t>Check seal</a:t>
            </a:r>
          </a:p>
          <a:p>
            <a:pPr algn="ctr">
              <a:lnSpc>
                <a:spcPct val="116000"/>
              </a:lnSpc>
              <a:spcBef>
                <a:spcPts val="0"/>
              </a:spcBef>
              <a:spcAft>
                <a:spcPts val="0"/>
              </a:spcAft>
              <a:defRPr sz="2000" b="0">
                <a:solidFill>
                  <a:srgbClr val="425968"/>
                </a:solidFill>
                <a:latin typeface="DejaVu Sans"/>
              </a:defRPr>
            </a:pPr>
            <a:r>
              <a:t>and handling.</a:t>
            </a:r>
          </a:p>
        </p:txBody>
      </p:sp>
      <p:sp>
        <p:nvSpPr>
          <p:cNvPr id="13" name="Rectangle 12"/>
          <p:cNvSpPr/>
          <p:nvPr/>
        </p:nvSpPr>
        <p:spPr>
          <a:xfrm>
            <a:off x="6364224" y="2395728"/>
            <a:ext cx="2340864" cy="2203704"/>
          </a:xfrm>
          <a:prstGeom prst="rect">
            <a:avLst/>
          </a:prstGeom>
          <a:solidFill>
            <a:srgbClr val="F1F4F5"/>
          </a:solidFill>
          <a:ln>
            <a:noFill/>
          </a:ln>
          <a:effectLst/>
        </p:spPr>
        <p:txBody>
          <a:bodyPr rtlCol="0" anchor="ctr"/>
          <a:lstStyle/>
          <a:p>
            <a:pPr algn="ctr"/>
          </a:p>
        </p:txBody>
      </p:sp>
      <p:sp>
        <p:nvSpPr>
          <p:cNvPr id="14" name="TextBox 13"/>
          <p:cNvSpPr txBox="1"/>
          <p:nvPr/>
        </p:nvSpPr>
        <p:spPr>
          <a:xfrm>
            <a:off x="6492240" y="2706624"/>
            <a:ext cx="2084831" cy="749808"/>
          </a:xfrm>
          <a:prstGeom prst="rect">
            <a:avLst/>
          </a:prstGeom>
          <a:noFill/>
        </p:spPr>
        <p:txBody>
          <a:bodyPr wrap="square" lIns="0" rIns="0" tIns="0" bIns="0" anchor="t">
            <a:spAutoFit/>
          </a:bodyPr>
          <a:lstStyle/>
          <a:p>
            <a:pPr algn="ctr">
              <a:lnSpc>
                <a:spcPct val="113000"/>
              </a:lnSpc>
              <a:spcBef>
                <a:spcPts val="0"/>
              </a:spcBef>
              <a:spcAft>
                <a:spcPts val="0"/>
              </a:spcAft>
              <a:defRPr sz="2200" b="1">
                <a:solidFill>
                  <a:srgbClr val="20282D"/>
                </a:solidFill>
                <a:latin typeface="DejaVu Sans"/>
              </a:defRPr>
            </a:pPr>
            <a:r>
              <a:t>Change</a:t>
            </a:r>
          </a:p>
        </p:txBody>
      </p:sp>
      <p:sp>
        <p:nvSpPr>
          <p:cNvPr id="15" name="TextBox 14"/>
          <p:cNvSpPr txBox="1"/>
          <p:nvPr/>
        </p:nvSpPr>
        <p:spPr>
          <a:xfrm>
            <a:off x="6510528" y="3648456"/>
            <a:ext cx="2048256" cy="758952"/>
          </a:xfrm>
          <a:prstGeom prst="rect">
            <a:avLst/>
          </a:prstGeom>
          <a:noFill/>
        </p:spPr>
        <p:txBody>
          <a:bodyPr wrap="square" lIns="0" rIns="0" tIns="0" bIns="0" anchor="t">
            <a:spAutoFit/>
          </a:bodyPr>
          <a:lstStyle/>
          <a:p>
            <a:pPr algn="ctr">
              <a:lnSpc>
                <a:spcPct val="116000"/>
              </a:lnSpc>
              <a:spcBef>
                <a:spcPts val="0"/>
              </a:spcBef>
              <a:spcAft>
                <a:spcPts val="0"/>
              </a:spcAft>
              <a:defRPr sz="2000" b="0">
                <a:solidFill>
                  <a:srgbClr val="425968"/>
                </a:solidFill>
                <a:latin typeface="DejaVu Sans"/>
              </a:defRPr>
            </a:pPr>
            <a:r>
              <a:t>If supported:</a:t>
            </a:r>
          </a:p>
          <a:p>
            <a:pPr algn="ctr">
              <a:lnSpc>
                <a:spcPct val="116000"/>
              </a:lnSpc>
              <a:spcBef>
                <a:spcPts val="0"/>
              </a:spcBef>
              <a:spcAft>
                <a:spcPts val="0"/>
              </a:spcAft>
              <a:defRPr sz="2000" b="0">
                <a:solidFill>
                  <a:srgbClr val="425968"/>
                </a:solidFill>
                <a:latin typeface="DejaVu Sans"/>
              </a:defRPr>
            </a:pPr>
            <a:r>
              <a:t>check seals.</a:t>
            </a:r>
          </a:p>
        </p:txBody>
      </p:sp>
      <p:sp>
        <p:nvSpPr>
          <p:cNvPr id="16" name="Rectangle 15"/>
          <p:cNvSpPr/>
          <p:nvPr/>
        </p:nvSpPr>
        <p:spPr>
          <a:xfrm>
            <a:off x="9253728" y="2395728"/>
            <a:ext cx="2340864" cy="2203704"/>
          </a:xfrm>
          <a:prstGeom prst="rect">
            <a:avLst/>
          </a:prstGeom>
          <a:solidFill>
            <a:srgbClr val="F1F4F5"/>
          </a:solidFill>
          <a:ln>
            <a:noFill/>
          </a:ln>
          <a:effectLst/>
        </p:spPr>
        <p:txBody>
          <a:bodyPr rtlCol="0" anchor="ctr"/>
          <a:lstStyle/>
          <a:p>
            <a:pPr algn="ctr"/>
          </a:p>
        </p:txBody>
      </p:sp>
      <p:sp>
        <p:nvSpPr>
          <p:cNvPr id="17" name="TextBox 16"/>
          <p:cNvSpPr txBox="1"/>
          <p:nvPr/>
        </p:nvSpPr>
        <p:spPr>
          <a:xfrm>
            <a:off x="9381744" y="2706624"/>
            <a:ext cx="2084831" cy="749808"/>
          </a:xfrm>
          <a:prstGeom prst="rect">
            <a:avLst/>
          </a:prstGeom>
          <a:noFill/>
        </p:spPr>
        <p:txBody>
          <a:bodyPr wrap="square" lIns="0" rIns="0" tIns="0" bIns="0" anchor="t">
            <a:spAutoFit/>
          </a:bodyPr>
          <a:lstStyle/>
          <a:p>
            <a:pPr algn="ctr">
              <a:lnSpc>
                <a:spcPct val="113000"/>
              </a:lnSpc>
              <a:spcBef>
                <a:spcPts val="0"/>
              </a:spcBef>
              <a:spcAft>
                <a:spcPts val="0"/>
              </a:spcAft>
              <a:defRPr sz="2200" b="1">
                <a:solidFill>
                  <a:srgbClr val="20282D"/>
                </a:solidFill>
                <a:latin typeface="DejaVu Sans"/>
              </a:defRPr>
            </a:pPr>
            <a:r>
              <a:t>Check again</a:t>
            </a:r>
          </a:p>
        </p:txBody>
      </p:sp>
      <p:sp>
        <p:nvSpPr>
          <p:cNvPr id="18" name="TextBox 17"/>
          <p:cNvSpPr txBox="1"/>
          <p:nvPr/>
        </p:nvSpPr>
        <p:spPr>
          <a:xfrm>
            <a:off x="9400032" y="3648456"/>
            <a:ext cx="2048256" cy="758952"/>
          </a:xfrm>
          <a:prstGeom prst="rect">
            <a:avLst/>
          </a:prstGeom>
          <a:noFill/>
        </p:spPr>
        <p:txBody>
          <a:bodyPr wrap="square" lIns="0" rIns="0" tIns="0" bIns="0" anchor="t">
            <a:spAutoFit/>
          </a:bodyPr>
          <a:lstStyle/>
          <a:p>
            <a:pPr algn="ctr">
              <a:lnSpc>
                <a:spcPct val="116000"/>
              </a:lnSpc>
              <a:spcBef>
                <a:spcPts val="0"/>
              </a:spcBef>
              <a:spcAft>
                <a:spcPts val="0"/>
              </a:spcAft>
              <a:defRPr sz="2000" b="0">
                <a:solidFill>
                  <a:srgbClr val="425968"/>
                </a:solidFill>
                <a:latin typeface="DejaVu Sans"/>
              </a:defRPr>
            </a:pPr>
            <a:r>
              <a:t>Review leakage</a:t>
            </a:r>
          </a:p>
          <a:p>
            <a:pPr algn="ctr">
              <a:lnSpc>
                <a:spcPct val="116000"/>
              </a:lnSpc>
              <a:spcBef>
                <a:spcPts val="0"/>
              </a:spcBef>
              <a:spcAft>
                <a:spcPts val="0"/>
              </a:spcAft>
              <a:defRPr sz="2000" b="0">
                <a:solidFill>
                  <a:srgbClr val="425968"/>
                </a:solidFill>
                <a:latin typeface="DejaVu Sans"/>
              </a:defRPr>
            </a:pPr>
            <a:r>
              <a:t>per delivery.</a:t>
            </a:r>
          </a:p>
        </p:txBody>
      </p:sp>
      <p:sp>
        <p:nvSpPr>
          <p:cNvPr id="19" name="Right Arrow 18"/>
          <p:cNvSpPr/>
          <p:nvPr/>
        </p:nvSpPr>
        <p:spPr>
          <a:xfrm>
            <a:off x="3063240" y="3319272"/>
            <a:ext cx="246888" cy="228600"/>
          </a:xfrm>
          <a:prstGeom prst="rightArrow">
            <a:avLst/>
          </a:prstGeom>
          <a:solidFill>
            <a:srgbClr val="425968"/>
          </a:solidFill>
          <a:ln>
            <a:noFill/>
          </a:ln>
          <a:effectLst/>
        </p:spPr>
        <p:txBody>
          <a:bodyPr rtlCol="0" anchor="ctr"/>
          <a:lstStyle/>
          <a:p>
            <a:pPr algn="ctr"/>
          </a:p>
        </p:txBody>
      </p:sp>
      <p:sp>
        <p:nvSpPr>
          <p:cNvPr id="20" name="Right Arrow 19"/>
          <p:cNvSpPr/>
          <p:nvPr/>
        </p:nvSpPr>
        <p:spPr>
          <a:xfrm>
            <a:off x="5952744" y="3319272"/>
            <a:ext cx="246888" cy="228600"/>
          </a:xfrm>
          <a:prstGeom prst="rightArrow">
            <a:avLst/>
          </a:prstGeom>
          <a:solidFill>
            <a:srgbClr val="425968"/>
          </a:solidFill>
          <a:ln>
            <a:noFill/>
          </a:ln>
          <a:effectLst/>
        </p:spPr>
        <p:txBody>
          <a:bodyPr rtlCol="0" anchor="ctr"/>
          <a:lstStyle/>
          <a:p>
            <a:pPr algn="ctr"/>
          </a:p>
        </p:txBody>
      </p:sp>
      <p:sp>
        <p:nvSpPr>
          <p:cNvPr id="21" name="Right Arrow 20"/>
          <p:cNvSpPr/>
          <p:nvPr/>
        </p:nvSpPr>
        <p:spPr>
          <a:xfrm>
            <a:off x="8842248" y="3319272"/>
            <a:ext cx="246888" cy="228600"/>
          </a:xfrm>
          <a:prstGeom prst="rightArrow">
            <a:avLst/>
          </a:prstGeom>
          <a:solidFill>
            <a:srgbClr val="425968"/>
          </a:solidFill>
          <a:ln>
            <a:noFill/>
          </a:ln>
          <a:effectLst/>
        </p:spPr>
        <p:txBody>
          <a:bodyPr rtlCol="0" anchor="ctr"/>
          <a:lstStyle/>
          <a:p>
            <a:pPr algn="ctr"/>
          </a:p>
        </p:txBody>
      </p:sp>
      <p:cxnSp>
        <p:nvCxnSpPr>
          <p:cNvPr id="22" name="Connector 21"/>
          <p:cNvCxnSpPr/>
          <p:nvPr/>
        </p:nvCxnSpPr>
        <p:spPr>
          <a:xfrm>
            <a:off x="10424160" y="4599432"/>
            <a:ext cx="0" cy="457200"/>
          </a:xfrm>
          <a:prstGeom prst="line">
            <a:avLst/>
          </a:prstGeom>
          <a:ln w="19050">
            <a:solidFill>
              <a:srgbClr val="425968"/>
            </a:solidFill>
          </a:ln>
        </p:spPr>
      </p:cxnSp>
      <p:cxnSp>
        <p:nvCxnSpPr>
          <p:cNvPr id="23" name="Connector 22"/>
          <p:cNvCxnSpPr/>
          <p:nvPr/>
        </p:nvCxnSpPr>
        <p:spPr>
          <a:xfrm flipH="1">
            <a:off x="1755648" y="5056632"/>
            <a:ext cx="8668512" cy="0"/>
          </a:xfrm>
          <a:prstGeom prst="line">
            <a:avLst/>
          </a:prstGeom>
          <a:ln w="19050">
            <a:solidFill>
              <a:srgbClr val="425968"/>
            </a:solidFill>
          </a:ln>
        </p:spPr>
      </p:cxnSp>
      <p:cxnSp>
        <p:nvCxnSpPr>
          <p:cNvPr id="24" name="Connector 23"/>
          <p:cNvCxnSpPr/>
          <p:nvPr/>
        </p:nvCxnSpPr>
        <p:spPr>
          <a:xfrm flipV="1">
            <a:off x="1755648" y="4782312"/>
            <a:ext cx="0" cy="274320"/>
          </a:xfrm>
          <a:prstGeom prst="line">
            <a:avLst/>
          </a:prstGeom>
          <a:ln w="19050">
            <a:solidFill>
              <a:srgbClr val="425968"/>
            </a:solidFill>
          </a:ln>
        </p:spPr>
      </p:cxnSp>
      <p:sp>
        <p:nvSpPr>
          <p:cNvPr id="25" name="Up Arrow 24"/>
          <p:cNvSpPr/>
          <p:nvPr/>
        </p:nvSpPr>
        <p:spPr>
          <a:xfrm>
            <a:off x="1636776" y="4645152"/>
            <a:ext cx="237744" cy="219456"/>
          </a:xfrm>
          <a:prstGeom prst="upArrow">
            <a:avLst/>
          </a:prstGeom>
          <a:solidFill>
            <a:srgbClr val="425968"/>
          </a:solidFill>
          <a:ln>
            <a:noFill/>
          </a:ln>
          <a:effectLst/>
        </p:spPr>
        <p:txBody>
          <a:bodyPr rtlCol="0" anchor="ctr"/>
          <a:lstStyle/>
          <a:p>
            <a:pPr algn="ctr"/>
          </a:p>
        </p:txBody>
      </p:sp>
      <p:sp>
        <p:nvSpPr>
          <p:cNvPr id="26" name="TextBox 25"/>
          <p:cNvSpPr txBox="1"/>
          <p:nvPr/>
        </p:nvSpPr>
        <p:spPr>
          <a:xfrm>
            <a:off x="585216" y="5513832"/>
            <a:ext cx="10972800" cy="530352"/>
          </a:xfrm>
          <a:prstGeom prst="rect">
            <a:avLst/>
          </a:prstGeom>
          <a:noFill/>
        </p:spPr>
        <p:txBody>
          <a:bodyPr wrap="square" lIns="0" rIns="0" tIns="0" bIns="0" anchor="t">
            <a:spAutoFit/>
          </a:bodyPr>
          <a:lstStyle/>
          <a:p>
            <a:pPr algn="l">
              <a:lnSpc>
                <a:spcPct val="113000"/>
              </a:lnSpc>
              <a:spcBef>
                <a:spcPts val="0"/>
              </a:spcBef>
              <a:spcAft>
                <a:spcPts val="0"/>
              </a:spcAft>
              <a:defRPr sz="2400" b="0">
                <a:solidFill>
                  <a:srgbClr val="425968"/>
                </a:solidFill>
                <a:latin typeface="DejaVu Sans"/>
              </a:defRPr>
            </a:pPr>
            <a:r>
              <a:t>Use feedback to strengthen intelligence and value.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5096" cy="1261872"/>
          </a:xfrm>
          <a:prstGeom prst="rect">
            <a:avLst/>
          </a:prstGeom>
          <a:noFill/>
        </p:spPr>
        <p:txBody>
          <a:bodyPr wrap="square" lIns="0" rIns="0" tIns="0" bIns="0" anchor="t">
            <a:spAutoFit/>
          </a:bodyPr>
          <a:lstStyle/>
          <a:p>
            <a:pPr algn="l">
              <a:lnSpc>
                <a:spcPct val="108000"/>
              </a:lnSpc>
              <a:spcBef>
                <a:spcPts val="0"/>
              </a:spcBef>
              <a:spcAft>
                <a:spcPts val="0"/>
              </a:spcAft>
              <a:defRPr sz="3600" b="1">
                <a:solidFill>
                  <a:srgbClr val="20282D"/>
                </a:solidFill>
                <a:latin typeface="DejaVu Sans"/>
              </a:defRPr>
            </a:pPr>
            <a:r>
              <a:t>Why Should Customers Choose Your Business?</a:t>
            </a:r>
          </a:p>
        </p:txBody>
      </p:sp>
      <p:cxnSp>
        <p:nvCxnSpPr>
          <p:cNvPr id="3" name="Connector 2"/>
          <p:cNvCxnSpPr/>
          <p:nvPr/>
        </p:nvCxnSpPr>
        <p:spPr>
          <a:xfrm>
            <a:off x="566928" y="6345936"/>
            <a:ext cx="11055096" cy="0"/>
          </a:xfrm>
          <a:prstGeom prst="line">
            <a:avLst/>
          </a:prstGeom>
          <a:ln w="12700">
            <a:solidFill>
              <a:srgbClr val="D3DBDF"/>
            </a:solidFill>
          </a:ln>
        </p:spPr>
      </p:cxnSp>
      <p:sp>
        <p:nvSpPr>
          <p:cNvPr id="4" name="TextBox 3"/>
          <p:cNvSpPr txBox="1"/>
          <p:nvPr/>
        </p:nvSpPr>
        <p:spPr>
          <a:xfrm>
            <a:off x="566928" y="6473952"/>
            <a:ext cx="9784080" cy="201168"/>
          </a:xfrm>
          <a:prstGeom prst="rect">
            <a:avLst/>
          </a:prstGeom>
          <a:noFill/>
        </p:spPr>
        <p:txBody>
          <a:bodyPr wrap="square" lIns="0" rIns="0" tIns="0" bIns="0" anchor="t">
            <a:spAutoFit/>
          </a:bodyPr>
          <a:lstStyle/>
          <a:p>
            <a:pPr algn="l">
              <a:lnSpc>
                <a:spcPct val="100000"/>
              </a:lnSpc>
              <a:spcBef>
                <a:spcPts val="0"/>
              </a:spcBef>
              <a:spcAft>
                <a:spcPts val="0"/>
              </a:spcAft>
              <a:defRPr sz="1100" b="0">
                <a:solidFill>
                  <a:srgbClr val="586269"/>
                </a:solidFill>
                <a:latin typeface="DejaVu Sans"/>
              </a:defRPr>
            </a:pPr>
            <a:r>
              <a:t>INSTAPRENYUA / MASTERCLASS</a:t>
            </a:r>
          </a:p>
        </p:txBody>
      </p:sp>
      <p:sp>
        <p:nvSpPr>
          <p:cNvPr id="5" name="TextBox 4"/>
          <p:cNvSpPr txBox="1"/>
          <p:nvPr/>
        </p:nvSpPr>
        <p:spPr>
          <a:xfrm>
            <a:off x="11082528" y="6441948"/>
            <a:ext cx="530352" cy="256032"/>
          </a:xfrm>
          <a:prstGeom prst="rect">
            <a:avLst/>
          </a:prstGeom>
          <a:noFill/>
        </p:spPr>
        <p:txBody>
          <a:bodyPr wrap="square" lIns="0" rIns="0" tIns="0" bIns="0" anchor="t">
            <a:spAutoFit/>
          </a:bodyPr>
          <a:lstStyle/>
          <a:p>
            <a:pPr algn="r">
              <a:lnSpc>
                <a:spcPct val="100000"/>
              </a:lnSpc>
              <a:spcBef>
                <a:spcPts val="0"/>
              </a:spcBef>
              <a:spcAft>
                <a:spcPts val="0"/>
              </a:spcAft>
              <a:defRPr sz="1300" b="0">
                <a:solidFill>
                  <a:srgbClr val="586269"/>
                </a:solidFill>
                <a:latin typeface="DejaVu Sans"/>
              </a:defRPr>
            </a:pPr>
            <a:r>
              <a:t>09</a:t>
            </a:r>
          </a:p>
        </p:txBody>
      </p:sp>
      <p:sp>
        <p:nvSpPr>
          <p:cNvPr id="6" name="TextBox 5"/>
          <p:cNvSpPr txBox="1"/>
          <p:nvPr/>
        </p:nvSpPr>
        <p:spPr>
          <a:xfrm>
            <a:off x="585216" y="1901952"/>
            <a:ext cx="10789920" cy="292608"/>
          </a:xfrm>
          <a:prstGeom prst="rect">
            <a:avLst/>
          </a:prstGeom>
          <a:noFill/>
        </p:spPr>
        <p:txBody>
          <a:bodyPr wrap="square" lIns="0" rIns="0" tIns="0" bIns="0" anchor="t">
            <a:spAutoFit/>
          </a:bodyPr>
          <a:lstStyle/>
          <a:p>
            <a:pPr algn="l">
              <a:lnSpc>
                <a:spcPct val="113000"/>
              </a:lnSpc>
              <a:spcBef>
                <a:spcPts val="0"/>
              </a:spcBef>
              <a:spcAft>
                <a:spcPts val="0"/>
              </a:spcAft>
              <a:defRPr sz="1600" b="0">
                <a:solidFill>
                  <a:srgbClr val="586269"/>
                </a:solidFill>
                <a:latin typeface="DejaVu Sans"/>
              </a:defRPr>
            </a:pPr>
            <a:r>
              <a:t>Closing self-audit · 75 seconds</a:t>
            </a:r>
          </a:p>
        </p:txBody>
      </p:sp>
      <p:sp>
        <p:nvSpPr>
          <p:cNvPr id="7" name="Rectangle 6"/>
          <p:cNvSpPr/>
          <p:nvPr/>
        </p:nvSpPr>
        <p:spPr>
          <a:xfrm>
            <a:off x="585216" y="2459736"/>
            <a:ext cx="548640" cy="68580"/>
          </a:xfrm>
          <a:prstGeom prst="rect">
            <a:avLst/>
          </a:prstGeom>
          <a:solidFill>
            <a:srgbClr val="425968"/>
          </a:solidFill>
          <a:ln>
            <a:noFill/>
          </a:ln>
          <a:effectLst/>
        </p:spPr>
        <p:txBody>
          <a:bodyPr rtlCol="0" anchor="ctr"/>
          <a:lstStyle/>
          <a:p>
            <a:pPr algn="ctr"/>
          </a:p>
        </p:txBody>
      </p:sp>
      <p:sp>
        <p:nvSpPr>
          <p:cNvPr id="8" name="TextBox 7"/>
          <p:cNvSpPr txBox="1"/>
          <p:nvPr/>
        </p:nvSpPr>
        <p:spPr>
          <a:xfrm>
            <a:off x="585216" y="2724912"/>
            <a:ext cx="3364992" cy="804672"/>
          </a:xfrm>
          <a:prstGeom prst="rect">
            <a:avLst/>
          </a:prstGeom>
          <a:noFill/>
        </p:spPr>
        <p:txBody>
          <a:bodyPr wrap="square" lIns="0" rIns="0" tIns="0" bIns="0" anchor="t">
            <a:spAutoFit/>
          </a:bodyPr>
          <a:lstStyle/>
          <a:p>
            <a:pPr algn="l">
              <a:lnSpc>
                <a:spcPct val="110000"/>
              </a:lnSpc>
              <a:spcBef>
                <a:spcPts val="0"/>
              </a:spcBef>
              <a:spcAft>
                <a:spcPts val="0"/>
              </a:spcAft>
              <a:defRPr sz="2300" b="1">
                <a:solidFill>
                  <a:srgbClr val="425968"/>
                </a:solidFill>
                <a:latin typeface="DejaVu Sans"/>
              </a:defRPr>
            </a:pPr>
            <a:r>
              <a:t>Customer Intelligence</a:t>
            </a:r>
          </a:p>
        </p:txBody>
      </p:sp>
      <p:sp>
        <p:nvSpPr>
          <p:cNvPr id="9" name="TextBox 8"/>
          <p:cNvSpPr txBox="1"/>
          <p:nvPr/>
        </p:nvSpPr>
        <p:spPr>
          <a:xfrm>
            <a:off x="585216" y="3721608"/>
            <a:ext cx="3355848" cy="1737360"/>
          </a:xfrm>
          <a:prstGeom prst="rect">
            <a:avLst/>
          </a:prstGeom>
          <a:noFill/>
        </p:spPr>
        <p:txBody>
          <a:bodyPr wrap="square" lIns="0" rIns="0" tIns="0" bIns="0" anchor="t">
            <a:spAutoFit/>
          </a:bodyPr>
          <a:lstStyle/>
          <a:p>
            <a:pPr algn="l">
              <a:lnSpc>
                <a:spcPct val="115000"/>
              </a:lnSpc>
              <a:spcBef>
                <a:spcPts val="0"/>
              </a:spcBef>
              <a:spcAft>
                <a:spcPts val="0"/>
              </a:spcAft>
              <a:defRPr sz="2200" b="0">
                <a:solidFill>
                  <a:srgbClr val="20282D"/>
                </a:solidFill>
                <a:latin typeface="DejaVu Sans"/>
              </a:defRPr>
            </a:pPr>
            <a:r>
              <a:t>Do I really understand who buys from me, what they value and whether genuine demand exists?</a:t>
            </a:r>
          </a:p>
        </p:txBody>
      </p:sp>
      <p:cxnSp>
        <p:nvCxnSpPr>
          <p:cNvPr id="10" name="Connector 9"/>
          <p:cNvCxnSpPr/>
          <p:nvPr/>
        </p:nvCxnSpPr>
        <p:spPr>
          <a:xfrm>
            <a:off x="4169663" y="2478024"/>
            <a:ext cx="0" cy="2907792"/>
          </a:xfrm>
          <a:prstGeom prst="line">
            <a:avLst/>
          </a:prstGeom>
          <a:ln w="12700">
            <a:solidFill>
              <a:srgbClr val="D3DBDF"/>
            </a:solidFill>
          </a:ln>
        </p:spPr>
      </p:cxnSp>
      <p:sp>
        <p:nvSpPr>
          <p:cNvPr id="11" name="Rectangle 10"/>
          <p:cNvSpPr/>
          <p:nvPr/>
        </p:nvSpPr>
        <p:spPr>
          <a:xfrm>
            <a:off x="4398264" y="2459736"/>
            <a:ext cx="548640" cy="68580"/>
          </a:xfrm>
          <a:prstGeom prst="rect">
            <a:avLst/>
          </a:prstGeom>
          <a:solidFill>
            <a:srgbClr val="425968"/>
          </a:solidFill>
          <a:ln>
            <a:noFill/>
          </a:ln>
          <a:effectLst/>
        </p:spPr>
        <p:txBody>
          <a:bodyPr rtlCol="0" anchor="ctr"/>
          <a:lstStyle/>
          <a:p>
            <a:pPr algn="ctr"/>
          </a:p>
        </p:txBody>
      </p:sp>
      <p:sp>
        <p:nvSpPr>
          <p:cNvPr id="12" name="TextBox 11"/>
          <p:cNvSpPr txBox="1"/>
          <p:nvPr/>
        </p:nvSpPr>
        <p:spPr>
          <a:xfrm>
            <a:off x="4398264" y="2724912"/>
            <a:ext cx="3364992" cy="804672"/>
          </a:xfrm>
          <a:prstGeom prst="rect">
            <a:avLst/>
          </a:prstGeom>
          <a:noFill/>
        </p:spPr>
        <p:txBody>
          <a:bodyPr wrap="square" lIns="0" rIns="0" tIns="0" bIns="0" anchor="t">
            <a:spAutoFit/>
          </a:bodyPr>
          <a:lstStyle/>
          <a:p>
            <a:pPr algn="l">
              <a:lnSpc>
                <a:spcPct val="110000"/>
              </a:lnSpc>
              <a:spcBef>
                <a:spcPts val="0"/>
              </a:spcBef>
              <a:spcAft>
                <a:spcPts val="0"/>
              </a:spcAft>
              <a:defRPr sz="2300" b="1">
                <a:solidFill>
                  <a:srgbClr val="425968"/>
                </a:solidFill>
                <a:latin typeface="DejaVu Sans"/>
              </a:defRPr>
            </a:pPr>
            <a:r>
              <a:t>Exceptional Customer Value</a:t>
            </a:r>
          </a:p>
        </p:txBody>
      </p:sp>
      <p:sp>
        <p:nvSpPr>
          <p:cNvPr id="13" name="TextBox 12"/>
          <p:cNvSpPr txBox="1"/>
          <p:nvPr/>
        </p:nvSpPr>
        <p:spPr>
          <a:xfrm>
            <a:off x="4398264" y="3721608"/>
            <a:ext cx="3355848" cy="1737360"/>
          </a:xfrm>
          <a:prstGeom prst="rect">
            <a:avLst/>
          </a:prstGeom>
          <a:noFill/>
        </p:spPr>
        <p:txBody>
          <a:bodyPr wrap="square" lIns="0" rIns="0" tIns="0" bIns="0" anchor="t">
            <a:spAutoFit/>
          </a:bodyPr>
          <a:lstStyle/>
          <a:p>
            <a:pPr algn="l">
              <a:lnSpc>
                <a:spcPct val="115000"/>
              </a:lnSpc>
              <a:spcBef>
                <a:spcPts val="0"/>
              </a:spcBef>
              <a:spcAft>
                <a:spcPts val="0"/>
              </a:spcAft>
              <a:defRPr sz="2200" b="0">
                <a:solidFill>
                  <a:srgbClr val="20282D"/>
                </a:solidFill>
                <a:latin typeface="DejaVu Sans"/>
              </a:defRPr>
            </a:pPr>
            <a:r>
              <a:t>What makes my product quality, expertise and customer experience genuinely worth choosing?</a:t>
            </a:r>
          </a:p>
        </p:txBody>
      </p:sp>
      <p:cxnSp>
        <p:nvCxnSpPr>
          <p:cNvPr id="14" name="Connector 13"/>
          <p:cNvCxnSpPr/>
          <p:nvPr/>
        </p:nvCxnSpPr>
        <p:spPr>
          <a:xfrm>
            <a:off x="7982712" y="2478024"/>
            <a:ext cx="0" cy="2907792"/>
          </a:xfrm>
          <a:prstGeom prst="line">
            <a:avLst/>
          </a:prstGeom>
          <a:ln w="12700">
            <a:solidFill>
              <a:srgbClr val="D3DBDF"/>
            </a:solidFill>
          </a:ln>
        </p:spPr>
      </p:cxnSp>
      <p:sp>
        <p:nvSpPr>
          <p:cNvPr id="15" name="Rectangle 14"/>
          <p:cNvSpPr/>
          <p:nvPr/>
        </p:nvSpPr>
        <p:spPr>
          <a:xfrm>
            <a:off x="8211312" y="2459736"/>
            <a:ext cx="548640" cy="68580"/>
          </a:xfrm>
          <a:prstGeom prst="rect">
            <a:avLst/>
          </a:prstGeom>
          <a:solidFill>
            <a:srgbClr val="425968"/>
          </a:solidFill>
          <a:ln>
            <a:noFill/>
          </a:ln>
          <a:effectLst/>
        </p:spPr>
        <p:txBody>
          <a:bodyPr rtlCol="0" anchor="ctr"/>
          <a:lstStyle/>
          <a:p>
            <a:pPr algn="ctr"/>
          </a:p>
        </p:txBody>
      </p:sp>
      <p:sp>
        <p:nvSpPr>
          <p:cNvPr id="16" name="TextBox 15"/>
          <p:cNvSpPr txBox="1"/>
          <p:nvPr/>
        </p:nvSpPr>
        <p:spPr>
          <a:xfrm>
            <a:off x="8211312" y="2724912"/>
            <a:ext cx="3364992" cy="804672"/>
          </a:xfrm>
          <a:prstGeom prst="rect">
            <a:avLst/>
          </a:prstGeom>
          <a:noFill/>
        </p:spPr>
        <p:txBody>
          <a:bodyPr wrap="square" lIns="0" rIns="0" tIns="0" bIns="0" anchor="t">
            <a:spAutoFit/>
          </a:bodyPr>
          <a:lstStyle/>
          <a:p>
            <a:pPr algn="l">
              <a:lnSpc>
                <a:spcPct val="110000"/>
              </a:lnSpc>
              <a:spcBef>
                <a:spcPts val="0"/>
              </a:spcBef>
              <a:spcAft>
                <a:spcPts val="0"/>
              </a:spcAft>
              <a:defRPr sz="2300" b="1">
                <a:solidFill>
                  <a:srgbClr val="425968"/>
                </a:solidFill>
                <a:latin typeface="DejaVu Sans"/>
              </a:defRPr>
            </a:pPr>
            <a:r>
              <a:t>Continuous Customer Learning</a:t>
            </a:r>
          </a:p>
        </p:txBody>
      </p:sp>
      <p:sp>
        <p:nvSpPr>
          <p:cNvPr id="17" name="TextBox 16"/>
          <p:cNvSpPr txBox="1"/>
          <p:nvPr/>
        </p:nvSpPr>
        <p:spPr>
          <a:xfrm>
            <a:off x="8211312" y="3721608"/>
            <a:ext cx="3355848" cy="1737360"/>
          </a:xfrm>
          <a:prstGeom prst="rect">
            <a:avLst/>
          </a:prstGeom>
          <a:noFill/>
        </p:spPr>
        <p:txBody>
          <a:bodyPr wrap="square" lIns="0" rIns="0" tIns="0" bIns="0" anchor="t">
            <a:spAutoFit/>
          </a:bodyPr>
          <a:lstStyle/>
          <a:p>
            <a:pPr algn="l">
              <a:lnSpc>
                <a:spcPct val="115000"/>
              </a:lnSpc>
              <a:spcBef>
                <a:spcPts val="0"/>
              </a:spcBef>
              <a:spcAft>
                <a:spcPts val="0"/>
              </a:spcAft>
              <a:defRPr sz="2200" b="0">
                <a:solidFill>
                  <a:srgbClr val="20282D"/>
                </a:solidFill>
                <a:latin typeface="DejaVu Sans"/>
              </a:defRPr>
            </a:pPr>
            <a:r>
              <a:t>What have I learned from actual customers that has changed or improved my business?</a:t>
            </a:r>
          </a:p>
        </p:txBody>
      </p:sp>
      <p:sp>
        <p:nvSpPr>
          <p:cNvPr id="18" name="TextBox 17"/>
          <p:cNvSpPr txBox="1"/>
          <p:nvPr/>
        </p:nvSpPr>
        <p:spPr>
          <a:xfrm>
            <a:off x="585216" y="5815584"/>
            <a:ext cx="11018520" cy="384048"/>
          </a:xfrm>
          <a:prstGeom prst="rect">
            <a:avLst/>
          </a:prstGeom>
          <a:noFill/>
        </p:spPr>
        <p:txBody>
          <a:bodyPr wrap="square" lIns="0" rIns="0" tIns="0" bIns="0" anchor="t">
            <a:spAutoFit/>
          </a:bodyPr>
          <a:lstStyle/>
          <a:p>
            <a:pPr algn="l">
              <a:lnSpc>
                <a:spcPct val="100000"/>
              </a:lnSpc>
              <a:spcBef>
                <a:spcPts val="0"/>
              </a:spcBef>
              <a:spcAft>
                <a:spcPts val="0"/>
              </a:spcAft>
              <a:defRPr sz="2100" b="1">
                <a:solidFill>
                  <a:srgbClr val="425968"/>
                </a:solidFill>
                <a:latin typeface="DejaVu Sans"/>
              </a:defRPr>
            </a:pPr>
            <a:r>
              <a:t>Choose one improvement. Define the evidence. Set a review date.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Products, Different Sellers. Why Should Customers Choose You?</dc:title>
  <dc:subject>A practical self-reflection to uncover what your customers truly value—and how to build a business they trust and recommend.</dc:subject>
  <dc:creator>Instaprenyua</dc:creator>
  <cp:keywords>Customer Intelligence, Exceptional Customer Value, Continuous Customer Learning</cp:keywords>
  <dc:description>Neutral editorial draft. No official brand assets supplied; white, charcoal and muted slate are design choices, not official Instaprenyua colours. All text and visual elements are editable native PowerPoint objects.</dc:description>
  <cp:lastModifiedBy>Steve Canny</cp:lastModifiedBy>
  <cp:revision>1</cp:revision>
  <dcterms:created xsi:type="dcterms:W3CDTF">2013-01-27T09:14:16Z</dcterms:created>
  <dcterms:modified xsi:type="dcterms:W3CDTF">2013-01-27T09:15:58Z</dcterms:modified>
  <cp:category/>
</cp:coreProperties>
</file>