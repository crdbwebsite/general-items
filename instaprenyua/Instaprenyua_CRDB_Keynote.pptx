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Tanzanian entrepreneurs selling through Instagram, Facebook and WhatsApp, often from a smartphone and with a limited marketing budget. Use a refrigerator as an illustrative marketing story, not a verified product endorsement. Brand treatment uses the reference palette from the brief, not an independently verified corporate style guide. An official logo and two required refrigerator photographs were not supplied; official website access was denied, so the logo is a labelled placeholder. Replace only with an authentic approved asset. PowerPoint uses standard editable shapes and text; no native Apple Keynote export is available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Google and Instagram search suggestions plus common DMs and WhatsApp questions to identify search phrases and buying needs. Write clear product names, captions, profile descriptions and locations. Publish original Reels showing demonstrations, comparisons, buying advice and answers to real questions. In Instagram Insights, look for relevant non-follower interest and the inquiries it generates. The diagram is a conceptual discovery journey, not a claim about platform algorithms. Public eligible Instagram professional-account posts may be indexed by Google; search visibility and Instagram recommendations are not guaranteed. Recommendations are not a manually controllable search ranking. Use natural wording, never keyword stuffing.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conceptual Instagram posts must use the exact same fridge_product_closed.png asset so the comparison changes the marketing approach, not the product. The photo is currently missing. The highlighted search phrase addresses a small-home need; the rest gives the buyer criteria to investigate. This is a sample content idea, not a claim that the pictured refrigerator has verified capacity, dimensions or electricity-use specifications. Confirm manufacturer information before publishing product claims. Helpful content may create opportunities in search and recommendations but cannot guarantee either. No real Instagram post, engagement counts or campaign results are represented.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a product with demonstrated customer interest and enough contribution to support acquisition cost. Start a small Facebook/Instagram Click-to-WhatsApp test with one offer and two authentic creative variations sharing the budget; target only locations the business can serve. Meta Ads Manager may use Engagement → Messaging apps / WhatsApp, subject to the current account UI and eligibility. Connect the required business assets and WhatsApp number. Initially optimize for messaging conversations if purchase optimization is unavailable, then manually assess completed paid purchase outcomes. Record ad spend, new paying customers and paid orders attributable to the campaign; avoid counting organic orders as ad results. Customer acquisition cost = ad spend ÷ new paying customers. Cost per purchase = ad spend ÷ paid orders; these differ if one customer orders more than once. The flow and chat are conceptual, not real platform screenshots. Confirm available budget settings, billing currency, taxes and actual minimum budget before launch.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before ads = sale revenue less direct product costs included in the illustration. If there are further variable selling costs, include them before using this as the true available contribution. Contribution after advertising = number of paid sales × TZS 15,000 − TZS 35,000. One sale: 15,000 − 35,000 = −20,000. Three sales: 45,000 − 35,000 = +10,000. Five sales: 75,000 − 35,000 = +40,000. Two sales leave −5,000, hence at least three whole paid sales cover the ad cost under these assumptions. These are contribution figures, not net profit; fixed overheads, taxes and unaccounted costs are excluded. The numbers are illustrative, not a forecast or a guarantee. Actual Meta budget minimums vary by account, currency and setup. Track completed paid orders genuinely attributable to the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lifestyle photograph fridge_lifestyle_open.png shows a different refrigerator model from fridge_product_closed.png. It illustrates a customer situation only; never imply both photographs show the same product. The required photograph is not yet supplied. This WhatsApp-style conversation is conceptual and contains no invented price or specifications. Show honest product demonstrations, comparisons, genuine benefits and accurate expectations. Ask about available space and storage needs before recommending suitable options. Then explain transparent prices, availability, delivery information and payment instructions through WhatsApp. Follow up appropriately on unresolved inquiries without pressure. Verify all product claims from reliable manufacturer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refrigerator is an infrequent purchase. Referrals, future consideration or a relevant complementary purchase may be more realistic than an immediate second refrigerator sale. Maintain relationships by checking the buying experience, sharing useful manufacturer-supported usage and care guidance, and learning from feedback. Personalize messages to actual needs. Ask permission before ongoing promotional communication, respect customer communication preferences and make opting out easy. Avoid overwhelming people with promotions. Invite satisfied customers to recommend the business without pressure or fabricated endorsements. Use feedback to improve both future communications and the customer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joining the journey: organic discovery helps relevant people find you; affordable ad tests expand reach; trusted advice and a clear buying path turn inquiries into purchases; helpful customer care supports repeat business and recommendations. Ask participants to choose one improvement they can make from their smartphone, and one business outcome to track. No financial product promotion or product endorsement is implied.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5732"/>
        </a:solidFill>
        <a:effectLst/>
      </p:bgPr>
    </p:bg>
    <p:spTree>
      <p:nvGrpSpPr>
        <p:cNvPr id="1" name=""/>
        <p:cNvGrpSpPr/>
        <p:nvPr/>
      </p:nvGrpSpPr>
      <p:grpSpPr/>
      <p:sp>
        <p:nvSpPr>
          <p:cNvPr id="2" name="TextBox 1"/>
          <p:cNvSpPr txBox="1"/>
          <p:nvPr/>
        </p:nvSpPr>
        <p:spPr>
          <a:xfrm>
            <a:off x="594360" y="356616"/>
            <a:ext cx="9144000" cy="228600"/>
          </a:xfrm>
          <a:prstGeom prst="rect">
            <a:avLst/>
          </a:prstGeom>
          <a:noFill/>
        </p:spPr>
        <p:txBody>
          <a:bodyPr wrap="square" lIns="0" rIns="0" tIns="0" bIns="0">
            <a:spAutoFit/>
          </a:bodyPr>
          <a:lstStyle/>
          <a:p>
            <a:pPr>
              <a:spcAft>
                <a:spcPts val="500"/>
              </a:spcAft>
              <a:defRPr sz="1000" b="1">
                <a:solidFill>
                  <a:srgbClr val="FFFFFF"/>
                </a:solidFill>
                <a:latin typeface="DejaVu Sans"/>
              </a:defRPr>
            </a:pPr>
            <a:r>
              <a:t>INSTAPRENYUA  /  CRDB MASTERCLASS</a:t>
            </a:r>
          </a:p>
        </p:txBody>
      </p:sp>
      <p:sp>
        <p:nvSpPr>
          <p:cNvPr id="3" name="Rectangle 2"/>
          <p:cNvSpPr/>
          <p:nvPr/>
        </p:nvSpPr>
        <p:spPr>
          <a:xfrm>
            <a:off x="10213848" y="301752"/>
            <a:ext cx="1380744" cy="448056"/>
          </a:xfrm>
          <a:prstGeom prst="rect">
            <a:avLst/>
          </a:prstGeom>
          <a:solidFill>
            <a:srgbClr val="215732"/>
          </a:solidFill>
          <a:ln w="10160">
            <a:solidFill>
              <a:srgbClr val="86A18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287000" y="365760"/>
            <a:ext cx="1234440" cy="320040"/>
          </a:xfrm>
          <a:prstGeom prst="rect">
            <a:avLst/>
          </a:prstGeom>
          <a:noFill/>
        </p:spPr>
        <p:txBody>
          <a:bodyPr wrap="square" lIns="0" rIns="0" tIns="0" bIns="0">
            <a:spAutoFit/>
          </a:bodyPr>
          <a:lstStyle/>
          <a:p>
            <a:pPr algn="ctr">
              <a:spcAft>
                <a:spcPts val="500"/>
              </a:spcAft>
              <a:defRPr sz="850" b="0">
                <a:solidFill>
                  <a:srgbClr val="FFFFFF"/>
                </a:solidFill>
                <a:latin typeface="DejaVu Sans"/>
              </a:defRPr>
            </a:pPr>
            <a:r>
              <a:t>CRDB logo</a:t>
            </a:r>
          </a:p>
          <a:p>
            <a:pPr algn="ctr">
              <a:spcAft>
                <a:spcPts val="500"/>
              </a:spcAft>
              <a:defRPr sz="850" b="0">
                <a:solidFill>
                  <a:srgbClr val="FFFFFF"/>
                </a:solidFill>
                <a:latin typeface="DejaVu Sans"/>
              </a:defRPr>
            </a:pPr>
            <a:r>
              <a:t>asset needed</a:t>
            </a:r>
          </a:p>
        </p:txBody>
      </p:sp>
      <p:sp>
        <p:nvSpPr>
          <p:cNvPr id="5" name="TextBox 4"/>
          <p:cNvSpPr txBox="1"/>
          <p:nvPr/>
        </p:nvSpPr>
        <p:spPr>
          <a:xfrm>
            <a:off x="11201400" y="6519672"/>
            <a:ext cx="384048" cy="182880"/>
          </a:xfrm>
          <a:prstGeom prst="rect">
            <a:avLst/>
          </a:prstGeom>
          <a:noFill/>
        </p:spPr>
        <p:txBody>
          <a:bodyPr wrap="square" lIns="0" rIns="0" tIns="0" bIns="0">
            <a:spAutoFit/>
          </a:bodyPr>
          <a:lstStyle/>
          <a:p>
            <a:pPr>
              <a:spcAft>
                <a:spcPts val="500"/>
              </a:spcAft>
              <a:defRPr sz="900" b="0">
                <a:solidFill>
                  <a:srgbClr val="D8E8D7"/>
                </a:solidFill>
                <a:latin typeface="DejaVu Sans"/>
              </a:defRPr>
            </a:pPr>
            <a:r>
              <a:t>01</a:t>
            </a:r>
          </a:p>
        </p:txBody>
      </p:sp>
      <p:sp>
        <p:nvSpPr>
          <p:cNvPr id="6" name="TextBox 5"/>
          <p:cNvSpPr txBox="1"/>
          <p:nvPr/>
        </p:nvSpPr>
        <p:spPr>
          <a:xfrm>
            <a:off x="594360" y="1508760"/>
            <a:ext cx="10881360" cy="3108960"/>
          </a:xfrm>
          <a:prstGeom prst="rect">
            <a:avLst/>
          </a:prstGeom>
          <a:noFill/>
        </p:spPr>
        <p:txBody>
          <a:bodyPr wrap="square" lIns="0" rIns="0" tIns="0" bIns="0">
            <a:spAutoFit/>
          </a:bodyPr>
          <a:lstStyle/>
          <a:p>
            <a:pPr>
              <a:spcAft>
                <a:spcPts val="500"/>
              </a:spcAft>
              <a:defRPr sz="3700" b="1">
                <a:solidFill>
                  <a:srgbClr val="FFFFFF"/>
                </a:solidFill>
                <a:latin typeface="DejaVu Sans"/>
              </a:defRPr>
            </a:pPr>
            <a:r>
              <a:t>Attract the Right Customers Online,</a:t>
            </a:r>
          </a:p>
          <a:p>
            <a:pPr>
              <a:spcAft>
                <a:spcPts val="500"/>
              </a:spcAft>
              <a:defRPr sz="3700" b="1">
                <a:solidFill>
                  <a:srgbClr val="FFFFFF"/>
                </a:solidFill>
                <a:latin typeface="DejaVu Sans"/>
              </a:defRPr>
            </a:pPr>
            <a:r>
              <a:t>Drive More Sales, and</a:t>
            </a:r>
          </a:p>
          <a:p>
            <a:pPr>
              <a:spcAft>
                <a:spcPts val="500"/>
              </a:spcAft>
              <a:defRPr sz="3700" b="1">
                <a:solidFill>
                  <a:srgbClr val="FFFFFF"/>
                </a:solidFill>
                <a:latin typeface="DejaVu Sans"/>
              </a:defRPr>
            </a:pPr>
            <a:r>
              <a:t>Keep Them Coming Back</a:t>
            </a:r>
          </a:p>
        </p:txBody>
      </p:sp>
      <p:sp>
        <p:nvSpPr>
          <p:cNvPr id="7" name="TextBox 6"/>
          <p:cNvSpPr txBox="1"/>
          <p:nvPr/>
        </p:nvSpPr>
        <p:spPr>
          <a:xfrm>
            <a:off x="594360" y="5001768"/>
            <a:ext cx="10881360" cy="548640"/>
          </a:xfrm>
          <a:prstGeom prst="rect">
            <a:avLst/>
          </a:prstGeom>
          <a:noFill/>
        </p:spPr>
        <p:txBody>
          <a:bodyPr wrap="square" lIns="0" rIns="0" tIns="0" bIns="0">
            <a:spAutoFit/>
          </a:bodyPr>
          <a:lstStyle/>
          <a:p>
            <a:pPr>
              <a:spcAft>
                <a:spcPts val="500"/>
              </a:spcAft>
              <a:defRPr sz="2300" b="0">
                <a:solidFill>
                  <a:srgbClr val="E1EFDE"/>
                </a:solidFill>
                <a:latin typeface="DejaVu Sans"/>
              </a:defRPr>
            </a:pPr>
            <a:r>
              <a:t>Practical digital marketing strategies for entrepreneurs</a:t>
            </a:r>
          </a:p>
        </p:txBody>
      </p:sp>
      <p:sp>
        <p:nvSpPr>
          <p:cNvPr id="8" name="TextBox 7"/>
          <p:cNvSpPr txBox="1"/>
          <p:nvPr/>
        </p:nvSpPr>
        <p:spPr>
          <a:xfrm>
            <a:off x="594360" y="5961888"/>
            <a:ext cx="10789920" cy="320040"/>
          </a:xfrm>
          <a:prstGeom prst="rect">
            <a:avLst/>
          </a:prstGeom>
          <a:noFill/>
        </p:spPr>
        <p:txBody>
          <a:bodyPr wrap="square" lIns="0" rIns="0" tIns="0" bIns="0">
            <a:spAutoFit/>
          </a:bodyPr>
          <a:lstStyle/>
          <a:p>
            <a:pPr>
              <a:spcAft>
                <a:spcPts val="500"/>
              </a:spcAft>
              <a:defRPr sz="1200" b="1">
                <a:solidFill>
                  <a:srgbClr val="CBE7C3"/>
                </a:solidFill>
                <a:latin typeface="DejaVu Sans"/>
              </a:defRPr>
            </a:pPr>
            <a:r>
              <a:t>ORGANIC DISCOVERY   /   AFFORDABLE ADVERTISING   /   LASTING RELATIONSHIPS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56616"/>
            <a:ext cx="9144000" cy="228600"/>
          </a:xfrm>
          <a:prstGeom prst="rect">
            <a:avLst/>
          </a:prstGeom>
          <a:noFill/>
        </p:spPr>
        <p:txBody>
          <a:bodyPr wrap="square" lIns="0" rIns="0" tIns="0" bIns="0">
            <a:spAutoFit/>
          </a:bodyPr>
          <a:lstStyle/>
          <a:p>
            <a:pPr>
              <a:spcAft>
                <a:spcPts val="500"/>
              </a:spcAft>
              <a:defRPr sz="1000" b="1">
                <a:solidFill>
                  <a:srgbClr val="215732"/>
                </a:solidFill>
                <a:latin typeface="DejaVu Sans"/>
              </a:defRPr>
            </a:pPr>
            <a:r>
              <a:t>INSTAPRENYUA  /  01 / ORGANIC DISCOVERY</a:t>
            </a:r>
          </a:p>
        </p:txBody>
      </p:sp>
      <p:sp>
        <p:nvSpPr>
          <p:cNvPr id="3" name="Rectangle 2"/>
          <p:cNvSpPr/>
          <p:nvPr/>
        </p:nvSpPr>
        <p:spPr>
          <a:xfrm>
            <a:off x="10213848" y="301752"/>
            <a:ext cx="1380744" cy="448056"/>
          </a:xfrm>
          <a:prstGeom prst="rect">
            <a:avLst/>
          </a:prstGeom>
          <a:solidFill>
            <a:srgbClr val="FFFFFF"/>
          </a:solidFill>
          <a:ln w="10160">
            <a:solidFill>
              <a:srgbClr val="86A18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287000" y="365760"/>
            <a:ext cx="1234440" cy="320040"/>
          </a:xfrm>
          <a:prstGeom prst="rect">
            <a:avLst/>
          </a:prstGeom>
          <a:noFill/>
        </p:spPr>
        <p:txBody>
          <a:bodyPr wrap="square" lIns="0" rIns="0" tIns="0" bIns="0">
            <a:spAutoFit/>
          </a:bodyPr>
          <a:lstStyle/>
          <a:p>
            <a:pPr algn="ctr">
              <a:spcAft>
                <a:spcPts val="500"/>
              </a:spcAft>
              <a:defRPr sz="850" b="0">
                <a:solidFill>
                  <a:srgbClr val="5B6961"/>
                </a:solidFill>
                <a:latin typeface="DejaVu Sans"/>
              </a:defRPr>
            </a:pPr>
            <a:r>
              <a:t>CRDB logo</a:t>
            </a:r>
          </a:p>
          <a:p>
            <a:pPr algn="ctr">
              <a:spcAft>
                <a:spcPts val="500"/>
              </a:spcAft>
              <a:defRPr sz="850" b="0">
                <a:solidFill>
                  <a:srgbClr val="5B6961"/>
                </a:solidFill>
                <a:latin typeface="DejaVu Sans"/>
              </a:defRPr>
            </a:pPr>
            <a:r>
              <a:t>asset needed</a:t>
            </a:r>
          </a:p>
        </p:txBody>
      </p:sp>
      <p:sp>
        <p:nvSpPr>
          <p:cNvPr id="5" name="TextBox 4"/>
          <p:cNvSpPr txBox="1"/>
          <p:nvPr/>
        </p:nvSpPr>
        <p:spPr>
          <a:xfrm>
            <a:off x="11201400" y="6519672"/>
            <a:ext cx="384048" cy="182880"/>
          </a:xfrm>
          <a:prstGeom prst="rect">
            <a:avLst/>
          </a:prstGeom>
          <a:noFill/>
        </p:spPr>
        <p:txBody>
          <a:bodyPr wrap="square" lIns="0" rIns="0" tIns="0" bIns="0">
            <a:spAutoFit/>
          </a:bodyPr>
          <a:lstStyle/>
          <a:p>
            <a:pPr>
              <a:spcAft>
                <a:spcPts val="500"/>
              </a:spcAft>
              <a:defRPr sz="900" b="0">
                <a:solidFill>
                  <a:srgbClr val="5B6961"/>
                </a:solidFill>
                <a:latin typeface="DejaVu Sans"/>
              </a:defRPr>
            </a:pPr>
            <a:r>
              <a:t>02</a:t>
            </a:r>
          </a:p>
        </p:txBody>
      </p:sp>
      <p:sp>
        <p:nvSpPr>
          <p:cNvPr id="6" name="TextBox 5"/>
          <p:cNvSpPr txBox="1"/>
          <p:nvPr/>
        </p:nvSpPr>
        <p:spPr>
          <a:xfrm>
            <a:off x="594360" y="941832"/>
            <a:ext cx="11000232" cy="914400"/>
          </a:xfrm>
          <a:prstGeom prst="rect">
            <a:avLst/>
          </a:prstGeom>
          <a:noFill/>
        </p:spPr>
        <p:txBody>
          <a:bodyPr wrap="square" lIns="0" rIns="0" tIns="0" bIns="0">
            <a:spAutoFit/>
          </a:bodyPr>
          <a:lstStyle/>
          <a:p>
            <a:pPr>
              <a:spcAft>
                <a:spcPts val="500"/>
              </a:spcAft>
              <a:defRPr sz="3100" b="1">
                <a:solidFill>
                  <a:srgbClr val="172D23"/>
                </a:solidFill>
                <a:latin typeface="DejaVu Sans"/>
              </a:defRPr>
            </a:pPr>
            <a:r>
              <a:t>Help the right customers find your business</a:t>
            </a:r>
          </a:p>
        </p:txBody>
      </p:sp>
      <p:sp>
        <p:nvSpPr>
          <p:cNvPr id="7" name="Rectangle 6"/>
          <p:cNvSpPr/>
          <p:nvPr/>
        </p:nvSpPr>
        <p:spPr>
          <a:xfrm>
            <a:off x="594360" y="2240280"/>
            <a:ext cx="3246120" cy="484632"/>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40664" y="2331720"/>
            <a:ext cx="2971800" cy="320040"/>
          </a:xfrm>
          <a:prstGeom prst="rect">
            <a:avLst/>
          </a:prstGeom>
          <a:noFill/>
        </p:spPr>
        <p:txBody>
          <a:bodyPr wrap="square" lIns="0" rIns="0" tIns="0" bIns="0">
            <a:spAutoFit/>
          </a:bodyPr>
          <a:lstStyle/>
          <a:p>
            <a:pPr>
              <a:spcAft>
                <a:spcPts val="500"/>
              </a:spcAft>
              <a:defRPr sz="1450" b="1">
                <a:solidFill>
                  <a:srgbClr val="215732"/>
                </a:solidFill>
                <a:latin typeface="DejaVu Sans"/>
              </a:defRPr>
            </a:pPr>
            <a:r>
              <a:t>Google Search</a:t>
            </a:r>
          </a:p>
        </p:txBody>
      </p:sp>
      <p:sp>
        <p:nvSpPr>
          <p:cNvPr id="9" name="Rectangle 8"/>
          <p:cNvSpPr/>
          <p:nvPr/>
        </p:nvSpPr>
        <p:spPr>
          <a:xfrm>
            <a:off x="594360" y="2862072"/>
            <a:ext cx="3246120" cy="484632"/>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0664" y="2953512"/>
            <a:ext cx="2971800" cy="320040"/>
          </a:xfrm>
          <a:prstGeom prst="rect">
            <a:avLst/>
          </a:prstGeom>
          <a:noFill/>
        </p:spPr>
        <p:txBody>
          <a:bodyPr wrap="square" lIns="0" rIns="0" tIns="0" bIns="0">
            <a:spAutoFit/>
          </a:bodyPr>
          <a:lstStyle/>
          <a:p>
            <a:pPr>
              <a:spcAft>
                <a:spcPts val="500"/>
              </a:spcAft>
              <a:defRPr sz="1450" b="1">
                <a:solidFill>
                  <a:srgbClr val="215732"/>
                </a:solidFill>
                <a:latin typeface="DejaVu Sans"/>
              </a:defRPr>
            </a:pPr>
            <a:r>
              <a:t>Instagram Search</a:t>
            </a:r>
          </a:p>
        </p:txBody>
      </p:sp>
      <p:sp>
        <p:nvSpPr>
          <p:cNvPr id="11" name="Rectangle 10"/>
          <p:cNvSpPr/>
          <p:nvPr/>
        </p:nvSpPr>
        <p:spPr>
          <a:xfrm>
            <a:off x="594360" y="3483864"/>
            <a:ext cx="3246120" cy="484632"/>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0664" y="3575304"/>
            <a:ext cx="2971800" cy="320040"/>
          </a:xfrm>
          <a:prstGeom prst="rect">
            <a:avLst/>
          </a:prstGeom>
          <a:noFill/>
        </p:spPr>
        <p:txBody>
          <a:bodyPr wrap="square" lIns="0" rIns="0" tIns="0" bIns="0">
            <a:spAutoFit/>
          </a:bodyPr>
          <a:lstStyle/>
          <a:p>
            <a:pPr>
              <a:spcAft>
                <a:spcPts val="500"/>
              </a:spcAft>
              <a:defRPr sz="1450" b="1">
                <a:solidFill>
                  <a:srgbClr val="215732"/>
                </a:solidFill>
                <a:latin typeface="DejaVu Sans"/>
              </a:defRPr>
            </a:pPr>
            <a:r>
              <a:t>Instagram recommendations</a:t>
            </a:r>
          </a:p>
        </p:txBody>
      </p:sp>
      <p:sp>
        <p:nvSpPr>
          <p:cNvPr id="13" name="TextBox 12"/>
          <p:cNvSpPr txBox="1"/>
          <p:nvPr/>
        </p:nvSpPr>
        <p:spPr>
          <a:xfrm>
            <a:off x="4005072" y="2871216"/>
            <a:ext cx="411480" cy="457200"/>
          </a:xfrm>
          <a:prstGeom prst="rect">
            <a:avLst/>
          </a:prstGeom>
          <a:noFill/>
        </p:spPr>
        <p:txBody>
          <a:bodyPr wrap="square" lIns="0" rIns="0" tIns="0" bIns="0">
            <a:spAutoFit/>
          </a:bodyPr>
          <a:lstStyle/>
          <a:p>
            <a:pPr algn="ctr">
              <a:spcAft>
                <a:spcPts val="500"/>
              </a:spcAft>
              <a:defRPr sz="2500" b="1">
                <a:solidFill>
                  <a:srgbClr val="43B02A"/>
                </a:solidFill>
                <a:latin typeface="DejaVu Sans"/>
              </a:defRPr>
            </a:pPr>
            <a:r>
              <a:t>→</a:t>
            </a:r>
          </a:p>
        </p:txBody>
      </p:sp>
      <p:sp>
        <p:nvSpPr>
          <p:cNvPr id="14" name="Rectangle 13"/>
          <p:cNvSpPr/>
          <p:nvPr/>
        </p:nvSpPr>
        <p:spPr>
          <a:xfrm>
            <a:off x="4562856" y="2587752"/>
            <a:ext cx="3008376" cy="1389888"/>
          </a:xfrm>
          <a:prstGeom prst="rect">
            <a:avLst/>
          </a:prstGeom>
          <a:solidFill>
            <a:srgbClr val="2157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18304" y="2816352"/>
            <a:ext cx="2697480" cy="868680"/>
          </a:xfrm>
          <a:prstGeom prst="rect">
            <a:avLst/>
          </a:prstGeom>
          <a:noFill/>
        </p:spPr>
        <p:txBody>
          <a:bodyPr wrap="square" lIns="0" rIns="0" tIns="0" bIns="0">
            <a:spAutoFit/>
          </a:bodyPr>
          <a:lstStyle/>
          <a:p>
            <a:pPr algn="ctr">
              <a:spcAft>
                <a:spcPts val="500"/>
              </a:spcAft>
              <a:defRPr sz="2100" b="1">
                <a:solidFill>
                  <a:srgbClr val="FFFFFF"/>
                </a:solidFill>
                <a:latin typeface="DejaVu Sans"/>
              </a:defRPr>
            </a:pPr>
            <a:r>
              <a:t>Useful, original</a:t>
            </a:r>
          </a:p>
          <a:p>
            <a:pPr algn="ctr">
              <a:spcAft>
                <a:spcPts val="500"/>
              </a:spcAft>
              <a:defRPr sz="2100" b="1">
                <a:solidFill>
                  <a:srgbClr val="FFFFFF"/>
                </a:solidFill>
                <a:latin typeface="DejaVu Sans"/>
              </a:defRPr>
            </a:pPr>
            <a:r>
              <a:t>product content</a:t>
            </a:r>
          </a:p>
        </p:txBody>
      </p:sp>
      <p:sp>
        <p:nvSpPr>
          <p:cNvPr id="16" name="TextBox 15"/>
          <p:cNvSpPr txBox="1"/>
          <p:nvPr/>
        </p:nvSpPr>
        <p:spPr>
          <a:xfrm>
            <a:off x="7827264" y="2871216"/>
            <a:ext cx="411480" cy="457200"/>
          </a:xfrm>
          <a:prstGeom prst="rect">
            <a:avLst/>
          </a:prstGeom>
          <a:noFill/>
        </p:spPr>
        <p:txBody>
          <a:bodyPr wrap="square" lIns="0" rIns="0" tIns="0" bIns="0">
            <a:spAutoFit/>
          </a:bodyPr>
          <a:lstStyle/>
          <a:p>
            <a:pPr algn="ctr">
              <a:spcAft>
                <a:spcPts val="500"/>
              </a:spcAft>
              <a:defRPr sz="2500" b="1">
                <a:solidFill>
                  <a:srgbClr val="43B02A"/>
                </a:solidFill>
                <a:latin typeface="DejaVu Sans"/>
              </a:defRPr>
            </a:pPr>
            <a:r>
              <a:t>→</a:t>
            </a:r>
          </a:p>
        </p:txBody>
      </p:sp>
      <p:sp>
        <p:nvSpPr>
          <p:cNvPr id="17" name="Rectangle 16"/>
          <p:cNvSpPr/>
          <p:nvPr/>
        </p:nvSpPr>
        <p:spPr>
          <a:xfrm>
            <a:off x="8485632" y="2587752"/>
            <a:ext cx="3108960" cy="1389888"/>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22792" y="2816352"/>
            <a:ext cx="2834640" cy="868680"/>
          </a:xfrm>
          <a:prstGeom prst="rect">
            <a:avLst/>
          </a:prstGeom>
          <a:noFill/>
        </p:spPr>
        <p:txBody>
          <a:bodyPr wrap="square" lIns="0" rIns="0" tIns="0" bIns="0">
            <a:spAutoFit/>
          </a:bodyPr>
          <a:lstStyle/>
          <a:p>
            <a:pPr algn="ctr">
              <a:spcAft>
                <a:spcPts val="500"/>
              </a:spcAft>
              <a:defRPr sz="2100" b="1">
                <a:solidFill>
                  <a:srgbClr val="215732"/>
                </a:solidFill>
                <a:latin typeface="DejaVu Sans"/>
              </a:defRPr>
            </a:pPr>
            <a:r>
              <a:t>Potential customer</a:t>
            </a:r>
          </a:p>
          <a:p>
            <a:pPr algn="ctr">
              <a:spcAft>
                <a:spcPts val="500"/>
              </a:spcAft>
              <a:defRPr sz="2100" b="1">
                <a:solidFill>
                  <a:srgbClr val="215732"/>
                </a:solidFill>
                <a:latin typeface="DejaVu Sans"/>
              </a:defRPr>
            </a:pPr>
            <a:r>
              <a:t>inquiry</a:t>
            </a:r>
          </a:p>
        </p:txBody>
      </p:sp>
      <p:sp>
        <p:nvSpPr>
          <p:cNvPr id="19" name="TextBox 18"/>
          <p:cNvSpPr txBox="1"/>
          <p:nvPr/>
        </p:nvSpPr>
        <p:spPr>
          <a:xfrm>
            <a:off x="594360" y="4434840"/>
            <a:ext cx="5212080" cy="365760"/>
          </a:xfrm>
          <a:prstGeom prst="rect">
            <a:avLst/>
          </a:prstGeom>
          <a:noFill/>
        </p:spPr>
        <p:txBody>
          <a:bodyPr wrap="square" lIns="0" rIns="0" tIns="0" bIns="0">
            <a:spAutoFit/>
          </a:bodyPr>
          <a:lstStyle/>
          <a:p>
            <a:pPr>
              <a:spcAft>
                <a:spcPts val="500"/>
              </a:spcAft>
              <a:defRPr sz="2100" b="1">
                <a:solidFill>
                  <a:srgbClr val="215732"/>
                </a:solidFill>
                <a:latin typeface="DejaVu Sans"/>
              </a:defRPr>
            </a:pPr>
            <a:r>
              <a:t>01  Learn the questions</a:t>
            </a:r>
          </a:p>
        </p:txBody>
      </p:sp>
      <p:sp>
        <p:nvSpPr>
          <p:cNvPr id="20" name="TextBox 19"/>
          <p:cNvSpPr txBox="1"/>
          <p:nvPr/>
        </p:nvSpPr>
        <p:spPr>
          <a:xfrm>
            <a:off x="594360" y="4928616"/>
            <a:ext cx="5212080" cy="822960"/>
          </a:xfrm>
          <a:prstGeom prst="rect">
            <a:avLst/>
          </a:prstGeom>
          <a:noFill/>
        </p:spPr>
        <p:txBody>
          <a:bodyPr wrap="square" lIns="0" rIns="0" tIns="0" bIns="0">
            <a:spAutoFit/>
          </a:bodyPr>
          <a:lstStyle/>
          <a:p>
            <a:pPr>
              <a:spcAft>
                <a:spcPts val="500"/>
              </a:spcAft>
              <a:defRPr sz="2000" b="0">
                <a:solidFill>
                  <a:srgbClr val="172D23"/>
                </a:solidFill>
                <a:latin typeface="DejaVu Sans"/>
              </a:defRPr>
            </a:pPr>
            <a:r>
              <a:t>Search suggestions, DMs and WhatsApp reveal buying needs.</a:t>
            </a:r>
          </a:p>
        </p:txBody>
      </p:sp>
      <p:sp>
        <p:nvSpPr>
          <p:cNvPr id="21" name="TextBox 20"/>
          <p:cNvSpPr txBox="1"/>
          <p:nvPr/>
        </p:nvSpPr>
        <p:spPr>
          <a:xfrm>
            <a:off x="6391656" y="4434840"/>
            <a:ext cx="5202936" cy="365760"/>
          </a:xfrm>
          <a:prstGeom prst="rect">
            <a:avLst/>
          </a:prstGeom>
          <a:noFill/>
        </p:spPr>
        <p:txBody>
          <a:bodyPr wrap="square" lIns="0" rIns="0" tIns="0" bIns="0">
            <a:spAutoFit/>
          </a:bodyPr>
          <a:lstStyle/>
          <a:p>
            <a:pPr>
              <a:spcAft>
                <a:spcPts val="500"/>
              </a:spcAft>
              <a:defRPr sz="2100" b="1">
                <a:solidFill>
                  <a:srgbClr val="215732"/>
                </a:solidFill>
                <a:latin typeface="DejaVu Sans"/>
              </a:defRPr>
            </a:pPr>
            <a:r>
              <a:t>02  Make answers easy to find</a:t>
            </a:r>
          </a:p>
        </p:txBody>
      </p:sp>
      <p:sp>
        <p:nvSpPr>
          <p:cNvPr id="22" name="TextBox 21"/>
          <p:cNvSpPr txBox="1"/>
          <p:nvPr/>
        </p:nvSpPr>
        <p:spPr>
          <a:xfrm>
            <a:off x="6391656" y="4928616"/>
            <a:ext cx="5202936" cy="822960"/>
          </a:xfrm>
          <a:prstGeom prst="rect">
            <a:avLst/>
          </a:prstGeom>
          <a:noFill/>
        </p:spPr>
        <p:txBody>
          <a:bodyPr wrap="square" lIns="0" rIns="0" tIns="0" bIns="0">
            <a:spAutoFit/>
          </a:bodyPr>
          <a:lstStyle/>
          <a:p>
            <a:pPr>
              <a:spcAft>
                <a:spcPts val="500"/>
              </a:spcAft>
              <a:defRPr sz="2000" b="0">
                <a:solidFill>
                  <a:srgbClr val="172D23"/>
                </a:solidFill>
                <a:latin typeface="DejaVu Sans"/>
              </a:defRPr>
            </a:pPr>
            <a:r>
              <a:t>Clear names, captions and locations. Useful Reels. Learn from Insights.</a:t>
            </a:r>
          </a:p>
        </p:txBody>
      </p:sp>
      <p:sp>
        <p:nvSpPr>
          <p:cNvPr id="23" name="Rectangle 22"/>
          <p:cNvSpPr/>
          <p:nvPr/>
        </p:nvSpPr>
        <p:spPr>
          <a:xfrm>
            <a:off x="594360" y="5989320"/>
            <a:ext cx="50292" cy="365760"/>
          </a:xfrm>
          <a:prstGeom prst="rect">
            <a:avLst/>
          </a:prstGeom>
          <a:solidFill>
            <a:srgbClr val="43B0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95528" y="6003036"/>
            <a:ext cx="10789920" cy="521207"/>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Don’t only announce products. Answer the questions customers are already asking.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56616"/>
            <a:ext cx="9144000" cy="228600"/>
          </a:xfrm>
          <a:prstGeom prst="rect">
            <a:avLst/>
          </a:prstGeom>
          <a:noFill/>
        </p:spPr>
        <p:txBody>
          <a:bodyPr wrap="square" lIns="0" rIns="0" tIns="0" bIns="0">
            <a:spAutoFit/>
          </a:bodyPr>
          <a:lstStyle/>
          <a:p>
            <a:pPr>
              <a:spcAft>
                <a:spcPts val="500"/>
              </a:spcAft>
              <a:defRPr sz="1000" b="1">
                <a:solidFill>
                  <a:srgbClr val="215732"/>
                </a:solidFill>
                <a:latin typeface="DejaVu Sans"/>
              </a:defRPr>
            </a:pPr>
            <a:r>
              <a:t>INSTAPRENYUA  /  01 / A PRACTICAL EXAMPLE</a:t>
            </a:r>
          </a:p>
        </p:txBody>
      </p:sp>
      <p:sp>
        <p:nvSpPr>
          <p:cNvPr id="3" name="Rectangle 2"/>
          <p:cNvSpPr/>
          <p:nvPr/>
        </p:nvSpPr>
        <p:spPr>
          <a:xfrm>
            <a:off x="10213848" y="301752"/>
            <a:ext cx="1380744" cy="448056"/>
          </a:xfrm>
          <a:prstGeom prst="rect">
            <a:avLst/>
          </a:prstGeom>
          <a:solidFill>
            <a:srgbClr val="FFFFFF"/>
          </a:solidFill>
          <a:ln w="10160">
            <a:solidFill>
              <a:srgbClr val="86A18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287000" y="365760"/>
            <a:ext cx="1234440" cy="320040"/>
          </a:xfrm>
          <a:prstGeom prst="rect">
            <a:avLst/>
          </a:prstGeom>
          <a:noFill/>
        </p:spPr>
        <p:txBody>
          <a:bodyPr wrap="square" lIns="0" rIns="0" tIns="0" bIns="0">
            <a:spAutoFit/>
          </a:bodyPr>
          <a:lstStyle/>
          <a:p>
            <a:pPr algn="ctr">
              <a:spcAft>
                <a:spcPts val="500"/>
              </a:spcAft>
              <a:defRPr sz="850" b="0">
                <a:solidFill>
                  <a:srgbClr val="5B6961"/>
                </a:solidFill>
                <a:latin typeface="DejaVu Sans"/>
              </a:defRPr>
            </a:pPr>
            <a:r>
              <a:t>CRDB logo</a:t>
            </a:r>
          </a:p>
          <a:p>
            <a:pPr algn="ctr">
              <a:spcAft>
                <a:spcPts val="500"/>
              </a:spcAft>
              <a:defRPr sz="850" b="0">
                <a:solidFill>
                  <a:srgbClr val="5B6961"/>
                </a:solidFill>
                <a:latin typeface="DejaVu Sans"/>
              </a:defRPr>
            </a:pPr>
            <a:r>
              <a:t>asset needed</a:t>
            </a:r>
          </a:p>
        </p:txBody>
      </p:sp>
      <p:sp>
        <p:nvSpPr>
          <p:cNvPr id="5" name="TextBox 4"/>
          <p:cNvSpPr txBox="1"/>
          <p:nvPr/>
        </p:nvSpPr>
        <p:spPr>
          <a:xfrm>
            <a:off x="11201400" y="6519672"/>
            <a:ext cx="384048" cy="182880"/>
          </a:xfrm>
          <a:prstGeom prst="rect">
            <a:avLst/>
          </a:prstGeom>
          <a:noFill/>
        </p:spPr>
        <p:txBody>
          <a:bodyPr wrap="square" lIns="0" rIns="0" tIns="0" bIns="0">
            <a:spAutoFit/>
          </a:bodyPr>
          <a:lstStyle/>
          <a:p>
            <a:pPr>
              <a:spcAft>
                <a:spcPts val="500"/>
              </a:spcAft>
              <a:defRPr sz="900" b="0">
                <a:solidFill>
                  <a:srgbClr val="5B6961"/>
                </a:solidFill>
                <a:latin typeface="DejaVu Sans"/>
              </a:defRPr>
            </a:pPr>
            <a:r>
              <a:t>03</a:t>
            </a:r>
          </a:p>
        </p:txBody>
      </p:sp>
      <p:sp>
        <p:nvSpPr>
          <p:cNvPr id="6" name="TextBox 5"/>
          <p:cNvSpPr txBox="1"/>
          <p:nvPr/>
        </p:nvSpPr>
        <p:spPr>
          <a:xfrm>
            <a:off x="594360" y="941832"/>
            <a:ext cx="11000232" cy="914400"/>
          </a:xfrm>
          <a:prstGeom prst="rect">
            <a:avLst/>
          </a:prstGeom>
          <a:noFill/>
        </p:spPr>
        <p:txBody>
          <a:bodyPr wrap="square" lIns="0" rIns="0" tIns="0" bIns="0">
            <a:spAutoFit/>
          </a:bodyPr>
          <a:lstStyle/>
          <a:p>
            <a:pPr>
              <a:spcAft>
                <a:spcPts val="500"/>
              </a:spcAft>
              <a:defRPr sz="3100" b="1">
                <a:solidFill>
                  <a:srgbClr val="172D23"/>
                </a:solidFill>
                <a:latin typeface="DejaVu Sans"/>
              </a:defRPr>
            </a:pPr>
            <a:r>
              <a:t>One refrigerator. Two ways to market it.</a:t>
            </a:r>
          </a:p>
        </p:txBody>
      </p:sp>
      <p:sp>
        <p:nvSpPr>
          <p:cNvPr id="7" name="TextBox 6"/>
          <p:cNvSpPr txBox="1"/>
          <p:nvPr/>
        </p:nvSpPr>
        <p:spPr>
          <a:xfrm>
            <a:off x="594360" y="1938528"/>
            <a:ext cx="5230368" cy="274320"/>
          </a:xfrm>
          <a:prstGeom prst="rect">
            <a:avLst/>
          </a:prstGeom>
          <a:noFill/>
        </p:spPr>
        <p:txBody>
          <a:bodyPr wrap="square" lIns="0" rIns="0" tIns="0" bIns="0">
            <a:spAutoFit/>
          </a:bodyPr>
          <a:lstStyle/>
          <a:p>
            <a:pPr>
              <a:spcAft>
                <a:spcPts val="500"/>
              </a:spcAft>
              <a:defRPr sz="1200" b="1">
                <a:solidFill>
                  <a:srgbClr val="5B6961"/>
                </a:solidFill>
                <a:latin typeface="DejaVu Sans"/>
              </a:defRPr>
            </a:pPr>
            <a:r>
              <a:t>ORDINARY POST</a:t>
            </a:r>
          </a:p>
        </p:txBody>
      </p:sp>
      <p:sp>
        <p:nvSpPr>
          <p:cNvPr id="8" name="Rounded Rectangle 7"/>
          <p:cNvSpPr/>
          <p:nvPr/>
        </p:nvSpPr>
        <p:spPr>
          <a:xfrm>
            <a:off x="594360" y="2359152"/>
            <a:ext cx="5230368" cy="3328416"/>
          </a:xfrm>
          <a:prstGeom prst="roundRect">
            <a:avLst>
              <a:gd name="adj" fmla="val 8000"/>
            </a:avLst>
          </a:prstGeom>
          <a:solidFill>
            <a:srgbClr val="FFFFFF"/>
          </a:solidFill>
          <a:ln w="10160">
            <a:solidFill>
              <a:srgbClr val="D5DED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7240" y="2496312"/>
            <a:ext cx="4864608" cy="274320"/>
          </a:xfrm>
          <a:prstGeom prst="rect">
            <a:avLst/>
          </a:prstGeom>
          <a:noFill/>
        </p:spPr>
        <p:txBody>
          <a:bodyPr wrap="square" lIns="0" rIns="0" tIns="0" bIns="0">
            <a:spAutoFit/>
          </a:bodyPr>
          <a:lstStyle/>
          <a:p>
            <a:pPr>
              <a:spcAft>
                <a:spcPts val="500"/>
              </a:spcAft>
              <a:defRPr sz="1200" b="1">
                <a:solidFill>
                  <a:srgbClr val="5B6961"/>
                </a:solidFill>
                <a:latin typeface="DejaVu Sans"/>
              </a:defRPr>
            </a:pPr>
            <a:r>
              <a:t>Your business  ·  Instagram</a:t>
            </a:r>
          </a:p>
        </p:txBody>
      </p:sp>
      <p:sp>
        <p:nvSpPr>
          <p:cNvPr id="10" name="Rectangle 9"/>
          <p:cNvSpPr/>
          <p:nvPr/>
        </p:nvSpPr>
        <p:spPr>
          <a:xfrm>
            <a:off x="777240" y="2871216"/>
            <a:ext cx="4864608" cy="1234440"/>
          </a:xfrm>
          <a:prstGeom prst="rect">
            <a:avLst/>
          </a:prstGeom>
          <a:solidFill>
            <a:srgbClr val="F1F6F0"/>
          </a:solidFill>
          <a:ln w="10160">
            <a:solidFill>
              <a:srgbClr val="CCD8CD"/>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3159252"/>
            <a:ext cx="4590288" cy="731520"/>
          </a:xfrm>
          <a:prstGeom prst="rect">
            <a:avLst/>
          </a:prstGeom>
          <a:noFill/>
        </p:spPr>
        <p:txBody>
          <a:bodyPr wrap="square" lIns="0" rIns="0" tIns="0" bIns="0">
            <a:spAutoFit/>
          </a:bodyPr>
          <a:lstStyle/>
          <a:p>
            <a:pPr algn="ctr">
              <a:spcAft>
                <a:spcPts val="500"/>
              </a:spcAft>
              <a:defRPr sz="1500" b="0">
                <a:solidFill>
                  <a:srgbClr val="5B6961"/>
                </a:solidFill>
                <a:latin typeface="DejaVu Sans"/>
              </a:defRPr>
            </a:pPr>
            <a:r>
              <a:t>Same supplied refrigerator product photo</a:t>
            </a:r>
          </a:p>
          <a:p>
            <a:pPr algn="ctr">
              <a:spcAft>
                <a:spcPts val="500"/>
              </a:spcAft>
              <a:defRPr sz="1500" b="0">
                <a:solidFill>
                  <a:srgbClr val="5B6961"/>
                </a:solidFill>
                <a:latin typeface="DejaVu Sans"/>
              </a:defRPr>
            </a:pPr>
            <a:r>
              <a:t>Photo not supplied</a:t>
            </a:r>
          </a:p>
        </p:txBody>
      </p:sp>
      <p:sp>
        <p:nvSpPr>
          <p:cNvPr id="12" name="TextBox 11"/>
          <p:cNvSpPr txBox="1"/>
          <p:nvPr/>
        </p:nvSpPr>
        <p:spPr>
          <a:xfrm>
            <a:off x="777240" y="4251960"/>
            <a:ext cx="4864608" cy="246888"/>
          </a:xfrm>
          <a:prstGeom prst="rect">
            <a:avLst/>
          </a:prstGeom>
          <a:noFill/>
        </p:spPr>
        <p:txBody>
          <a:bodyPr wrap="square" lIns="0" rIns="0" tIns="0" bIns="0">
            <a:spAutoFit/>
          </a:bodyPr>
          <a:lstStyle/>
          <a:p>
            <a:pPr>
              <a:spcAft>
                <a:spcPts val="500"/>
              </a:spcAft>
              <a:defRPr sz="1000" b="0">
                <a:solidFill>
                  <a:srgbClr val="5B6961"/>
                </a:solidFill>
                <a:latin typeface="DejaVu Sans"/>
              </a:defRPr>
            </a:pPr>
            <a:r>
              <a:t>Conceptual post mockup</a:t>
            </a:r>
          </a:p>
        </p:txBody>
      </p:sp>
      <p:sp>
        <p:nvSpPr>
          <p:cNvPr id="13" name="TextBox 12"/>
          <p:cNvSpPr txBox="1"/>
          <p:nvPr/>
        </p:nvSpPr>
        <p:spPr>
          <a:xfrm>
            <a:off x="6364224" y="1938528"/>
            <a:ext cx="5230368" cy="274320"/>
          </a:xfrm>
          <a:prstGeom prst="rect">
            <a:avLst/>
          </a:prstGeom>
          <a:noFill/>
        </p:spPr>
        <p:txBody>
          <a:bodyPr wrap="square" lIns="0" rIns="0" tIns="0" bIns="0">
            <a:spAutoFit/>
          </a:bodyPr>
          <a:lstStyle/>
          <a:p>
            <a:pPr>
              <a:spcAft>
                <a:spcPts val="500"/>
              </a:spcAft>
              <a:defRPr sz="1200" b="1">
                <a:solidFill>
                  <a:srgbClr val="215732"/>
                </a:solidFill>
                <a:latin typeface="DejaVu Sans"/>
              </a:defRPr>
            </a:pPr>
            <a:r>
              <a:t>DISCOVERY-FOCUSED POST</a:t>
            </a:r>
          </a:p>
        </p:txBody>
      </p:sp>
      <p:sp>
        <p:nvSpPr>
          <p:cNvPr id="14" name="Rounded Rectangle 13"/>
          <p:cNvSpPr/>
          <p:nvPr/>
        </p:nvSpPr>
        <p:spPr>
          <a:xfrm>
            <a:off x="6364224" y="2359152"/>
            <a:ext cx="5230368" cy="3328416"/>
          </a:xfrm>
          <a:prstGeom prst="roundRect">
            <a:avLst>
              <a:gd name="adj" fmla="val 8000"/>
            </a:avLst>
          </a:prstGeom>
          <a:solidFill>
            <a:srgbClr val="FFFFFF"/>
          </a:solidFill>
          <a:ln w="10160">
            <a:solidFill>
              <a:srgbClr val="D5DED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547104" y="2496312"/>
            <a:ext cx="4864608" cy="274320"/>
          </a:xfrm>
          <a:prstGeom prst="rect">
            <a:avLst/>
          </a:prstGeom>
          <a:noFill/>
        </p:spPr>
        <p:txBody>
          <a:bodyPr wrap="square" lIns="0" rIns="0" tIns="0" bIns="0">
            <a:spAutoFit/>
          </a:bodyPr>
          <a:lstStyle/>
          <a:p>
            <a:pPr>
              <a:spcAft>
                <a:spcPts val="500"/>
              </a:spcAft>
              <a:defRPr sz="1200" b="1">
                <a:solidFill>
                  <a:srgbClr val="5B6961"/>
                </a:solidFill>
                <a:latin typeface="DejaVu Sans"/>
              </a:defRPr>
            </a:pPr>
            <a:r>
              <a:t>Your business  ·  Instagram</a:t>
            </a:r>
          </a:p>
        </p:txBody>
      </p:sp>
      <p:sp>
        <p:nvSpPr>
          <p:cNvPr id="16" name="Rectangle 15"/>
          <p:cNvSpPr/>
          <p:nvPr/>
        </p:nvSpPr>
        <p:spPr>
          <a:xfrm>
            <a:off x="6547104" y="2871216"/>
            <a:ext cx="4864608" cy="1234440"/>
          </a:xfrm>
          <a:prstGeom prst="rect">
            <a:avLst/>
          </a:prstGeom>
          <a:solidFill>
            <a:srgbClr val="F1F6F0"/>
          </a:solidFill>
          <a:ln w="10160">
            <a:solidFill>
              <a:srgbClr val="CCD8CD"/>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684264" y="3159252"/>
            <a:ext cx="4590288" cy="731520"/>
          </a:xfrm>
          <a:prstGeom prst="rect">
            <a:avLst/>
          </a:prstGeom>
          <a:noFill/>
        </p:spPr>
        <p:txBody>
          <a:bodyPr wrap="square" lIns="0" rIns="0" tIns="0" bIns="0">
            <a:spAutoFit/>
          </a:bodyPr>
          <a:lstStyle/>
          <a:p>
            <a:pPr algn="ctr">
              <a:spcAft>
                <a:spcPts val="500"/>
              </a:spcAft>
              <a:defRPr sz="1500" b="0">
                <a:solidFill>
                  <a:srgbClr val="5B6961"/>
                </a:solidFill>
                <a:latin typeface="DejaVu Sans"/>
              </a:defRPr>
            </a:pPr>
            <a:r>
              <a:t>Same supplied refrigerator product photo</a:t>
            </a:r>
          </a:p>
          <a:p>
            <a:pPr algn="ctr">
              <a:spcAft>
                <a:spcPts val="500"/>
              </a:spcAft>
              <a:defRPr sz="1500" b="0">
                <a:solidFill>
                  <a:srgbClr val="5B6961"/>
                </a:solidFill>
                <a:latin typeface="DejaVu Sans"/>
              </a:defRPr>
            </a:pPr>
            <a:r>
              <a:t>Photo not supplied</a:t>
            </a:r>
          </a:p>
        </p:txBody>
      </p:sp>
      <p:sp>
        <p:nvSpPr>
          <p:cNvPr id="18" name="TextBox 17"/>
          <p:cNvSpPr txBox="1"/>
          <p:nvPr/>
        </p:nvSpPr>
        <p:spPr>
          <a:xfrm>
            <a:off x="6547104" y="4251960"/>
            <a:ext cx="4864608" cy="246888"/>
          </a:xfrm>
          <a:prstGeom prst="rect">
            <a:avLst/>
          </a:prstGeom>
          <a:noFill/>
        </p:spPr>
        <p:txBody>
          <a:bodyPr wrap="square" lIns="0" rIns="0" tIns="0" bIns="0">
            <a:spAutoFit/>
          </a:bodyPr>
          <a:lstStyle/>
          <a:p>
            <a:pPr>
              <a:spcAft>
                <a:spcPts val="500"/>
              </a:spcAft>
              <a:defRPr sz="1000" b="0">
                <a:solidFill>
                  <a:srgbClr val="5B6961"/>
                </a:solidFill>
                <a:latin typeface="DejaVu Sans"/>
              </a:defRPr>
            </a:pPr>
            <a:r>
              <a:t>Conceptual post mockup</a:t>
            </a:r>
          </a:p>
        </p:txBody>
      </p:sp>
      <p:sp>
        <p:nvSpPr>
          <p:cNvPr id="19" name="TextBox 18"/>
          <p:cNvSpPr txBox="1"/>
          <p:nvPr/>
        </p:nvSpPr>
        <p:spPr>
          <a:xfrm>
            <a:off x="786384" y="4617720"/>
            <a:ext cx="4818888" cy="914400"/>
          </a:xfrm>
          <a:prstGeom prst="rect">
            <a:avLst/>
          </a:prstGeom>
          <a:noFill/>
        </p:spPr>
        <p:txBody>
          <a:bodyPr wrap="square" lIns="0" rIns="0" tIns="0" bIns="0">
            <a:spAutoFit/>
          </a:bodyPr>
          <a:lstStyle/>
          <a:p>
            <a:pPr>
              <a:spcAft>
                <a:spcPts val="500"/>
              </a:spcAft>
              <a:defRPr sz="2100" b="1">
                <a:solidFill>
                  <a:srgbClr val="172D23"/>
                </a:solidFill>
                <a:latin typeface="DejaVu Sans"/>
              </a:defRPr>
            </a:pPr>
            <a:r>
              <a:t>“Friji mpya zimefika! Bei nzuri.</a:t>
            </a:r>
          </a:p>
          <a:p>
            <a:pPr>
              <a:spcAft>
                <a:spcPts val="500"/>
              </a:spcAft>
              <a:defRPr sz="2100" b="1">
                <a:solidFill>
                  <a:srgbClr val="172D23"/>
                </a:solidFill>
                <a:latin typeface="DejaVu Sans"/>
              </a:defRPr>
            </a:pPr>
            <a:r>
              <a:t>DM kwa order.”</a:t>
            </a:r>
          </a:p>
        </p:txBody>
      </p:sp>
      <p:sp>
        <p:nvSpPr>
          <p:cNvPr id="20" name="TextBox 19"/>
          <p:cNvSpPr txBox="1"/>
          <p:nvPr/>
        </p:nvSpPr>
        <p:spPr>
          <a:xfrm>
            <a:off x="6556248" y="4562856"/>
            <a:ext cx="4818888" cy="1024128"/>
          </a:xfrm>
          <a:prstGeom prst="rect">
            <a:avLst/>
          </a:prstGeom>
          <a:noFill/>
        </p:spPr>
        <p:txBody>
          <a:bodyPr wrap="square" lIns="0" rIns="0" tIns="0" bIns="0">
            <a:spAutoFit/>
          </a:bodyPr>
          <a:lstStyle/>
          <a:p>
            <a:pPr>
              <a:spcAft>
                <a:spcPts val="500"/>
              </a:spcAft>
              <a:defRPr sz="1800" b="0">
                <a:solidFill>
                  <a:srgbClr val="172D23"/>
                </a:solidFill>
                <a:latin typeface="DejaVu Sans"/>
              </a:defRPr>
            </a:pPr>
            <a:r>
              <a:rPr sz="1800" b="1">
                <a:solidFill>
                  <a:srgbClr val="215732"/>
                </a:solidFill>
                <a:latin typeface="DejaVu Sans"/>
              </a:rPr>
              <a:t>“Unatafuta friji ya nyumba ndogo?</a:t>
            </a:r>
            <a:r>
              <a:rPr sz="1800" b="0">
                <a:solidFill>
                  <a:srgbClr val="172D23"/>
                </a:solidFill>
                <a:latin typeface="DejaVu Sans"/>
              </a:rPr>
              <a:t> Mambo 3 ya kuangalia kabla ya kununua: ukubwa, uwezo wa kuhifadhi na matumizi ya umeme.”</a:t>
            </a:r>
          </a:p>
        </p:txBody>
      </p:sp>
      <p:sp>
        <p:nvSpPr>
          <p:cNvPr id="21" name="Rectangle 20"/>
          <p:cNvSpPr/>
          <p:nvPr/>
        </p:nvSpPr>
        <p:spPr>
          <a:xfrm>
            <a:off x="594360" y="5989320"/>
            <a:ext cx="50292" cy="365760"/>
          </a:xfrm>
          <a:prstGeom prst="rect">
            <a:avLst/>
          </a:prstGeom>
          <a:solidFill>
            <a:srgbClr val="43B0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95528" y="6003036"/>
            <a:ext cx="10789920" cy="521207"/>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Show how the product meets a need—not merely that it is 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56616"/>
            <a:ext cx="9144000" cy="228600"/>
          </a:xfrm>
          <a:prstGeom prst="rect">
            <a:avLst/>
          </a:prstGeom>
          <a:noFill/>
        </p:spPr>
        <p:txBody>
          <a:bodyPr wrap="square" lIns="0" rIns="0" tIns="0" bIns="0">
            <a:spAutoFit/>
          </a:bodyPr>
          <a:lstStyle/>
          <a:p>
            <a:pPr>
              <a:spcAft>
                <a:spcPts val="500"/>
              </a:spcAft>
              <a:defRPr sz="1000" b="1">
                <a:solidFill>
                  <a:srgbClr val="215732"/>
                </a:solidFill>
                <a:latin typeface="DejaVu Sans"/>
              </a:defRPr>
            </a:pPr>
            <a:r>
              <a:t>INSTAPRENYUA  /  02 / LOW-COST PAID ACQUISITION</a:t>
            </a:r>
          </a:p>
        </p:txBody>
      </p:sp>
      <p:sp>
        <p:nvSpPr>
          <p:cNvPr id="3" name="Rectangle 2"/>
          <p:cNvSpPr/>
          <p:nvPr/>
        </p:nvSpPr>
        <p:spPr>
          <a:xfrm>
            <a:off x="10213848" y="301752"/>
            <a:ext cx="1380744" cy="448056"/>
          </a:xfrm>
          <a:prstGeom prst="rect">
            <a:avLst/>
          </a:prstGeom>
          <a:solidFill>
            <a:srgbClr val="FFFFFF"/>
          </a:solidFill>
          <a:ln w="10160">
            <a:solidFill>
              <a:srgbClr val="86A18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287000" y="365760"/>
            <a:ext cx="1234440" cy="320040"/>
          </a:xfrm>
          <a:prstGeom prst="rect">
            <a:avLst/>
          </a:prstGeom>
          <a:noFill/>
        </p:spPr>
        <p:txBody>
          <a:bodyPr wrap="square" lIns="0" rIns="0" tIns="0" bIns="0">
            <a:spAutoFit/>
          </a:bodyPr>
          <a:lstStyle/>
          <a:p>
            <a:pPr algn="ctr">
              <a:spcAft>
                <a:spcPts val="500"/>
              </a:spcAft>
              <a:defRPr sz="850" b="0">
                <a:solidFill>
                  <a:srgbClr val="5B6961"/>
                </a:solidFill>
                <a:latin typeface="DejaVu Sans"/>
              </a:defRPr>
            </a:pPr>
            <a:r>
              <a:t>CRDB logo</a:t>
            </a:r>
          </a:p>
          <a:p>
            <a:pPr algn="ctr">
              <a:spcAft>
                <a:spcPts val="500"/>
              </a:spcAft>
              <a:defRPr sz="850" b="0">
                <a:solidFill>
                  <a:srgbClr val="5B6961"/>
                </a:solidFill>
                <a:latin typeface="DejaVu Sans"/>
              </a:defRPr>
            </a:pPr>
            <a:r>
              <a:t>asset needed</a:t>
            </a:r>
          </a:p>
        </p:txBody>
      </p:sp>
      <p:sp>
        <p:nvSpPr>
          <p:cNvPr id="5" name="TextBox 4"/>
          <p:cNvSpPr txBox="1"/>
          <p:nvPr/>
        </p:nvSpPr>
        <p:spPr>
          <a:xfrm>
            <a:off x="11201400" y="6519672"/>
            <a:ext cx="384048" cy="182880"/>
          </a:xfrm>
          <a:prstGeom prst="rect">
            <a:avLst/>
          </a:prstGeom>
          <a:noFill/>
        </p:spPr>
        <p:txBody>
          <a:bodyPr wrap="square" lIns="0" rIns="0" tIns="0" bIns="0">
            <a:spAutoFit/>
          </a:bodyPr>
          <a:lstStyle/>
          <a:p>
            <a:pPr>
              <a:spcAft>
                <a:spcPts val="500"/>
              </a:spcAft>
              <a:defRPr sz="900" b="0">
                <a:solidFill>
                  <a:srgbClr val="5B6961"/>
                </a:solidFill>
                <a:latin typeface="DejaVu Sans"/>
              </a:defRPr>
            </a:pPr>
            <a:r>
              <a:t>04</a:t>
            </a:r>
          </a:p>
        </p:txBody>
      </p:sp>
      <p:sp>
        <p:nvSpPr>
          <p:cNvPr id="6" name="TextBox 5"/>
          <p:cNvSpPr txBox="1"/>
          <p:nvPr/>
        </p:nvSpPr>
        <p:spPr>
          <a:xfrm>
            <a:off x="594360" y="941832"/>
            <a:ext cx="11000232" cy="914400"/>
          </a:xfrm>
          <a:prstGeom prst="rect">
            <a:avLst/>
          </a:prstGeom>
          <a:noFill/>
        </p:spPr>
        <p:txBody>
          <a:bodyPr wrap="square" lIns="0" rIns="0" tIns="0" bIns="0">
            <a:spAutoFit/>
          </a:bodyPr>
          <a:lstStyle/>
          <a:p>
            <a:pPr>
              <a:spcAft>
                <a:spcPts val="500"/>
              </a:spcAft>
              <a:defRPr sz="3100" b="1">
                <a:solidFill>
                  <a:srgbClr val="172D23"/>
                </a:solidFill>
                <a:latin typeface="DejaVu Sans"/>
              </a:defRPr>
            </a:pPr>
            <a:r>
              <a:t>Spend small. Reach relevant buyers. Learn fast.</a:t>
            </a:r>
          </a:p>
        </p:txBody>
      </p:sp>
      <p:sp>
        <p:nvSpPr>
          <p:cNvPr id="7" name="TextBox 6"/>
          <p:cNvSpPr txBox="1"/>
          <p:nvPr/>
        </p:nvSpPr>
        <p:spPr>
          <a:xfrm>
            <a:off x="594360" y="2011680"/>
            <a:ext cx="2441448" cy="566928"/>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Instagram / Facebook ad</a:t>
            </a:r>
          </a:p>
        </p:txBody>
      </p:sp>
      <p:sp>
        <p:nvSpPr>
          <p:cNvPr id="8" name="Rounded Rectangle 7"/>
          <p:cNvSpPr/>
          <p:nvPr/>
        </p:nvSpPr>
        <p:spPr>
          <a:xfrm>
            <a:off x="594360" y="2743200"/>
            <a:ext cx="2441448" cy="1490472"/>
          </a:xfrm>
          <a:prstGeom prst="roundRect">
            <a:avLst>
              <a:gd name="adj" fmla="val 8000"/>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3447288" y="2011680"/>
            <a:ext cx="2441448" cy="566928"/>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WhatsApp conversation</a:t>
            </a:r>
          </a:p>
        </p:txBody>
      </p:sp>
      <p:sp>
        <p:nvSpPr>
          <p:cNvPr id="10" name="Rounded Rectangle 9"/>
          <p:cNvSpPr/>
          <p:nvPr/>
        </p:nvSpPr>
        <p:spPr>
          <a:xfrm>
            <a:off x="3447288" y="2743200"/>
            <a:ext cx="2441448" cy="1490472"/>
          </a:xfrm>
          <a:prstGeom prst="roundRect">
            <a:avLst>
              <a:gd name="adj" fmla="val 8000"/>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00216" y="2011680"/>
            <a:ext cx="2441448" cy="566928"/>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Completed paid order</a:t>
            </a:r>
          </a:p>
        </p:txBody>
      </p:sp>
      <p:sp>
        <p:nvSpPr>
          <p:cNvPr id="12" name="Rounded Rectangle 11"/>
          <p:cNvSpPr/>
          <p:nvPr/>
        </p:nvSpPr>
        <p:spPr>
          <a:xfrm>
            <a:off x="6300216" y="2743200"/>
            <a:ext cx="2441448" cy="1490472"/>
          </a:xfrm>
          <a:prstGeom prst="roundRect">
            <a:avLst>
              <a:gd name="adj" fmla="val 8000"/>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53144" y="2011680"/>
            <a:ext cx="2441448" cy="566928"/>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Acquisition-cost check</a:t>
            </a:r>
          </a:p>
        </p:txBody>
      </p:sp>
      <p:sp>
        <p:nvSpPr>
          <p:cNvPr id="14" name="Rounded Rectangle 13"/>
          <p:cNvSpPr/>
          <p:nvPr/>
        </p:nvSpPr>
        <p:spPr>
          <a:xfrm>
            <a:off x="9153144" y="2743200"/>
            <a:ext cx="2441448" cy="1490472"/>
          </a:xfrm>
          <a:prstGeom prst="roundRect">
            <a:avLst>
              <a:gd name="adj" fmla="val 8000"/>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072384" y="3246120"/>
            <a:ext cx="320040" cy="457200"/>
          </a:xfrm>
          <a:prstGeom prst="rect">
            <a:avLst/>
          </a:prstGeom>
          <a:noFill/>
        </p:spPr>
        <p:txBody>
          <a:bodyPr wrap="square" lIns="0" rIns="0" tIns="0" bIns="0">
            <a:spAutoFit/>
          </a:bodyPr>
          <a:lstStyle/>
          <a:p>
            <a:pPr algn="ctr">
              <a:spcAft>
                <a:spcPts val="500"/>
              </a:spcAft>
              <a:defRPr sz="2500" b="1">
                <a:solidFill>
                  <a:srgbClr val="43B02A"/>
                </a:solidFill>
                <a:latin typeface="DejaVu Sans"/>
              </a:defRPr>
            </a:pPr>
            <a:r>
              <a:t>→</a:t>
            </a:r>
          </a:p>
        </p:txBody>
      </p:sp>
      <p:sp>
        <p:nvSpPr>
          <p:cNvPr id="16" name="TextBox 15"/>
          <p:cNvSpPr txBox="1"/>
          <p:nvPr/>
        </p:nvSpPr>
        <p:spPr>
          <a:xfrm>
            <a:off x="5925312" y="3246120"/>
            <a:ext cx="320040" cy="457200"/>
          </a:xfrm>
          <a:prstGeom prst="rect">
            <a:avLst/>
          </a:prstGeom>
          <a:noFill/>
        </p:spPr>
        <p:txBody>
          <a:bodyPr wrap="square" lIns="0" rIns="0" tIns="0" bIns="0">
            <a:spAutoFit/>
          </a:bodyPr>
          <a:lstStyle/>
          <a:p>
            <a:pPr algn="ctr">
              <a:spcAft>
                <a:spcPts val="500"/>
              </a:spcAft>
              <a:defRPr sz="2500" b="1">
                <a:solidFill>
                  <a:srgbClr val="43B02A"/>
                </a:solidFill>
                <a:latin typeface="DejaVu Sans"/>
              </a:defRPr>
            </a:pPr>
            <a:r>
              <a:t>→</a:t>
            </a:r>
          </a:p>
        </p:txBody>
      </p:sp>
      <p:sp>
        <p:nvSpPr>
          <p:cNvPr id="17" name="TextBox 16"/>
          <p:cNvSpPr txBox="1"/>
          <p:nvPr/>
        </p:nvSpPr>
        <p:spPr>
          <a:xfrm>
            <a:off x="8778240" y="3246120"/>
            <a:ext cx="320040" cy="457200"/>
          </a:xfrm>
          <a:prstGeom prst="rect">
            <a:avLst/>
          </a:prstGeom>
          <a:noFill/>
        </p:spPr>
        <p:txBody>
          <a:bodyPr wrap="square" lIns="0" rIns="0" tIns="0" bIns="0">
            <a:spAutoFit/>
          </a:bodyPr>
          <a:lstStyle/>
          <a:p>
            <a:pPr algn="ctr">
              <a:spcAft>
                <a:spcPts val="500"/>
              </a:spcAft>
              <a:defRPr sz="2500" b="1">
                <a:solidFill>
                  <a:srgbClr val="43B02A"/>
                </a:solidFill>
                <a:latin typeface="DejaVu Sans"/>
              </a:defRPr>
            </a:pPr>
            <a:r>
              <a:t>→</a:t>
            </a:r>
          </a:p>
        </p:txBody>
      </p:sp>
      <p:sp>
        <p:nvSpPr>
          <p:cNvPr id="18" name="TextBox 17"/>
          <p:cNvSpPr txBox="1"/>
          <p:nvPr/>
        </p:nvSpPr>
        <p:spPr>
          <a:xfrm>
            <a:off x="786384" y="2944368"/>
            <a:ext cx="2057400" cy="1033271"/>
          </a:xfrm>
          <a:prstGeom prst="rect">
            <a:avLst/>
          </a:prstGeom>
          <a:noFill/>
        </p:spPr>
        <p:txBody>
          <a:bodyPr wrap="square" lIns="0" rIns="0" tIns="0" bIns="0">
            <a:spAutoFit/>
          </a:bodyPr>
          <a:lstStyle/>
          <a:p>
            <a:pPr>
              <a:spcAft>
                <a:spcPts val="500"/>
              </a:spcAft>
              <a:defRPr sz="1800" b="1">
                <a:solidFill>
                  <a:srgbClr val="172D23"/>
                </a:solidFill>
                <a:latin typeface="DejaVu Sans"/>
              </a:defRPr>
            </a:pPr>
            <a:r>
              <a:t>One offer</a:t>
            </a:r>
          </a:p>
          <a:p>
            <a:pPr>
              <a:spcAft>
                <a:spcPts val="500"/>
              </a:spcAft>
              <a:defRPr sz="1800" b="1">
                <a:solidFill>
                  <a:srgbClr val="172D23"/>
                </a:solidFill>
                <a:latin typeface="DejaVu Sans"/>
              </a:defRPr>
            </a:pPr>
            <a:r>
              <a:t>Two creatives</a:t>
            </a:r>
          </a:p>
          <a:p>
            <a:pPr>
              <a:spcAft>
                <a:spcPts val="500"/>
              </a:spcAft>
              <a:defRPr sz="1800" b="1">
                <a:solidFill>
                  <a:srgbClr val="172D23"/>
                </a:solidFill>
                <a:latin typeface="DejaVu Sans"/>
              </a:defRPr>
            </a:pPr>
            <a:r>
              <a:t>Clear action</a:t>
            </a:r>
          </a:p>
        </p:txBody>
      </p:sp>
      <p:sp>
        <p:nvSpPr>
          <p:cNvPr id="19" name="Rounded Rectangle 18"/>
          <p:cNvSpPr/>
          <p:nvPr/>
        </p:nvSpPr>
        <p:spPr>
          <a:xfrm>
            <a:off x="3621024" y="2953512"/>
            <a:ext cx="2084831" cy="89611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749039" y="3108960"/>
            <a:ext cx="1828800" cy="658368"/>
          </a:xfrm>
          <a:prstGeom prst="rect">
            <a:avLst/>
          </a:prstGeom>
          <a:noFill/>
        </p:spPr>
        <p:txBody>
          <a:bodyPr wrap="square" lIns="0" rIns="0" tIns="0" bIns="0">
            <a:spAutoFit/>
          </a:bodyPr>
          <a:lstStyle/>
          <a:p>
            <a:pPr>
              <a:spcAft>
                <a:spcPts val="500"/>
              </a:spcAft>
              <a:defRPr sz="1600" b="0">
                <a:solidFill>
                  <a:srgbClr val="172D23"/>
                </a:solidFill>
                <a:latin typeface="DejaVu Sans"/>
              </a:defRPr>
            </a:pPr>
            <a:r>
              <a:t>“Naomba kujua</a:t>
            </a:r>
          </a:p>
          <a:p>
            <a:pPr>
              <a:spcAft>
                <a:spcPts val="500"/>
              </a:spcAft>
              <a:defRPr sz="1600" b="0">
                <a:solidFill>
                  <a:srgbClr val="172D23"/>
                </a:solidFill>
                <a:latin typeface="DejaVu Sans"/>
              </a:defRPr>
            </a:pPr>
            <a:r>
              <a:t>zaidi kuhusu friji.”</a:t>
            </a:r>
          </a:p>
        </p:txBody>
      </p:sp>
      <p:sp>
        <p:nvSpPr>
          <p:cNvPr id="21" name="TextBox 20"/>
          <p:cNvSpPr txBox="1"/>
          <p:nvPr/>
        </p:nvSpPr>
        <p:spPr>
          <a:xfrm>
            <a:off x="6492240" y="2971800"/>
            <a:ext cx="2057400" cy="914400"/>
          </a:xfrm>
          <a:prstGeom prst="rect">
            <a:avLst/>
          </a:prstGeom>
          <a:noFill/>
        </p:spPr>
        <p:txBody>
          <a:bodyPr wrap="square" lIns="0" rIns="0" tIns="0" bIns="0">
            <a:spAutoFit/>
          </a:bodyPr>
          <a:lstStyle/>
          <a:p>
            <a:pPr>
              <a:spcAft>
                <a:spcPts val="500"/>
              </a:spcAft>
              <a:defRPr sz="1700" b="1">
                <a:solidFill>
                  <a:srgbClr val="215732"/>
                </a:solidFill>
                <a:latin typeface="DejaVu Sans"/>
              </a:defRPr>
            </a:pPr>
            <a:r>
              <a:t>Paid purchase</a:t>
            </a:r>
          </a:p>
          <a:p>
            <a:pPr>
              <a:spcAft>
                <a:spcPts val="500"/>
              </a:spcAft>
              <a:defRPr sz="1700" b="1">
                <a:solidFill>
                  <a:srgbClr val="215732"/>
                </a:solidFill>
                <a:latin typeface="DejaVu Sans"/>
              </a:defRPr>
            </a:pPr>
            <a:r>
              <a:t>Campaign-linked</a:t>
            </a:r>
          </a:p>
          <a:p>
            <a:pPr>
              <a:spcAft>
                <a:spcPts val="500"/>
              </a:spcAft>
              <a:defRPr sz="1700" b="1">
                <a:solidFill>
                  <a:srgbClr val="215732"/>
                </a:solidFill>
                <a:latin typeface="DejaVu Sans"/>
              </a:defRPr>
            </a:pPr>
            <a:r>
              <a:t>order</a:t>
            </a:r>
          </a:p>
        </p:txBody>
      </p:sp>
      <p:sp>
        <p:nvSpPr>
          <p:cNvPr id="22" name="TextBox 21"/>
          <p:cNvSpPr txBox="1"/>
          <p:nvPr/>
        </p:nvSpPr>
        <p:spPr>
          <a:xfrm>
            <a:off x="9345168" y="2980944"/>
            <a:ext cx="2057400" cy="960120"/>
          </a:xfrm>
          <a:prstGeom prst="rect">
            <a:avLst/>
          </a:prstGeom>
          <a:noFill/>
        </p:spPr>
        <p:txBody>
          <a:bodyPr wrap="square" lIns="0" rIns="0" tIns="0" bIns="0">
            <a:spAutoFit/>
          </a:bodyPr>
          <a:lstStyle/>
          <a:p>
            <a:pPr>
              <a:spcAft>
                <a:spcPts val="500"/>
              </a:spcAft>
              <a:defRPr sz="2100" b="1">
                <a:solidFill>
                  <a:srgbClr val="215732"/>
                </a:solidFill>
                <a:latin typeface="DejaVu Sans"/>
              </a:defRPr>
            </a:pPr>
            <a:r>
              <a:t>Ad spend ÷</a:t>
            </a:r>
          </a:p>
          <a:p>
            <a:pPr>
              <a:spcAft>
                <a:spcPts val="500"/>
              </a:spcAft>
              <a:defRPr sz="2100" b="1">
                <a:solidFill>
                  <a:srgbClr val="215732"/>
                </a:solidFill>
                <a:latin typeface="DejaVu Sans"/>
              </a:defRPr>
            </a:pPr>
            <a:r>
              <a:t>new buyers</a:t>
            </a:r>
          </a:p>
        </p:txBody>
      </p:sp>
      <p:sp>
        <p:nvSpPr>
          <p:cNvPr id="23" name="TextBox 22"/>
          <p:cNvSpPr txBox="1"/>
          <p:nvPr/>
        </p:nvSpPr>
        <p:spPr>
          <a:xfrm>
            <a:off x="594360" y="4416552"/>
            <a:ext cx="10972800" cy="228600"/>
          </a:xfrm>
          <a:prstGeom prst="rect">
            <a:avLst/>
          </a:prstGeom>
          <a:noFill/>
        </p:spPr>
        <p:txBody>
          <a:bodyPr wrap="square" lIns="0" rIns="0" tIns="0" bIns="0">
            <a:spAutoFit/>
          </a:bodyPr>
          <a:lstStyle/>
          <a:p>
            <a:pPr>
              <a:spcAft>
                <a:spcPts val="500"/>
              </a:spcAft>
              <a:defRPr sz="1000" b="0">
                <a:solidFill>
                  <a:srgbClr val="5B6961"/>
                </a:solidFill>
                <a:latin typeface="DejaVu Sans"/>
              </a:defRPr>
            </a:pPr>
            <a:r>
              <a:t>ILLUSTRATIVE FLOW / CONCEPTUAL MOCKUPS</a:t>
            </a:r>
          </a:p>
        </p:txBody>
      </p:sp>
      <p:sp>
        <p:nvSpPr>
          <p:cNvPr id="24" name="TextBox 23"/>
          <p:cNvSpPr txBox="1"/>
          <p:nvPr/>
        </p:nvSpPr>
        <p:spPr>
          <a:xfrm>
            <a:off x="594360" y="4846320"/>
            <a:ext cx="3300984" cy="365760"/>
          </a:xfrm>
          <a:prstGeom prst="rect">
            <a:avLst/>
          </a:prstGeom>
          <a:noFill/>
        </p:spPr>
        <p:txBody>
          <a:bodyPr wrap="square" lIns="0" rIns="0" tIns="0" bIns="0">
            <a:spAutoFit/>
          </a:bodyPr>
          <a:lstStyle/>
          <a:p>
            <a:pPr>
              <a:spcAft>
                <a:spcPts val="500"/>
              </a:spcAft>
              <a:defRPr sz="1900" b="1">
                <a:solidFill>
                  <a:srgbClr val="215732"/>
                </a:solidFill>
                <a:latin typeface="DejaVu Sans"/>
              </a:defRPr>
            </a:pPr>
            <a:r>
              <a:t>Proven demand</a:t>
            </a:r>
          </a:p>
        </p:txBody>
      </p:sp>
      <p:sp>
        <p:nvSpPr>
          <p:cNvPr id="25" name="TextBox 24"/>
          <p:cNvSpPr txBox="1"/>
          <p:nvPr/>
        </p:nvSpPr>
        <p:spPr>
          <a:xfrm>
            <a:off x="594360" y="5340096"/>
            <a:ext cx="3300984" cy="594360"/>
          </a:xfrm>
          <a:prstGeom prst="rect">
            <a:avLst/>
          </a:prstGeom>
          <a:noFill/>
        </p:spPr>
        <p:txBody>
          <a:bodyPr wrap="square" lIns="0" rIns="0" tIns="0" bIns="0">
            <a:spAutoFit/>
          </a:bodyPr>
          <a:lstStyle/>
          <a:p>
            <a:pPr>
              <a:spcAft>
                <a:spcPts val="500"/>
              </a:spcAft>
              <a:defRPr sz="1700" b="0">
                <a:solidFill>
                  <a:srgbClr val="172D23"/>
                </a:solidFill>
                <a:latin typeface="DejaVu Sans"/>
              </a:defRPr>
            </a:pPr>
            <a:r>
              <a:t>Choose a product with margin.</a:t>
            </a:r>
          </a:p>
        </p:txBody>
      </p:sp>
      <p:sp>
        <p:nvSpPr>
          <p:cNvPr id="26" name="TextBox 25"/>
          <p:cNvSpPr txBox="1"/>
          <p:nvPr/>
        </p:nvSpPr>
        <p:spPr>
          <a:xfrm>
            <a:off x="4443984" y="4846320"/>
            <a:ext cx="3300984" cy="365760"/>
          </a:xfrm>
          <a:prstGeom prst="rect">
            <a:avLst/>
          </a:prstGeom>
          <a:noFill/>
        </p:spPr>
        <p:txBody>
          <a:bodyPr wrap="square" lIns="0" rIns="0" tIns="0" bIns="0">
            <a:spAutoFit/>
          </a:bodyPr>
          <a:lstStyle/>
          <a:p>
            <a:pPr>
              <a:spcAft>
                <a:spcPts val="500"/>
              </a:spcAft>
              <a:defRPr sz="1900" b="1">
                <a:solidFill>
                  <a:srgbClr val="215732"/>
                </a:solidFill>
                <a:latin typeface="DejaVu Sans"/>
              </a:defRPr>
            </a:pPr>
            <a:r>
              <a:t>Focused test</a:t>
            </a:r>
          </a:p>
        </p:txBody>
      </p:sp>
      <p:sp>
        <p:nvSpPr>
          <p:cNvPr id="27" name="TextBox 26"/>
          <p:cNvSpPr txBox="1"/>
          <p:nvPr/>
        </p:nvSpPr>
        <p:spPr>
          <a:xfrm>
            <a:off x="4443984" y="5340096"/>
            <a:ext cx="3300984" cy="594360"/>
          </a:xfrm>
          <a:prstGeom prst="rect">
            <a:avLst/>
          </a:prstGeom>
          <a:noFill/>
        </p:spPr>
        <p:txBody>
          <a:bodyPr wrap="square" lIns="0" rIns="0" tIns="0" bIns="0">
            <a:spAutoFit/>
          </a:bodyPr>
          <a:lstStyle/>
          <a:p>
            <a:pPr>
              <a:spcAft>
                <a:spcPts val="500"/>
              </a:spcAft>
              <a:defRPr sz="1700" b="0">
                <a:solidFill>
                  <a:srgbClr val="172D23"/>
                </a:solidFill>
                <a:latin typeface="DejaVu Sans"/>
              </a:defRPr>
            </a:pPr>
            <a:r>
              <a:t>One offer; locations you serve.</a:t>
            </a:r>
          </a:p>
        </p:txBody>
      </p:sp>
      <p:sp>
        <p:nvSpPr>
          <p:cNvPr id="28" name="TextBox 27"/>
          <p:cNvSpPr txBox="1"/>
          <p:nvPr/>
        </p:nvSpPr>
        <p:spPr>
          <a:xfrm>
            <a:off x="8293608" y="4846320"/>
            <a:ext cx="3300984" cy="365760"/>
          </a:xfrm>
          <a:prstGeom prst="rect">
            <a:avLst/>
          </a:prstGeom>
          <a:noFill/>
        </p:spPr>
        <p:txBody>
          <a:bodyPr wrap="square" lIns="0" rIns="0" tIns="0" bIns="0">
            <a:spAutoFit/>
          </a:bodyPr>
          <a:lstStyle/>
          <a:p>
            <a:pPr>
              <a:spcAft>
                <a:spcPts val="500"/>
              </a:spcAft>
              <a:defRPr sz="1900" b="1">
                <a:solidFill>
                  <a:srgbClr val="215732"/>
                </a:solidFill>
                <a:latin typeface="DejaVu Sans"/>
              </a:defRPr>
            </a:pPr>
            <a:r>
              <a:t>Sales evidence</a:t>
            </a:r>
          </a:p>
        </p:txBody>
      </p:sp>
      <p:sp>
        <p:nvSpPr>
          <p:cNvPr id="29" name="TextBox 28"/>
          <p:cNvSpPr txBox="1"/>
          <p:nvPr/>
        </p:nvSpPr>
        <p:spPr>
          <a:xfrm>
            <a:off x="8293608" y="5340096"/>
            <a:ext cx="3300984" cy="594360"/>
          </a:xfrm>
          <a:prstGeom prst="rect">
            <a:avLst/>
          </a:prstGeom>
          <a:noFill/>
        </p:spPr>
        <p:txBody>
          <a:bodyPr wrap="square" lIns="0" rIns="0" tIns="0" bIns="0">
            <a:spAutoFit/>
          </a:bodyPr>
          <a:lstStyle/>
          <a:p>
            <a:pPr>
              <a:spcAft>
                <a:spcPts val="500"/>
              </a:spcAft>
              <a:defRPr sz="1700" b="0">
                <a:solidFill>
                  <a:srgbClr val="172D23"/>
                </a:solidFill>
                <a:latin typeface="DejaVu Sans"/>
              </a:defRPr>
            </a:pPr>
            <a:r>
              <a:t>Count paid buyers, not clicks.</a:t>
            </a:r>
          </a:p>
        </p:txBody>
      </p:sp>
      <p:sp>
        <p:nvSpPr>
          <p:cNvPr id="30" name="Rectangle 29"/>
          <p:cNvSpPr/>
          <p:nvPr/>
        </p:nvSpPr>
        <p:spPr>
          <a:xfrm>
            <a:off x="594360" y="5989320"/>
            <a:ext cx="50292" cy="365760"/>
          </a:xfrm>
          <a:prstGeom prst="rect">
            <a:avLst/>
          </a:prstGeom>
          <a:solidFill>
            <a:srgbClr val="43B0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95528" y="6003036"/>
            <a:ext cx="10789920" cy="521207"/>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More messages are not the goal. More economically acquired customers are.</a:t>
            </a:r>
          </a:p>
        </p:txBody>
      </p:sp>
      <p:sp>
        <p:nvSpPr>
          <p:cNvPr id="32" name="TextBox 31"/>
          <p:cNvSpPr txBox="1"/>
          <p:nvPr/>
        </p:nvSpPr>
        <p:spPr>
          <a:xfrm>
            <a:off x="594360" y="6464808"/>
            <a:ext cx="10515600" cy="210312"/>
          </a:xfrm>
          <a:prstGeom prst="rect">
            <a:avLst/>
          </a:prstGeom>
          <a:noFill/>
        </p:spPr>
        <p:txBody>
          <a:bodyPr wrap="square" lIns="0" rIns="0" tIns="0" bIns="0">
            <a:spAutoFit/>
          </a:bodyPr>
          <a:lstStyle/>
          <a:p>
            <a:pPr>
              <a:spcAft>
                <a:spcPts val="500"/>
              </a:spcAft>
              <a:defRPr sz="1000" b="0">
                <a:solidFill>
                  <a:srgbClr val="5B6961"/>
                </a:solidFill>
                <a:latin typeface="DejaVu Sans"/>
              </a:defRPr>
            </a:pPr>
            <a:r>
              <a:t>Setup: Ads Manager → Engagement → Messaging apps / WhatsApp (current UI and eligibility may vary).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56616"/>
            <a:ext cx="9144000" cy="228600"/>
          </a:xfrm>
          <a:prstGeom prst="rect">
            <a:avLst/>
          </a:prstGeom>
          <a:noFill/>
        </p:spPr>
        <p:txBody>
          <a:bodyPr wrap="square" lIns="0" rIns="0" tIns="0" bIns="0">
            <a:spAutoFit/>
          </a:bodyPr>
          <a:lstStyle/>
          <a:p>
            <a:pPr>
              <a:spcAft>
                <a:spcPts val="500"/>
              </a:spcAft>
              <a:defRPr sz="1000" b="1">
                <a:solidFill>
                  <a:srgbClr val="215732"/>
                </a:solidFill>
                <a:latin typeface="DejaVu Sans"/>
              </a:defRPr>
            </a:pPr>
            <a:r>
              <a:t>INSTAPRENYUA  /  02 / TEST THE ECONOMICS</a:t>
            </a:r>
          </a:p>
        </p:txBody>
      </p:sp>
      <p:sp>
        <p:nvSpPr>
          <p:cNvPr id="3" name="Rectangle 2"/>
          <p:cNvSpPr/>
          <p:nvPr/>
        </p:nvSpPr>
        <p:spPr>
          <a:xfrm>
            <a:off x="10213848" y="301752"/>
            <a:ext cx="1380744" cy="448056"/>
          </a:xfrm>
          <a:prstGeom prst="rect">
            <a:avLst/>
          </a:prstGeom>
          <a:solidFill>
            <a:srgbClr val="FFFFFF"/>
          </a:solidFill>
          <a:ln w="10160">
            <a:solidFill>
              <a:srgbClr val="86A18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287000" y="365760"/>
            <a:ext cx="1234440" cy="320040"/>
          </a:xfrm>
          <a:prstGeom prst="rect">
            <a:avLst/>
          </a:prstGeom>
          <a:noFill/>
        </p:spPr>
        <p:txBody>
          <a:bodyPr wrap="square" lIns="0" rIns="0" tIns="0" bIns="0">
            <a:spAutoFit/>
          </a:bodyPr>
          <a:lstStyle/>
          <a:p>
            <a:pPr algn="ctr">
              <a:spcAft>
                <a:spcPts val="500"/>
              </a:spcAft>
              <a:defRPr sz="850" b="0">
                <a:solidFill>
                  <a:srgbClr val="5B6961"/>
                </a:solidFill>
                <a:latin typeface="DejaVu Sans"/>
              </a:defRPr>
            </a:pPr>
            <a:r>
              <a:t>CRDB logo</a:t>
            </a:r>
          </a:p>
          <a:p>
            <a:pPr algn="ctr">
              <a:spcAft>
                <a:spcPts val="500"/>
              </a:spcAft>
              <a:defRPr sz="850" b="0">
                <a:solidFill>
                  <a:srgbClr val="5B6961"/>
                </a:solidFill>
                <a:latin typeface="DejaVu Sans"/>
              </a:defRPr>
            </a:pPr>
            <a:r>
              <a:t>asset needed</a:t>
            </a:r>
          </a:p>
        </p:txBody>
      </p:sp>
      <p:sp>
        <p:nvSpPr>
          <p:cNvPr id="5" name="TextBox 4"/>
          <p:cNvSpPr txBox="1"/>
          <p:nvPr/>
        </p:nvSpPr>
        <p:spPr>
          <a:xfrm>
            <a:off x="11201400" y="6519672"/>
            <a:ext cx="384048" cy="182880"/>
          </a:xfrm>
          <a:prstGeom prst="rect">
            <a:avLst/>
          </a:prstGeom>
          <a:noFill/>
        </p:spPr>
        <p:txBody>
          <a:bodyPr wrap="square" lIns="0" rIns="0" tIns="0" bIns="0">
            <a:spAutoFit/>
          </a:bodyPr>
          <a:lstStyle/>
          <a:p>
            <a:pPr>
              <a:spcAft>
                <a:spcPts val="500"/>
              </a:spcAft>
              <a:defRPr sz="900" b="0">
                <a:solidFill>
                  <a:srgbClr val="5B6961"/>
                </a:solidFill>
                <a:latin typeface="DejaVu Sans"/>
              </a:defRPr>
            </a:pPr>
            <a:r>
              <a:t>05</a:t>
            </a:r>
          </a:p>
        </p:txBody>
      </p:sp>
      <p:sp>
        <p:nvSpPr>
          <p:cNvPr id="6" name="TextBox 5"/>
          <p:cNvSpPr txBox="1"/>
          <p:nvPr/>
        </p:nvSpPr>
        <p:spPr>
          <a:xfrm>
            <a:off x="594360" y="941832"/>
            <a:ext cx="11000232" cy="914400"/>
          </a:xfrm>
          <a:prstGeom prst="rect">
            <a:avLst/>
          </a:prstGeom>
          <a:noFill/>
        </p:spPr>
        <p:txBody>
          <a:bodyPr wrap="square" lIns="0" rIns="0" tIns="0" bIns="0">
            <a:spAutoFit/>
          </a:bodyPr>
          <a:lstStyle/>
          <a:p>
            <a:pPr>
              <a:spcAft>
                <a:spcPts val="500"/>
              </a:spcAft>
              <a:defRPr sz="3100" b="1">
                <a:solidFill>
                  <a:srgbClr val="172D23"/>
                </a:solidFill>
                <a:latin typeface="DejaVu Sans"/>
              </a:defRPr>
            </a:pPr>
            <a:r>
              <a:t>Can TZS 35,000 generate a worthwhile result?</a:t>
            </a:r>
          </a:p>
        </p:txBody>
      </p:sp>
      <p:sp>
        <p:nvSpPr>
          <p:cNvPr id="7" name="TextBox 6"/>
          <p:cNvSpPr txBox="1"/>
          <p:nvPr/>
        </p:nvSpPr>
        <p:spPr>
          <a:xfrm>
            <a:off x="594360" y="2084831"/>
            <a:ext cx="4937760" cy="795528"/>
          </a:xfrm>
          <a:prstGeom prst="rect">
            <a:avLst/>
          </a:prstGeom>
          <a:noFill/>
        </p:spPr>
        <p:txBody>
          <a:bodyPr wrap="square" lIns="0" rIns="0" tIns="0" bIns="0">
            <a:spAutoFit/>
          </a:bodyPr>
          <a:lstStyle/>
          <a:p>
            <a:pPr>
              <a:spcAft>
                <a:spcPts val="500"/>
              </a:spcAft>
              <a:defRPr sz="4600" b="1">
                <a:solidFill>
                  <a:srgbClr val="215732"/>
                </a:solidFill>
                <a:latin typeface="DejaVu Sans"/>
              </a:defRPr>
            </a:pPr>
            <a:r>
              <a:t>TZS 35,000</a:t>
            </a:r>
          </a:p>
        </p:txBody>
      </p:sp>
      <p:sp>
        <p:nvSpPr>
          <p:cNvPr id="8" name="TextBox 7"/>
          <p:cNvSpPr txBox="1"/>
          <p:nvPr/>
        </p:nvSpPr>
        <p:spPr>
          <a:xfrm>
            <a:off x="594360" y="2916936"/>
            <a:ext cx="5029200" cy="320040"/>
          </a:xfrm>
          <a:prstGeom prst="rect">
            <a:avLst/>
          </a:prstGeom>
          <a:noFill/>
        </p:spPr>
        <p:txBody>
          <a:bodyPr wrap="square" lIns="0" rIns="0" tIns="0" bIns="0">
            <a:spAutoFit/>
          </a:bodyPr>
          <a:lstStyle/>
          <a:p>
            <a:pPr>
              <a:spcAft>
                <a:spcPts val="500"/>
              </a:spcAft>
              <a:defRPr sz="1900" b="0">
                <a:solidFill>
                  <a:srgbClr val="5B6961"/>
                </a:solidFill>
                <a:latin typeface="DejaVu Sans"/>
              </a:defRPr>
            </a:pPr>
            <a:r>
              <a:t>TZS 5,000 per day × 7 days</a:t>
            </a:r>
          </a:p>
        </p:txBody>
      </p:sp>
      <p:sp>
        <p:nvSpPr>
          <p:cNvPr id="9" name="TextBox 8"/>
          <p:cNvSpPr txBox="1"/>
          <p:nvPr/>
        </p:nvSpPr>
        <p:spPr>
          <a:xfrm>
            <a:off x="6400800" y="2176272"/>
            <a:ext cx="5193792" cy="411480"/>
          </a:xfrm>
          <a:prstGeom prst="rect">
            <a:avLst/>
          </a:prstGeom>
          <a:noFill/>
        </p:spPr>
        <p:txBody>
          <a:bodyPr wrap="square" lIns="0" rIns="0" tIns="0" bIns="0">
            <a:spAutoFit/>
          </a:bodyPr>
          <a:lstStyle/>
          <a:p>
            <a:pPr>
              <a:spcAft>
                <a:spcPts val="500"/>
              </a:spcAft>
              <a:defRPr sz="2400" b="1">
                <a:solidFill>
                  <a:srgbClr val="215732"/>
                </a:solidFill>
                <a:latin typeface="DejaVu Sans"/>
              </a:defRPr>
            </a:pPr>
            <a:r>
              <a:t>TZS 15,000 per paid sale</a:t>
            </a:r>
          </a:p>
        </p:txBody>
      </p:sp>
      <p:sp>
        <p:nvSpPr>
          <p:cNvPr id="10" name="TextBox 9"/>
          <p:cNvSpPr txBox="1"/>
          <p:nvPr/>
        </p:nvSpPr>
        <p:spPr>
          <a:xfrm>
            <a:off x="6400800" y="2724912"/>
            <a:ext cx="5193792" cy="640080"/>
          </a:xfrm>
          <a:prstGeom prst="rect">
            <a:avLst/>
          </a:prstGeom>
          <a:noFill/>
        </p:spPr>
        <p:txBody>
          <a:bodyPr wrap="square" lIns="0" rIns="0" tIns="0" bIns="0">
            <a:spAutoFit/>
          </a:bodyPr>
          <a:lstStyle/>
          <a:p>
            <a:pPr>
              <a:spcAft>
                <a:spcPts val="500"/>
              </a:spcAft>
              <a:defRPr sz="1900" b="0">
                <a:solidFill>
                  <a:srgbClr val="5B6961"/>
                </a:solidFill>
                <a:latin typeface="DejaVu Sans"/>
              </a:defRPr>
            </a:pPr>
            <a:r>
              <a:t>Contribution before ads,</a:t>
            </a:r>
          </a:p>
          <a:p>
            <a:pPr>
              <a:spcAft>
                <a:spcPts val="500"/>
              </a:spcAft>
              <a:defRPr sz="1900" b="0">
                <a:solidFill>
                  <a:srgbClr val="5B6961"/>
                </a:solidFill>
                <a:latin typeface="DejaVu Sans"/>
              </a:defRPr>
            </a:pPr>
            <a:r>
              <a:t>after direct product costs</a:t>
            </a:r>
          </a:p>
        </p:txBody>
      </p:sp>
      <p:sp>
        <p:nvSpPr>
          <p:cNvPr id="11" name="Rectangle 10"/>
          <p:cNvSpPr/>
          <p:nvPr/>
        </p:nvSpPr>
        <p:spPr>
          <a:xfrm>
            <a:off x="594360" y="3657600"/>
            <a:ext cx="3465576" cy="1572768"/>
          </a:xfrm>
          <a:prstGeom prst="rect">
            <a:avLst/>
          </a:prstGeom>
          <a:solidFill>
            <a:srgbClr val="FAF2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77240" y="3840480"/>
            <a:ext cx="3099816" cy="365760"/>
          </a:xfrm>
          <a:prstGeom prst="rect">
            <a:avLst/>
          </a:prstGeom>
          <a:noFill/>
        </p:spPr>
        <p:txBody>
          <a:bodyPr wrap="square" lIns="0" rIns="0" tIns="0" bIns="0">
            <a:spAutoFit/>
          </a:bodyPr>
          <a:lstStyle/>
          <a:p>
            <a:pPr>
              <a:spcAft>
                <a:spcPts val="500"/>
              </a:spcAft>
              <a:defRPr sz="2100" b="1">
                <a:solidFill>
                  <a:srgbClr val="172D23"/>
                </a:solidFill>
                <a:latin typeface="DejaVu Sans"/>
              </a:defRPr>
            </a:pPr>
            <a:r>
              <a:t>1 paid sale</a:t>
            </a:r>
          </a:p>
        </p:txBody>
      </p:sp>
      <p:sp>
        <p:nvSpPr>
          <p:cNvPr id="13" name="TextBox 12"/>
          <p:cNvSpPr txBox="1"/>
          <p:nvPr/>
        </p:nvSpPr>
        <p:spPr>
          <a:xfrm>
            <a:off x="777240" y="4443984"/>
            <a:ext cx="3099816" cy="502920"/>
          </a:xfrm>
          <a:prstGeom prst="rect">
            <a:avLst/>
          </a:prstGeom>
          <a:noFill/>
        </p:spPr>
        <p:txBody>
          <a:bodyPr wrap="square" lIns="0" rIns="0" tIns="0" bIns="0">
            <a:spAutoFit/>
          </a:bodyPr>
          <a:lstStyle/>
          <a:p>
            <a:pPr>
              <a:spcAft>
                <a:spcPts val="500"/>
              </a:spcAft>
              <a:defRPr sz="2600" b="1">
                <a:solidFill>
                  <a:srgbClr val="A34A3C"/>
                </a:solidFill>
                <a:latin typeface="DejaVu Sans"/>
              </a:defRPr>
            </a:pPr>
            <a:r>
              <a:t>−TZS 20,000</a:t>
            </a:r>
          </a:p>
        </p:txBody>
      </p:sp>
      <p:sp>
        <p:nvSpPr>
          <p:cNvPr id="14" name="Rectangle 13"/>
          <p:cNvSpPr/>
          <p:nvPr/>
        </p:nvSpPr>
        <p:spPr>
          <a:xfrm>
            <a:off x="4361688" y="3657600"/>
            <a:ext cx="3465576" cy="1572768"/>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44568" y="3840480"/>
            <a:ext cx="3099816" cy="365760"/>
          </a:xfrm>
          <a:prstGeom prst="rect">
            <a:avLst/>
          </a:prstGeom>
          <a:noFill/>
        </p:spPr>
        <p:txBody>
          <a:bodyPr wrap="square" lIns="0" rIns="0" tIns="0" bIns="0">
            <a:spAutoFit/>
          </a:bodyPr>
          <a:lstStyle/>
          <a:p>
            <a:pPr>
              <a:spcAft>
                <a:spcPts val="500"/>
              </a:spcAft>
              <a:defRPr sz="2100" b="1">
                <a:solidFill>
                  <a:srgbClr val="172D23"/>
                </a:solidFill>
                <a:latin typeface="DejaVu Sans"/>
              </a:defRPr>
            </a:pPr>
            <a:r>
              <a:t>3 paid sales</a:t>
            </a:r>
          </a:p>
        </p:txBody>
      </p:sp>
      <p:sp>
        <p:nvSpPr>
          <p:cNvPr id="16" name="TextBox 15"/>
          <p:cNvSpPr txBox="1"/>
          <p:nvPr/>
        </p:nvSpPr>
        <p:spPr>
          <a:xfrm>
            <a:off x="4544568" y="4443984"/>
            <a:ext cx="3099816" cy="502920"/>
          </a:xfrm>
          <a:prstGeom prst="rect">
            <a:avLst/>
          </a:prstGeom>
          <a:noFill/>
        </p:spPr>
        <p:txBody>
          <a:bodyPr wrap="square" lIns="0" rIns="0" tIns="0" bIns="0">
            <a:spAutoFit/>
          </a:bodyPr>
          <a:lstStyle/>
          <a:p>
            <a:pPr>
              <a:spcAft>
                <a:spcPts val="500"/>
              </a:spcAft>
              <a:defRPr sz="2600" b="1">
                <a:solidFill>
                  <a:srgbClr val="215732"/>
                </a:solidFill>
                <a:latin typeface="DejaVu Sans"/>
              </a:defRPr>
            </a:pPr>
            <a:r>
              <a:t>+TZS 10,000</a:t>
            </a:r>
          </a:p>
        </p:txBody>
      </p:sp>
      <p:sp>
        <p:nvSpPr>
          <p:cNvPr id="17" name="Rectangle 16"/>
          <p:cNvSpPr/>
          <p:nvPr/>
        </p:nvSpPr>
        <p:spPr>
          <a:xfrm>
            <a:off x="8129016" y="3657600"/>
            <a:ext cx="3465576" cy="1572768"/>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311896" y="3840480"/>
            <a:ext cx="3099816" cy="365760"/>
          </a:xfrm>
          <a:prstGeom prst="rect">
            <a:avLst/>
          </a:prstGeom>
          <a:noFill/>
        </p:spPr>
        <p:txBody>
          <a:bodyPr wrap="square" lIns="0" rIns="0" tIns="0" bIns="0">
            <a:spAutoFit/>
          </a:bodyPr>
          <a:lstStyle/>
          <a:p>
            <a:pPr>
              <a:spcAft>
                <a:spcPts val="500"/>
              </a:spcAft>
              <a:defRPr sz="2100" b="1">
                <a:solidFill>
                  <a:srgbClr val="172D23"/>
                </a:solidFill>
                <a:latin typeface="DejaVu Sans"/>
              </a:defRPr>
            </a:pPr>
            <a:r>
              <a:t>5 paid sales</a:t>
            </a:r>
          </a:p>
        </p:txBody>
      </p:sp>
      <p:sp>
        <p:nvSpPr>
          <p:cNvPr id="19" name="TextBox 18"/>
          <p:cNvSpPr txBox="1"/>
          <p:nvPr/>
        </p:nvSpPr>
        <p:spPr>
          <a:xfrm>
            <a:off x="8311896" y="4443984"/>
            <a:ext cx="3099816" cy="502920"/>
          </a:xfrm>
          <a:prstGeom prst="rect">
            <a:avLst/>
          </a:prstGeom>
          <a:noFill/>
        </p:spPr>
        <p:txBody>
          <a:bodyPr wrap="square" lIns="0" rIns="0" tIns="0" bIns="0">
            <a:spAutoFit/>
          </a:bodyPr>
          <a:lstStyle/>
          <a:p>
            <a:pPr>
              <a:spcAft>
                <a:spcPts val="500"/>
              </a:spcAft>
              <a:defRPr sz="2600" b="1">
                <a:solidFill>
                  <a:srgbClr val="215732"/>
                </a:solidFill>
                <a:latin typeface="DejaVu Sans"/>
              </a:defRPr>
            </a:pPr>
            <a:r>
              <a:t>+TZS 40,000</a:t>
            </a:r>
          </a:p>
        </p:txBody>
      </p:sp>
      <p:sp>
        <p:nvSpPr>
          <p:cNvPr id="20" name="TextBox 19"/>
          <p:cNvSpPr txBox="1"/>
          <p:nvPr/>
        </p:nvSpPr>
        <p:spPr>
          <a:xfrm>
            <a:off x="594360" y="5422392"/>
            <a:ext cx="11000232" cy="320040"/>
          </a:xfrm>
          <a:prstGeom prst="rect">
            <a:avLst/>
          </a:prstGeom>
          <a:noFill/>
        </p:spPr>
        <p:txBody>
          <a:bodyPr wrap="square" lIns="0" rIns="0" tIns="0" bIns="0">
            <a:spAutoFit/>
          </a:bodyPr>
          <a:lstStyle/>
          <a:p>
            <a:pPr>
              <a:spcAft>
                <a:spcPts val="500"/>
              </a:spcAft>
              <a:defRPr sz="1200" b="1">
                <a:solidFill>
                  <a:srgbClr val="5B6961"/>
                </a:solidFill>
                <a:latin typeface="DejaVu Sans"/>
              </a:defRPr>
            </a:pPr>
            <a:r>
              <a:t>CONTRIBUTION AFTER ADVERTISING</a:t>
            </a:r>
          </a:p>
        </p:txBody>
      </p:sp>
      <p:sp>
        <p:nvSpPr>
          <p:cNvPr id="21" name="Rectangle 20"/>
          <p:cNvSpPr/>
          <p:nvPr/>
        </p:nvSpPr>
        <p:spPr>
          <a:xfrm>
            <a:off x="594360" y="5934456"/>
            <a:ext cx="50292" cy="365760"/>
          </a:xfrm>
          <a:prstGeom prst="rect">
            <a:avLst/>
          </a:prstGeom>
          <a:solidFill>
            <a:srgbClr val="43B0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95528" y="5948172"/>
            <a:ext cx="10789920" cy="521207"/>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At least 3 paid sales are needed to cover the advertising spend.</a:t>
            </a:r>
          </a:p>
        </p:txBody>
      </p:sp>
      <p:sp>
        <p:nvSpPr>
          <p:cNvPr id="23" name="TextBox 22"/>
          <p:cNvSpPr txBox="1"/>
          <p:nvPr/>
        </p:nvSpPr>
        <p:spPr>
          <a:xfrm>
            <a:off x="594360" y="6400800"/>
            <a:ext cx="10515600" cy="301752"/>
          </a:xfrm>
          <a:prstGeom prst="rect">
            <a:avLst/>
          </a:prstGeom>
          <a:noFill/>
        </p:spPr>
        <p:txBody>
          <a:bodyPr wrap="square" lIns="0" rIns="0" tIns="0" bIns="0">
            <a:spAutoFit/>
          </a:bodyPr>
          <a:lstStyle/>
          <a:p>
            <a:pPr>
              <a:spcAft>
                <a:spcPts val="500"/>
              </a:spcAft>
              <a:defRPr sz="950" b="0">
                <a:solidFill>
                  <a:srgbClr val="5B6961"/>
                </a:solidFill>
                <a:latin typeface="DejaVu Sans"/>
              </a:defRPr>
            </a:pPr>
            <a:r>
              <a:t>Illustration only—not a forecast or guarantee. Excludes fixed overheads, taxes and unaccounted costs.</a:t>
            </a:r>
          </a:p>
          <a:p>
            <a:pPr>
              <a:spcAft>
                <a:spcPts val="500"/>
              </a:spcAft>
              <a:defRPr sz="950" b="0">
                <a:solidFill>
                  <a:srgbClr val="5B6961"/>
                </a:solidFill>
                <a:latin typeface="DejaVu Sans"/>
              </a:defRPr>
            </a:pPr>
            <a:r>
              <a:t>Actual Meta minimum ad budgets may vary.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56616"/>
            <a:ext cx="9144000" cy="228600"/>
          </a:xfrm>
          <a:prstGeom prst="rect">
            <a:avLst/>
          </a:prstGeom>
          <a:noFill/>
        </p:spPr>
        <p:txBody>
          <a:bodyPr wrap="square" lIns="0" rIns="0" tIns="0" bIns="0">
            <a:spAutoFit/>
          </a:bodyPr>
          <a:lstStyle/>
          <a:p>
            <a:pPr>
              <a:spcAft>
                <a:spcPts val="500"/>
              </a:spcAft>
              <a:defRPr sz="1000" b="1">
                <a:solidFill>
                  <a:srgbClr val="215732"/>
                </a:solidFill>
                <a:latin typeface="DejaVu Sans"/>
              </a:defRPr>
            </a:pPr>
            <a:r>
              <a:t>INSTAPRENYUA  /  03 / CONVERSION</a:t>
            </a:r>
          </a:p>
        </p:txBody>
      </p:sp>
      <p:sp>
        <p:nvSpPr>
          <p:cNvPr id="3" name="Rectangle 2"/>
          <p:cNvSpPr/>
          <p:nvPr/>
        </p:nvSpPr>
        <p:spPr>
          <a:xfrm>
            <a:off x="10213848" y="301752"/>
            <a:ext cx="1380744" cy="448056"/>
          </a:xfrm>
          <a:prstGeom prst="rect">
            <a:avLst/>
          </a:prstGeom>
          <a:solidFill>
            <a:srgbClr val="FFFFFF"/>
          </a:solidFill>
          <a:ln w="10160">
            <a:solidFill>
              <a:srgbClr val="86A18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287000" y="365760"/>
            <a:ext cx="1234440" cy="320040"/>
          </a:xfrm>
          <a:prstGeom prst="rect">
            <a:avLst/>
          </a:prstGeom>
          <a:noFill/>
        </p:spPr>
        <p:txBody>
          <a:bodyPr wrap="square" lIns="0" rIns="0" tIns="0" bIns="0">
            <a:spAutoFit/>
          </a:bodyPr>
          <a:lstStyle/>
          <a:p>
            <a:pPr algn="ctr">
              <a:spcAft>
                <a:spcPts val="500"/>
              </a:spcAft>
              <a:defRPr sz="850" b="0">
                <a:solidFill>
                  <a:srgbClr val="5B6961"/>
                </a:solidFill>
                <a:latin typeface="DejaVu Sans"/>
              </a:defRPr>
            </a:pPr>
            <a:r>
              <a:t>CRDB logo</a:t>
            </a:r>
          </a:p>
          <a:p>
            <a:pPr algn="ctr">
              <a:spcAft>
                <a:spcPts val="500"/>
              </a:spcAft>
              <a:defRPr sz="850" b="0">
                <a:solidFill>
                  <a:srgbClr val="5B6961"/>
                </a:solidFill>
                <a:latin typeface="DejaVu Sans"/>
              </a:defRPr>
            </a:pPr>
            <a:r>
              <a:t>asset needed</a:t>
            </a:r>
          </a:p>
        </p:txBody>
      </p:sp>
      <p:sp>
        <p:nvSpPr>
          <p:cNvPr id="5" name="TextBox 4"/>
          <p:cNvSpPr txBox="1"/>
          <p:nvPr/>
        </p:nvSpPr>
        <p:spPr>
          <a:xfrm>
            <a:off x="11201400" y="6519672"/>
            <a:ext cx="384048" cy="182880"/>
          </a:xfrm>
          <a:prstGeom prst="rect">
            <a:avLst/>
          </a:prstGeom>
          <a:noFill/>
        </p:spPr>
        <p:txBody>
          <a:bodyPr wrap="square" lIns="0" rIns="0" tIns="0" bIns="0">
            <a:spAutoFit/>
          </a:bodyPr>
          <a:lstStyle/>
          <a:p>
            <a:pPr>
              <a:spcAft>
                <a:spcPts val="500"/>
              </a:spcAft>
              <a:defRPr sz="900" b="0">
                <a:solidFill>
                  <a:srgbClr val="5B6961"/>
                </a:solidFill>
                <a:latin typeface="DejaVu Sans"/>
              </a:defRPr>
            </a:pPr>
            <a:r>
              <a:t>06</a:t>
            </a:r>
          </a:p>
        </p:txBody>
      </p:sp>
      <p:sp>
        <p:nvSpPr>
          <p:cNvPr id="6" name="TextBox 5"/>
          <p:cNvSpPr txBox="1"/>
          <p:nvPr/>
        </p:nvSpPr>
        <p:spPr>
          <a:xfrm>
            <a:off x="594360" y="941832"/>
            <a:ext cx="11000232" cy="914400"/>
          </a:xfrm>
          <a:prstGeom prst="rect">
            <a:avLst/>
          </a:prstGeom>
          <a:noFill/>
        </p:spPr>
        <p:txBody>
          <a:bodyPr wrap="square" lIns="0" rIns="0" tIns="0" bIns="0">
            <a:spAutoFit/>
          </a:bodyPr>
          <a:lstStyle/>
          <a:p>
            <a:pPr>
              <a:spcAft>
                <a:spcPts val="500"/>
              </a:spcAft>
              <a:defRPr sz="3100" b="1">
                <a:solidFill>
                  <a:srgbClr val="172D23"/>
                </a:solidFill>
                <a:latin typeface="DejaVu Sans"/>
              </a:defRPr>
            </a:pPr>
            <a:r>
              <a:t>Trust turns inquiries into purchases</a:t>
            </a:r>
          </a:p>
        </p:txBody>
      </p:sp>
      <p:sp>
        <p:nvSpPr>
          <p:cNvPr id="7" name="Rectangle 6"/>
          <p:cNvSpPr/>
          <p:nvPr/>
        </p:nvSpPr>
        <p:spPr>
          <a:xfrm>
            <a:off x="594360" y="2029968"/>
            <a:ext cx="3950208" cy="2487168"/>
          </a:xfrm>
          <a:prstGeom prst="rect">
            <a:avLst/>
          </a:prstGeom>
          <a:solidFill>
            <a:srgbClr val="F1F6F0"/>
          </a:solidFill>
          <a:ln w="10160">
            <a:solidFill>
              <a:srgbClr val="CCD8CD"/>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31520" y="2944368"/>
            <a:ext cx="3675888" cy="731520"/>
          </a:xfrm>
          <a:prstGeom prst="rect">
            <a:avLst/>
          </a:prstGeom>
          <a:noFill/>
        </p:spPr>
        <p:txBody>
          <a:bodyPr wrap="square" lIns="0" rIns="0" tIns="0" bIns="0">
            <a:spAutoFit/>
          </a:bodyPr>
          <a:lstStyle/>
          <a:p>
            <a:pPr algn="ctr">
              <a:spcAft>
                <a:spcPts val="500"/>
              </a:spcAft>
              <a:defRPr sz="1500" b="0">
                <a:solidFill>
                  <a:srgbClr val="5B6961"/>
                </a:solidFill>
                <a:latin typeface="DejaVu Sans"/>
              </a:defRPr>
            </a:pPr>
            <a:r>
              <a:t>Supplied lifestyle photograph</a:t>
            </a:r>
          </a:p>
          <a:p>
            <a:pPr algn="ctr">
              <a:spcAft>
                <a:spcPts val="500"/>
              </a:spcAft>
              <a:defRPr sz="1500" b="0">
                <a:solidFill>
                  <a:srgbClr val="5B6961"/>
                </a:solidFill>
                <a:latin typeface="DejaVu Sans"/>
              </a:defRPr>
            </a:pPr>
            <a:r>
              <a:t>Photo not supplied</a:t>
            </a:r>
          </a:p>
        </p:txBody>
      </p:sp>
      <p:sp>
        <p:nvSpPr>
          <p:cNvPr id="9" name="TextBox 8"/>
          <p:cNvSpPr txBox="1"/>
          <p:nvPr/>
        </p:nvSpPr>
        <p:spPr>
          <a:xfrm>
            <a:off x="594360" y="4599432"/>
            <a:ext cx="3950208" cy="411480"/>
          </a:xfrm>
          <a:prstGeom prst="rect">
            <a:avLst/>
          </a:prstGeom>
          <a:noFill/>
        </p:spPr>
        <p:txBody>
          <a:bodyPr wrap="square" lIns="0" rIns="0" tIns="0" bIns="0">
            <a:spAutoFit/>
          </a:bodyPr>
          <a:lstStyle/>
          <a:p>
            <a:pPr>
              <a:spcAft>
                <a:spcPts val="500"/>
              </a:spcAft>
              <a:defRPr sz="1100" b="0">
                <a:solidFill>
                  <a:srgbClr val="5B6961"/>
                </a:solidFill>
                <a:latin typeface="DejaVu Sans"/>
              </a:defRPr>
            </a:pPr>
            <a:r>
              <a:t>Lifestyle illustration • a different fridge model</a:t>
            </a:r>
          </a:p>
        </p:txBody>
      </p:sp>
      <p:sp>
        <p:nvSpPr>
          <p:cNvPr id="10" name="Rounded Rectangle 9"/>
          <p:cNvSpPr/>
          <p:nvPr/>
        </p:nvSpPr>
        <p:spPr>
          <a:xfrm>
            <a:off x="5020056" y="2029968"/>
            <a:ext cx="6574536" cy="2606040"/>
          </a:xfrm>
          <a:prstGeom prst="roundRect">
            <a:avLst>
              <a:gd name="adj" fmla="val 8000"/>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230368" y="2194560"/>
            <a:ext cx="6153912" cy="246888"/>
          </a:xfrm>
          <a:prstGeom prst="rect">
            <a:avLst/>
          </a:prstGeom>
          <a:noFill/>
        </p:spPr>
        <p:txBody>
          <a:bodyPr wrap="square" lIns="0" rIns="0" tIns="0" bIns="0">
            <a:spAutoFit/>
          </a:bodyPr>
          <a:lstStyle/>
          <a:p>
            <a:pPr>
              <a:spcAft>
                <a:spcPts val="500"/>
              </a:spcAft>
              <a:defRPr sz="1000" b="1">
                <a:solidFill>
                  <a:srgbClr val="215732"/>
                </a:solidFill>
                <a:latin typeface="DejaVu Sans"/>
              </a:defRPr>
            </a:pPr>
            <a:r>
              <a:t>WHATSAPP-STYLE CONVERSATION / CONCEPTUAL</a:t>
            </a:r>
          </a:p>
        </p:txBody>
      </p:sp>
      <p:sp>
        <p:nvSpPr>
          <p:cNvPr id="12" name="Rounded Rectangle 11"/>
          <p:cNvSpPr/>
          <p:nvPr/>
        </p:nvSpPr>
        <p:spPr>
          <a:xfrm>
            <a:off x="5230368" y="2660904"/>
            <a:ext cx="5413248" cy="612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394960" y="2761488"/>
            <a:ext cx="5084064" cy="457200"/>
          </a:xfrm>
          <a:prstGeom prst="rect">
            <a:avLst/>
          </a:prstGeom>
          <a:noFill/>
        </p:spPr>
        <p:txBody>
          <a:bodyPr wrap="square" lIns="0" rIns="0" tIns="0" bIns="0">
            <a:spAutoFit/>
          </a:bodyPr>
          <a:lstStyle/>
          <a:p>
            <a:pPr>
              <a:spcAft>
                <a:spcPts val="500"/>
              </a:spcAft>
              <a:defRPr sz="1700" b="0">
                <a:solidFill>
                  <a:srgbClr val="172D23"/>
                </a:solidFill>
                <a:latin typeface="DejaVu Sans"/>
              </a:defRPr>
            </a:pPr>
            <a:r>
              <a:t>“Natafuta friji kwa nyumba ndogo. Ipi itanifaa?”</a:t>
            </a:r>
          </a:p>
        </p:txBody>
      </p:sp>
      <p:sp>
        <p:nvSpPr>
          <p:cNvPr id="14" name="Rounded Rectangle 13"/>
          <p:cNvSpPr/>
          <p:nvPr/>
        </p:nvSpPr>
        <p:spPr>
          <a:xfrm>
            <a:off x="5623560" y="3456432"/>
            <a:ext cx="5751576" cy="932688"/>
          </a:xfrm>
          <a:prstGeom prst="roundRect">
            <a:avLst>
              <a:gd name="adj" fmla="val 8000"/>
            </a:avLst>
          </a:prstGeom>
          <a:solidFill>
            <a:srgbClr val="DFEF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88152" y="3566160"/>
            <a:ext cx="5413248" cy="731520"/>
          </a:xfrm>
          <a:prstGeom prst="rect">
            <a:avLst/>
          </a:prstGeom>
          <a:noFill/>
        </p:spPr>
        <p:txBody>
          <a:bodyPr wrap="square" lIns="0" rIns="0" tIns="0" bIns="0">
            <a:spAutoFit/>
          </a:bodyPr>
          <a:lstStyle/>
          <a:p>
            <a:pPr>
              <a:spcAft>
                <a:spcPts val="500"/>
              </a:spcAft>
              <a:defRPr sz="1700" b="0">
                <a:solidFill>
                  <a:srgbClr val="172D23"/>
                </a:solidFill>
                <a:latin typeface="DejaVu Sans"/>
              </a:defRPr>
            </a:pPr>
            <a:r>
              <a:t>“Una nafasi kiasi gani na unahitaji kuhifadhi vitu vingapi? Nikusaidie kulinganisha chaguo zinazokufaa.”</a:t>
            </a:r>
          </a:p>
        </p:txBody>
      </p:sp>
      <p:sp>
        <p:nvSpPr>
          <p:cNvPr id="16" name="TextBox 15"/>
          <p:cNvSpPr txBox="1"/>
          <p:nvPr/>
        </p:nvSpPr>
        <p:spPr>
          <a:xfrm>
            <a:off x="594360" y="5120640"/>
            <a:ext cx="3300984" cy="365760"/>
          </a:xfrm>
          <a:prstGeom prst="rect">
            <a:avLst/>
          </a:prstGeom>
          <a:noFill/>
        </p:spPr>
        <p:txBody>
          <a:bodyPr wrap="square" lIns="0" rIns="0" tIns="0" bIns="0">
            <a:spAutoFit/>
          </a:bodyPr>
          <a:lstStyle/>
          <a:p>
            <a:pPr>
              <a:spcAft>
                <a:spcPts val="500"/>
              </a:spcAft>
              <a:defRPr sz="2100" b="1">
                <a:solidFill>
                  <a:srgbClr val="215732"/>
                </a:solidFill>
                <a:latin typeface="DejaVu Sans"/>
              </a:defRPr>
            </a:pPr>
            <a:r>
              <a:t>Show real value</a:t>
            </a:r>
          </a:p>
        </p:txBody>
      </p:sp>
      <p:sp>
        <p:nvSpPr>
          <p:cNvPr id="17" name="TextBox 16"/>
          <p:cNvSpPr txBox="1"/>
          <p:nvPr/>
        </p:nvSpPr>
        <p:spPr>
          <a:xfrm>
            <a:off x="594360" y="5577840"/>
            <a:ext cx="3300984" cy="548640"/>
          </a:xfrm>
          <a:prstGeom prst="rect">
            <a:avLst/>
          </a:prstGeom>
          <a:noFill/>
        </p:spPr>
        <p:txBody>
          <a:bodyPr wrap="square" lIns="0" rIns="0" tIns="0" bIns="0">
            <a:spAutoFit/>
          </a:bodyPr>
          <a:lstStyle/>
          <a:p>
            <a:pPr>
              <a:spcAft>
                <a:spcPts val="500"/>
              </a:spcAft>
              <a:defRPr sz="1600" b="0">
                <a:solidFill>
                  <a:srgbClr val="172D23"/>
                </a:solidFill>
                <a:latin typeface="DejaVu Sans"/>
              </a:defRPr>
            </a:pPr>
            <a:r>
              <a:t>Honest demos. Accurate expectations.</a:t>
            </a:r>
          </a:p>
        </p:txBody>
      </p:sp>
      <p:sp>
        <p:nvSpPr>
          <p:cNvPr id="18" name="TextBox 17"/>
          <p:cNvSpPr txBox="1"/>
          <p:nvPr/>
        </p:nvSpPr>
        <p:spPr>
          <a:xfrm>
            <a:off x="4443984" y="5120640"/>
            <a:ext cx="3300984" cy="365760"/>
          </a:xfrm>
          <a:prstGeom prst="rect">
            <a:avLst/>
          </a:prstGeom>
          <a:noFill/>
        </p:spPr>
        <p:txBody>
          <a:bodyPr wrap="square" lIns="0" rIns="0" tIns="0" bIns="0">
            <a:spAutoFit/>
          </a:bodyPr>
          <a:lstStyle/>
          <a:p>
            <a:pPr>
              <a:spcAft>
                <a:spcPts val="500"/>
              </a:spcAft>
              <a:defRPr sz="2100" b="1">
                <a:solidFill>
                  <a:srgbClr val="215732"/>
                </a:solidFill>
                <a:latin typeface="DejaVu Sans"/>
              </a:defRPr>
            </a:pPr>
            <a:r>
              <a:t>Use expertise</a:t>
            </a:r>
          </a:p>
        </p:txBody>
      </p:sp>
      <p:sp>
        <p:nvSpPr>
          <p:cNvPr id="19" name="TextBox 18"/>
          <p:cNvSpPr txBox="1"/>
          <p:nvPr/>
        </p:nvSpPr>
        <p:spPr>
          <a:xfrm>
            <a:off x="4443984" y="5577840"/>
            <a:ext cx="3300984" cy="548640"/>
          </a:xfrm>
          <a:prstGeom prst="rect">
            <a:avLst/>
          </a:prstGeom>
          <a:noFill/>
        </p:spPr>
        <p:txBody>
          <a:bodyPr wrap="square" lIns="0" rIns="0" tIns="0" bIns="0">
            <a:spAutoFit/>
          </a:bodyPr>
          <a:lstStyle/>
          <a:p>
            <a:pPr>
              <a:spcAft>
                <a:spcPts val="500"/>
              </a:spcAft>
              <a:defRPr sz="1600" b="0">
                <a:solidFill>
                  <a:srgbClr val="172D23"/>
                </a:solidFill>
                <a:latin typeface="DejaVu Sans"/>
              </a:defRPr>
            </a:pPr>
            <a:r>
              <a:t>Ask needs. Recommend suitable options.</a:t>
            </a:r>
          </a:p>
        </p:txBody>
      </p:sp>
      <p:sp>
        <p:nvSpPr>
          <p:cNvPr id="20" name="TextBox 19"/>
          <p:cNvSpPr txBox="1"/>
          <p:nvPr/>
        </p:nvSpPr>
        <p:spPr>
          <a:xfrm>
            <a:off x="8293608" y="5120640"/>
            <a:ext cx="3300984" cy="365760"/>
          </a:xfrm>
          <a:prstGeom prst="rect">
            <a:avLst/>
          </a:prstGeom>
          <a:noFill/>
        </p:spPr>
        <p:txBody>
          <a:bodyPr wrap="square" lIns="0" rIns="0" tIns="0" bIns="0">
            <a:spAutoFit/>
          </a:bodyPr>
          <a:lstStyle/>
          <a:p>
            <a:pPr>
              <a:spcAft>
                <a:spcPts val="500"/>
              </a:spcAft>
              <a:defRPr sz="2100" b="1">
                <a:solidFill>
                  <a:srgbClr val="215732"/>
                </a:solidFill>
                <a:latin typeface="DejaVu Sans"/>
              </a:defRPr>
            </a:pPr>
            <a:r>
              <a:t>Simplify ordering</a:t>
            </a:r>
          </a:p>
        </p:txBody>
      </p:sp>
      <p:sp>
        <p:nvSpPr>
          <p:cNvPr id="21" name="TextBox 20"/>
          <p:cNvSpPr txBox="1"/>
          <p:nvPr/>
        </p:nvSpPr>
        <p:spPr>
          <a:xfrm>
            <a:off x="8293608" y="5577840"/>
            <a:ext cx="3300984" cy="548640"/>
          </a:xfrm>
          <a:prstGeom prst="rect">
            <a:avLst/>
          </a:prstGeom>
          <a:noFill/>
        </p:spPr>
        <p:txBody>
          <a:bodyPr wrap="square" lIns="0" rIns="0" tIns="0" bIns="0">
            <a:spAutoFit/>
          </a:bodyPr>
          <a:lstStyle/>
          <a:p>
            <a:pPr>
              <a:spcAft>
                <a:spcPts val="500"/>
              </a:spcAft>
              <a:defRPr sz="1600" b="0">
                <a:solidFill>
                  <a:srgbClr val="172D23"/>
                </a:solidFill>
                <a:latin typeface="DejaVu Sans"/>
              </a:defRPr>
            </a:pPr>
            <a:r>
              <a:t>Clear price, availability, delivery, payment.</a:t>
            </a:r>
          </a:p>
        </p:txBody>
      </p:sp>
      <p:sp>
        <p:nvSpPr>
          <p:cNvPr id="22" name="Rectangle 21"/>
          <p:cNvSpPr/>
          <p:nvPr/>
        </p:nvSpPr>
        <p:spPr>
          <a:xfrm>
            <a:off x="594360" y="6217920"/>
            <a:ext cx="50292" cy="365760"/>
          </a:xfrm>
          <a:prstGeom prst="rect">
            <a:avLst/>
          </a:prstGeom>
          <a:solidFill>
            <a:srgbClr val="43B0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95528" y="6231636"/>
            <a:ext cx="10789920" cy="521207"/>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Make buyers confident about what they are buying—and how to buy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56616"/>
            <a:ext cx="9144000" cy="228600"/>
          </a:xfrm>
          <a:prstGeom prst="rect">
            <a:avLst/>
          </a:prstGeom>
          <a:noFill/>
        </p:spPr>
        <p:txBody>
          <a:bodyPr wrap="square" lIns="0" rIns="0" tIns="0" bIns="0">
            <a:spAutoFit/>
          </a:bodyPr>
          <a:lstStyle/>
          <a:p>
            <a:pPr>
              <a:spcAft>
                <a:spcPts val="500"/>
              </a:spcAft>
              <a:defRPr sz="1000" b="1">
                <a:solidFill>
                  <a:srgbClr val="215732"/>
                </a:solidFill>
                <a:latin typeface="DejaVu Sans"/>
              </a:defRPr>
            </a:pPr>
            <a:r>
              <a:t>INSTAPRENYUA  /  03 / RETENTION &amp; RECOMMENDATIONS</a:t>
            </a:r>
          </a:p>
        </p:txBody>
      </p:sp>
      <p:sp>
        <p:nvSpPr>
          <p:cNvPr id="3" name="Rectangle 2"/>
          <p:cNvSpPr/>
          <p:nvPr/>
        </p:nvSpPr>
        <p:spPr>
          <a:xfrm>
            <a:off x="10213848" y="301752"/>
            <a:ext cx="1380744" cy="448056"/>
          </a:xfrm>
          <a:prstGeom prst="rect">
            <a:avLst/>
          </a:prstGeom>
          <a:solidFill>
            <a:srgbClr val="FFFFFF"/>
          </a:solidFill>
          <a:ln w="10160">
            <a:solidFill>
              <a:srgbClr val="86A18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287000" y="365760"/>
            <a:ext cx="1234440" cy="320040"/>
          </a:xfrm>
          <a:prstGeom prst="rect">
            <a:avLst/>
          </a:prstGeom>
          <a:noFill/>
        </p:spPr>
        <p:txBody>
          <a:bodyPr wrap="square" lIns="0" rIns="0" tIns="0" bIns="0">
            <a:spAutoFit/>
          </a:bodyPr>
          <a:lstStyle/>
          <a:p>
            <a:pPr algn="ctr">
              <a:spcAft>
                <a:spcPts val="500"/>
              </a:spcAft>
              <a:defRPr sz="850" b="0">
                <a:solidFill>
                  <a:srgbClr val="5B6961"/>
                </a:solidFill>
                <a:latin typeface="DejaVu Sans"/>
              </a:defRPr>
            </a:pPr>
            <a:r>
              <a:t>CRDB logo</a:t>
            </a:r>
          </a:p>
          <a:p>
            <a:pPr algn="ctr">
              <a:spcAft>
                <a:spcPts val="500"/>
              </a:spcAft>
              <a:defRPr sz="850" b="0">
                <a:solidFill>
                  <a:srgbClr val="5B6961"/>
                </a:solidFill>
                <a:latin typeface="DejaVu Sans"/>
              </a:defRPr>
            </a:pPr>
            <a:r>
              <a:t>asset needed</a:t>
            </a:r>
          </a:p>
        </p:txBody>
      </p:sp>
      <p:sp>
        <p:nvSpPr>
          <p:cNvPr id="5" name="TextBox 4"/>
          <p:cNvSpPr txBox="1"/>
          <p:nvPr/>
        </p:nvSpPr>
        <p:spPr>
          <a:xfrm>
            <a:off x="11201400" y="6519672"/>
            <a:ext cx="384048" cy="182880"/>
          </a:xfrm>
          <a:prstGeom prst="rect">
            <a:avLst/>
          </a:prstGeom>
          <a:noFill/>
        </p:spPr>
        <p:txBody>
          <a:bodyPr wrap="square" lIns="0" rIns="0" tIns="0" bIns="0">
            <a:spAutoFit/>
          </a:bodyPr>
          <a:lstStyle/>
          <a:p>
            <a:pPr>
              <a:spcAft>
                <a:spcPts val="500"/>
              </a:spcAft>
              <a:defRPr sz="900" b="0">
                <a:solidFill>
                  <a:srgbClr val="5B6961"/>
                </a:solidFill>
                <a:latin typeface="DejaVu Sans"/>
              </a:defRPr>
            </a:pPr>
            <a:r>
              <a:t>07</a:t>
            </a:r>
          </a:p>
        </p:txBody>
      </p:sp>
      <p:sp>
        <p:nvSpPr>
          <p:cNvPr id="6" name="TextBox 5"/>
          <p:cNvSpPr txBox="1"/>
          <p:nvPr/>
        </p:nvSpPr>
        <p:spPr>
          <a:xfrm>
            <a:off x="594360" y="941832"/>
            <a:ext cx="11000232" cy="914400"/>
          </a:xfrm>
          <a:prstGeom prst="rect">
            <a:avLst/>
          </a:prstGeom>
          <a:noFill/>
        </p:spPr>
        <p:txBody>
          <a:bodyPr wrap="square" lIns="0" rIns="0" tIns="0" bIns="0">
            <a:spAutoFit/>
          </a:bodyPr>
          <a:lstStyle/>
          <a:p>
            <a:pPr>
              <a:spcAft>
                <a:spcPts val="500"/>
              </a:spcAft>
              <a:defRPr sz="3100" b="1">
                <a:solidFill>
                  <a:srgbClr val="172D23"/>
                </a:solidFill>
                <a:latin typeface="DejaVu Sans"/>
              </a:defRPr>
            </a:pPr>
            <a:r>
              <a:t>The relationship should not end at payment</a:t>
            </a:r>
          </a:p>
        </p:txBody>
      </p:sp>
      <p:sp>
        <p:nvSpPr>
          <p:cNvPr id="7" name="Rectangle 6"/>
          <p:cNvSpPr/>
          <p:nvPr/>
        </p:nvSpPr>
        <p:spPr>
          <a:xfrm>
            <a:off x="594360" y="2221992"/>
            <a:ext cx="2441448" cy="1033271"/>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04088" y="2441448"/>
            <a:ext cx="2221992" cy="768096"/>
          </a:xfrm>
          <a:prstGeom prst="rect">
            <a:avLst/>
          </a:prstGeom>
          <a:noFill/>
        </p:spPr>
        <p:txBody>
          <a:bodyPr wrap="square" lIns="0" rIns="0" tIns="0" bIns="0">
            <a:spAutoFit/>
          </a:bodyPr>
          <a:lstStyle/>
          <a:p>
            <a:pPr algn="ctr">
              <a:spcAft>
                <a:spcPts val="500"/>
              </a:spcAft>
              <a:defRPr sz="2000" b="1">
                <a:solidFill>
                  <a:srgbClr val="215732"/>
                </a:solidFill>
                <a:latin typeface="DejaVu Sans"/>
              </a:defRPr>
            </a:pPr>
            <a:r>
              <a:t>Paid</a:t>
            </a:r>
          </a:p>
          <a:p>
            <a:pPr algn="ctr">
              <a:spcAft>
                <a:spcPts val="500"/>
              </a:spcAft>
              <a:defRPr sz="2000" b="1">
                <a:solidFill>
                  <a:srgbClr val="215732"/>
                </a:solidFill>
                <a:latin typeface="DejaVu Sans"/>
              </a:defRPr>
            </a:pPr>
            <a:r>
              <a:t>purchase</a:t>
            </a:r>
          </a:p>
        </p:txBody>
      </p:sp>
      <p:sp>
        <p:nvSpPr>
          <p:cNvPr id="9" name="Rectangle 8"/>
          <p:cNvSpPr/>
          <p:nvPr/>
        </p:nvSpPr>
        <p:spPr>
          <a:xfrm>
            <a:off x="3447288" y="2221992"/>
            <a:ext cx="2441448" cy="1033271"/>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3557016" y="2441448"/>
            <a:ext cx="2221992" cy="768096"/>
          </a:xfrm>
          <a:prstGeom prst="rect">
            <a:avLst/>
          </a:prstGeom>
          <a:noFill/>
        </p:spPr>
        <p:txBody>
          <a:bodyPr wrap="square" lIns="0" rIns="0" tIns="0" bIns="0">
            <a:spAutoFit/>
          </a:bodyPr>
          <a:lstStyle/>
          <a:p>
            <a:pPr algn="ctr">
              <a:spcAft>
                <a:spcPts val="500"/>
              </a:spcAft>
              <a:defRPr sz="2000" b="1">
                <a:solidFill>
                  <a:srgbClr val="215732"/>
                </a:solidFill>
                <a:latin typeface="DejaVu Sans"/>
              </a:defRPr>
            </a:pPr>
            <a:r>
              <a:t>Helpful</a:t>
            </a:r>
          </a:p>
          <a:p>
            <a:pPr algn="ctr">
              <a:spcAft>
                <a:spcPts val="500"/>
              </a:spcAft>
              <a:defRPr sz="2000" b="1">
                <a:solidFill>
                  <a:srgbClr val="215732"/>
                </a:solidFill>
                <a:latin typeface="DejaVu Sans"/>
              </a:defRPr>
            </a:pPr>
            <a:r>
              <a:t>follow-up</a:t>
            </a:r>
          </a:p>
        </p:txBody>
      </p:sp>
      <p:sp>
        <p:nvSpPr>
          <p:cNvPr id="11" name="Rectangle 10"/>
          <p:cNvSpPr/>
          <p:nvPr/>
        </p:nvSpPr>
        <p:spPr>
          <a:xfrm>
            <a:off x="6300216" y="2221992"/>
            <a:ext cx="2441448" cy="1033271"/>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09944" y="2441448"/>
            <a:ext cx="2221992" cy="768096"/>
          </a:xfrm>
          <a:prstGeom prst="rect">
            <a:avLst/>
          </a:prstGeom>
          <a:noFill/>
        </p:spPr>
        <p:txBody>
          <a:bodyPr wrap="square" lIns="0" rIns="0" tIns="0" bIns="0">
            <a:spAutoFit/>
          </a:bodyPr>
          <a:lstStyle/>
          <a:p>
            <a:pPr algn="ctr">
              <a:spcAft>
                <a:spcPts val="500"/>
              </a:spcAft>
              <a:defRPr sz="2000" b="1">
                <a:solidFill>
                  <a:srgbClr val="215732"/>
                </a:solidFill>
                <a:latin typeface="DejaVu Sans"/>
              </a:defRPr>
            </a:pPr>
            <a:r>
              <a:t>Customer</a:t>
            </a:r>
          </a:p>
          <a:p>
            <a:pPr algn="ctr">
              <a:spcAft>
                <a:spcPts val="500"/>
              </a:spcAft>
              <a:defRPr sz="2000" b="1">
                <a:solidFill>
                  <a:srgbClr val="215732"/>
                </a:solidFill>
                <a:latin typeface="DejaVu Sans"/>
              </a:defRPr>
            </a:pPr>
            <a:r>
              <a:t>feedback</a:t>
            </a:r>
          </a:p>
        </p:txBody>
      </p:sp>
      <p:sp>
        <p:nvSpPr>
          <p:cNvPr id="13" name="Rectangle 12"/>
          <p:cNvSpPr/>
          <p:nvPr/>
        </p:nvSpPr>
        <p:spPr>
          <a:xfrm>
            <a:off x="9153144" y="2221992"/>
            <a:ext cx="2441448" cy="1033271"/>
          </a:xfrm>
          <a:prstGeom prst="rect">
            <a:avLst/>
          </a:prstGeom>
          <a:solidFill>
            <a:srgbClr val="F1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262872" y="2441448"/>
            <a:ext cx="2221992" cy="768096"/>
          </a:xfrm>
          <a:prstGeom prst="rect">
            <a:avLst/>
          </a:prstGeom>
          <a:noFill/>
        </p:spPr>
        <p:txBody>
          <a:bodyPr wrap="square" lIns="0" rIns="0" tIns="0" bIns="0">
            <a:spAutoFit/>
          </a:bodyPr>
          <a:lstStyle/>
          <a:p>
            <a:pPr algn="ctr">
              <a:spcAft>
                <a:spcPts val="500"/>
              </a:spcAft>
              <a:defRPr sz="1600" b="1">
                <a:solidFill>
                  <a:srgbClr val="215732"/>
                </a:solidFill>
                <a:latin typeface="DejaVu Sans"/>
              </a:defRPr>
            </a:pPr>
            <a:r>
              <a:t>Repeat purchase</a:t>
            </a:r>
          </a:p>
          <a:p>
            <a:pPr algn="ctr">
              <a:spcAft>
                <a:spcPts val="500"/>
              </a:spcAft>
              <a:defRPr sz="1600" b="1">
                <a:solidFill>
                  <a:srgbClr val="215732"/>
                </a:solidFill>
                <a:latin typeface="DejaVu Sans"/>
              </a:defRPr>
            </a:pPr>
            <a:r>
              <a:t>or recommendation</a:t>
            </a:r>
          </a:p>
        </p:txBody>
      </p:sp>
      <p:sp>
        <p:nvSpPr>
          <p:cNvPr id="15" name="TextBox 14"/>
          <p:cNvSpPr txBox="1"/>
          <p:nvPr/>
        </p:nvSpPr>
        <p:spPr>
          <a:xfrm>
            <a:off x="3072384" y="2532888"/>
            <a:ext cx="320040" cy="457200"/>
          </a:xfrm>
          <a:prstGeom prst="rect">
            <a:avLst/>
          </a:prstGeom>
          <a:noFill/>
        </p:spPr>
        <p:txBody>
          <a:bodyPr wrap="square" lIns="0" rIns="0" tIns="0" bIns="0">
            <a:spAutoFit/>
          </a:bodyPr>
          <a:lstStyle/>
          <a:p>
            <a:pPr algn="ctr">
              <a:spcAft>
                <a:spcPts val="500"/>
              </a:spcAft>
              <a:defRPr sz="2500" b="1">
                <a:solidFill>
                  <a:srgbClr val="43B02A"/>
                </a:solidFill>
                <a:latin typeface="DejaVu Sans"/>
              </a:defRPr>
            </a:pPr>
            <a:r>
              <a:t>→</a:t>
            </a:r>
          </a:p>
        </p:txBody>
      </p:sp>
      <p:sp>
        <p:nvSpPr>
          <p:cNvPr id="16" name="TextBox 15"/>
          <p:cNvSpPr txBox="1"/>
          <p:nvPr/>
        </p:nvSpPr>
        <p:spPr>
          <a:xfrm>
            <a:off x="5925312" y="2532888"/>
            <a:ext cx="320040" cy="457200"/>
          </a:xfrm>
          <a:prstGeom prst="rect">
            <a:avLst/>
          </a:prstGeom>
          <a:noFill/>
        </p:spPr>
        <p:txBody>
          <a:bodyPr wrap="square" lIns="0" rIns="0" tIns="0" bIns="0">
            <a:spAutoFit/>
          </a:bodyPr>
          <a:lstStyle/>
          <a:p>
            <a:pPr algn="ctr">
              <a:spcAft>
                <a:spcPts val="500"/>
              </a:spcAft>
              <a:defRPr sz="2500" b="1">
                <a:solidFill>
                  <a:srgbClr val="43B02A"/>
                </a:solidFill>
                <a:latin typeface="DejaVu Sans"/>
              </a:defRPr>
            </a:pPr>
            <a:r>
              <a:t>→</a:t>
            </a:r>
          </a:p>
        </p:txBody>
      </p:sp>
      <p:sp>
        <p:nvSpPr>
          <p:cNvPr id="17" name="TextBox 16"/>
          <p:cNvSpPr txBox="1"/>
          <p:nvPr/>
        </p:nvSpPr>
        <p:spPr>
          <a:xfrm>
            <a:off x="8778240" y="2532888"/>
            <a:ext cx="320040" cy="457200"/>
          </a:xfrm>
          <a:prstGeom prst="rect">
            <a:avLst/>
          </a:prstGeom>
          <a:noFill/>
        </p:spPr>
        <p:txBody>
          <a:bodyPr wrap="square" lIns="0" rIns="0" tIns="0" bIns="0">
            <a:spAutoFit/>
          </a:bodyPr>
          <a:lstStyle/>
          <a:p>
            <a:pPr algn="ctr">
              <a:spcAft>
                <a:spcPts val="500"/>
              </a:spcAft>
              <a:defRPr sz="2500" b="1">
                <a:solidFill>
                  <a:srgbClr val="43B02A"/>
                </a:solidFill>
                <a:latin typeface="DejaVu Sans"/>
              </a:defRPr>
            </a:pPr>
            <a:r>
              <a:t>→</a:t>
            </a:r>
          </a:p>
        </p:txBody>
      </p:sp>
      <p:sp>
        <p:nvSpPr>
          <p:cNvPr id="18" name="TextBox 17"/>
          <p:cNvSpPr txBox="1"/>
          <p:nvPr/>
        </p:nvSpPr>
        <p:spPr>
          <a:xfrm>
            <a:off x="594360" y="3877056"/>
            <a:ext cx="3300984" cy="457200"/>
          </a:xfrm>
          <a:prstGeom prst="rect">
            <a:avLst/>
          </a:prstGeom>
          <a:noFill/>
        </p:spPr>
        <p:txBody>
          <a:bodyPr wrap="square" lIns="0" rIns="0" tIns="0" bIns="0">
            <a:spAutoFit/>
          </a:bodyPr>
          <a:lstStyle/>
          <a:p>
            <a:pPr>
              <a:spcAft>
                <a:spcPts val="500"/>
              </a:spcAft>
              <a:defRPr sz="2100" b="1">
                <a:solidFill>
                  <a:srgbClr val="215732"/>
                </a:solidFill>
                <a:latin typeface="DejaVu Sans"/>
              </a:defRPr>
            </a:pPr>
            <a:r>
              <a:t>Check the experience</a:t>
            </a:r>
          </a:p>
        </p:txBody>
      </p:sp>
      <p:sp>
        <p:nvSpPr>
          <p:cNvPr id="19" name="TextBox 18"/>
          <p:cNvSpPr txBox="1"/>
          <p:nvPr/>
        </p:nvSpPr>
        <p:spPr>
          <a:xfrm>
            <a:off x="594360" y="4517136"/>
            <a:ext cx="3300984" cy="1005840"/>
          </a:xfrm>
          <a:prstGeom prst="rect">
            <a:avLst/>
          </a:prstGeom>
          <a:noFill/>
        </p:spPr>
        <p:txBody>
          <a:bodyPr wrap="square" lIns="0" rIns="0" tIns="0" bIns="0">
            <a:spAutoFit/>
          </a:bodyPr>
          <a:lstStyle/>
          <a:p>
            <a:pPr>
              <a:spcAft>
                <a:spcPts val="500"/>
              </a:spcAft>
              <a:defRPr sz="2000" b="0">
                <a:solidFill>
                  <a:srgbClr val="172D23"/>
                </a:solidFill>
                <a:latin typeface="DejaVu Sans"/>
              </a:defRPr>
            </a:pPr>
            <a:r>
              <a:t>Follow up appropriately and ask what could improve.</a:t>
            </a:r>
          </a:p>
        </p:txBody>
      </p:sp>
      <p:sp>
        <p:nvSpPr>
          <p:cNvPr id="20" name="TextBox 19"/>
          <p:cNvSpPr txBox="1"/>
          <p:nvPr/>
        </p:nvSpPr>
        <p:spPr>
          <a:xfrm>
            <a:off x="4443984" y="3877056"/>
            <a:ext cx="3300984" cy="457200"/>
          </a:xfrm>
          <a:prstGeom prst="rect">
            <a:avLst/>
          </a:prstGeom>
          <a:noFill/>
        </p:spPr>
        <p:txBody>
          <a:bodyPr wrap="square" lIns="0" rIns="0" tIns="0" bIns="0">
            <a:spAutoFit/>
          </a:bodyPr>
          <a:lstStyle/>
          <a:p>
            <a:pPr>
              <a:spcAft>
                <a:spcPts val="500"/>
              </a:spcAft>
              <a:defRPr sz="2100" b="1">
                <a:solidFill>
                  <a:srgbClr val="215732"/>
                </a:solidFill>
                <a:latin typeface="DejaVu Sans"/>
              </a:defRPr>
            </a:pPr>
            <a:r>
              <a:t>Stay useful</a:t>
            </a:r>
          </a:p>
        </p:txBody>
      </p:sp>
      <p:sp>
        <p:nvSpPr>
          <p:cNvPr id="21" name="TextBox 20"/>
          <p:cNvSpPr txBox="1"/>
          <p:nvPr/>
        </p:nvSpPr>
        <p:spPr>
          <a:xfrm>
            <a:off x="4443984" y="4517136"/>
            <a:ext cx="3300984" cy="1005840"/>
          </a:xfrm>
          <a:prstGeom prst="rect">
            <a:avLst/>
          </a:prstGeom>
          <a:noFill/>
        </p:spPr>
        <p:txBody>
          <a:bodyPr wrap="square" lIns="0" rIns="0" tIns="0" bIns="0">
            <a:spAutoFit/>
          </a:bodyPr>
          <a:lstStyle/>
          <a:p>
            <a:pPr>
              <a:spcAft>
                <a:spcPts val="500"/>
              </a:spcAft>
              <a:defRPr sz="2000" b="0">
                <a:solidFill>
                  <a:srgbClr val="172D23"/>
                </a:solidFill>
                <a:latin typeface="DejaVu Sans"/>
              </a:defRPr>
            </a:pPr>
            <a:r>
              <a:t>Share care and usage tips—not endless promotions.</a:t>
            </a:r>
          </a:p>
        </p:txBody>
      </p:sp>
      <p:sp>
        <p:nvSpPr>
          <p:cNvPr id="22" name="TextBox 21"/>
          <p:cNvSpPr txBox="1"/>
          <p:nvPr/>
        </p:nvSpPr>
        <p:spPr>
          <a:xfrm>
            <a:off x="8293608" y="3877056"/>
            <a:ext cx="3300984" cy="457200"/>
          </a:xfrm>
          <a:prstGeom prst="rect">
            <a:avLst/>
          </a:prstGeom>
          <a:noFill/>
        </p:spPr>
        <p:txBody>
          <a:bodyPr wrap="square" lIns="0" rIns="0" tIns="0" bIns="0">
            <a:spAutoFit/>
          </a:bodyPr>
          <a:lstStyle/>
          <a:p>
            <a:pPr>
              <a:spcAft>
                <a:spcPts val="500"/>
              </a:spcAft>
              <a:defRPr sz="2100" b="1">
                <a:solidFill>
                  <a:srgbClr val="215732"/>
                </a:solidFill>
                <a:latin typeface="DejaVu Sans"/>
              </a:defRPr>
            </a:pPr>
            <a:r>
              <a:t>Learn and invite</a:t>
            </a:r>
          </a:p>
        </p:txBody>
      </p:sp>
      <p:sp>
        <p:nvSpPr>
          <p:cNvPr id="23" name="TextBox 22"/>
          <p:cNvSpPr txBox="1"/>
          <p:nvPr/>
        </p:nvSpPr>
        <p:spPr>
          <a:xfrm>
            <a:off x="8293608" y="4517136"/>
            <a:ext cx="3300984" cy="1005840"/>
          </a:xfrm>
          <a:prstGeom prst="rect">
            <a:avLst/>
          </a:prstGeom>
          <a:noFill/>
        </p:spPr>
        <p:txBody>
          <a:bodyPr wrap="square" lIns="0" rIns="0" tIns="0" bIns="0">
            <a:spAutoFit/>
          </a:bodyPr>
          <a:lstStyle/>
          <a:p>
            <a:pPr>
              <a:spcAft>
                <a:spcPts val="500"/>
              </a:spcAft>
              <a:defRPr sz="2000" b="0">
                <a:solidFill>
                  <a:srgbClr val="172D23"/>
                </a:solidFill>
                <a:latin typeface="DejaVu Sans"/>
              </a:defRPr>
            </a:pPr>
            <a:r>
              <a:t>Use feedback. Ask satisfied buyers to recommend you.</a:t>
            </a:r>
          </a:p>
        </p:txBody>
      </p:sp>
      <p:sp>
        <p:nvSpPr>
          <p:cNvPr id="24" name="TextBox 23"/>
          <p:cNvSpPr txBox="1"/>
          <p:nvPr/>
        </p:nvSpPr>
        <p:spPr>
          <a:xfrm>
            <a:off x="594360" y="5522976"/>
            <a:ext cx="10972800" cy="393192"/>
          </a:xfrm>
          <a:prstGeom prst="rect">
            <a:avLst/>
          </a:prstGeom>
          <a:noFill/>
        </p:spPr>
        <p:txBody>
          <a:bodyPr wrap="square" lIns="0" rIns="0" tIns="0" bIns="0">
            <a:spAutoFit/>
          </a:bodyPr>
          <a:lstStyle/>
          <a:p>
            <a:pPr>
              <a:spcAft>
                <a:spcPts val="500"/>
              </a:spcAft>
              <a:defRPr sz="1700" b="0">
                <a:solidFill>
                  <a:srgbClr val="5B6961"/>
                </a:solidFill>
                <a:latin typeface="DejaVu Sans"/>
              </a:defRPr>
            </a:pPr>
            <a:r>
              <a:t>For refrigerators, a referral may come sooner than another refrigerator purchase.</a:t>
            </a:r>
          </a:p>
        </p:txBody>
      </p:sp>
      <p:sp>
        <p:nvSpPr>
          <p:cNvPr id="25" name="Rectangle 24"/>
          <p:cNvSpPr/>
          <p:nvPr/>
        </p:nvSpPr>
        <p:spPr>
          <a:xfrm>
            <a:off x="594360" y="5989320"/>
            <a:ext cx="50292" cy="365760"/>
          </a:xfrm>
          <a:prstGeom prst="rect">
            <a:avLst/>
          </a:prstGeom>
          <a:solidFill>
            <a:srgbClr val="43B0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95528" y="6003036"/>
            <a:ext cx="10789920" cy="521207"/>
          </a:xfrm>
          <a:prstGeom prst="rect">
            <a:avLst/>
          </a:prstGeom>
          <a:noFill/>
        </p:spPr>
        <p:txBody>
          <a:bodyPr wrap="square" lIns="0" rIns="0" tIns="0" bIns="0">
            <a:spAutoFit/>
          </a:bodyPr>
          <a:lstStyle/>
          <a:p>
            <a:pPr>
              <a:spcAft>
                <a:spcPts val="500"/>
              </a:spcAft>
              <a:defRPr sz="1800" b="1">
                <a:solidFill>
                  <a:srgbClr val="215732"/>
                </a:solidFill>
                <a:latin typeface="DejaVu Sans"/>
              </a:defRPr>
            </a:pPr>
            <a:r>
              <a:t>Helpful customer care creates reasons to remember and recommend your business.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15732"/>
        </a:solidFill>
        <a:effectLst/>
      </p:bgPr>
    </p:bg>
    <p:spTree>
      <p:nvGrpSpPr>
        <p:cNvPr id="1" name=""/>
        <p:cNvGrpSpPr/>
        <p:nvPr/>
      </p:nvGrpSpPr>
      <p:grpSpPr/>
      <p:sp>
        <p:nvSpPr>
          <p:cNvPr id="2" name="TextBox 1"/>
          <p:cNvSpPr txBox="1"/>
          <p:nvPr/>
        </p:nvSpPr>
        <p:spPr>
          <a:xfrm>
            <a:off x="594360" y="356616"/>
            <a:ext cx="9144000" cy="228600"/>
          </a:xfrm>
          <a:prstGeom prst="rect">
            <a:avLst/>
          </a:prstGeom>
          <a:noFill/>
        </p:spPr>
        <p:txBody>
          <a:bodyPr wrap="square" lIns="0" rIns="0" tIns="0" bIns="0">
            <a:spAutoFit/>
          </a:bodyPr>
          <a:lstStyle/>
          <a:p>
            <a:pPr>
              <a:spcAft>
                <a:spcPts val="500"/>
              </a:spcAft>
              <a:defRPr sz="1000" b="1">
                <a:solidFill>
                  <a:srgbClr val="FFFFFF"/>
                </a:solidFill>
                <a:latin typeface="DejaVu Sans"/>
              </a:defRPr>
            </a:pPr>
            <a:r>
              <a:t>INSTAPRENYUA  /  THE CUSTOMER GROWTH JOURNEY</a:t>
            </a:r>
          </a:p>
        </p:txBody>
      </p:sp>
      <p:sp>
        <p:nvSpPr>
          <p:cNvPr id="3" name="Rectangle 2"/>
          <p:cNvSpPr/>
          <p:nvPr/>
        </p:nvSpPr>
        <p:spPr>
          <a:xfrm>
            <a:off x="10213848" y="301752"/>
            <a:ext cx="1380744" cy="448056"/>
          </a:xfrm>
          <a:prstGeom prst="rect">
            <a:avLst/>
          </a:prstGeom>
          <a:solidFill>
            <a:srgbClr val="215732"/>
          </a:solidFill>
          <a:ln w="10160">
            <a:solidFill>
              <a:srgbClr val="86A18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287000" y="365760"/>
            <a:ext cx="1234440" cy="320040"/>
          </a:xfrm>
          <a:prstGeom prst="rect">
            <a:avLst/>
          </a:prstGeom>
          <a:noFill/>
        </p:spPr>
        <p:txBody>
          <a:bodyPr wrap="square" lIns="0" rIns="0" tIns="0" bIns="0">
            <a:spAutoFit/>
          </a:bodyPr>
          <a:lstStyle/>
          <a:p>
            <a:pPr algn="ctr">
              <a:spcAft>
                <a:spcPts val="500"/>
              </a:spcAft>
              <a:defRPr sz="850" b="0">
                <a:solidFill>
                  <a:srgbClr val="FFFFFF"/>
                </a:solidFill>
                <a:latin typeface="DejaVu Sans"/>
              </a:defRPr>
            </a:pPr>
            <a:r>
              <a:t>CRDB logo</a:t>
            </a:r>
          </a:p>
          <a:p>
            <a:pPr algn="ctr">
              <a:spcAft>
                <a:spcPts val="500"/>
              </a:spcAft>
              <a:defRPr sz="850" b="0">
                <a:solidFill>
                  <a:srgbClr val="FFFFFF"/>
                </a:solidFill>
                <a:latin typeface="DejaVu Sans"/>
              </a:defRPr>
            </a:pPr>
            <a:r>
              <a:t>asset needed</a:t>
            </a:r>
          </a:p>
        </p:txBody>
      </p:sp>
      <p:sp>
        <p:nvSpPr>
          <p:cNvPr id="5" name="TextBox 4"/>
          <p:cNvSpPr txBox="1"/>
          <p:nvPr/>
        </p:nvSpPr>
        <p:spPr>
          <a:xfrm>
            <a:off x="11201400" y="6519672"/>
            <a:ext cx="384048" cy="182880"/>
          </a:xfrm>
          <a:prstGeom prst="rect">
            <a:avLst/>
          </a:prstGeom>
          <a:noFill/>
        </p:spPr>
        <p:txBody>
          <a:bodyPr wrap="square" lIns="0" rIns="0" tIns="0" bIns="0">
            <a:spAutoFit/>
          </a:bodyPr>
          <a:lstStyle/>
          <a:p>
            <a:pPr>
              <a:spcAft>
                <a:spcPts val="500"/>
              </a:spcAft>
              <a:defRPr sz="900" b="0">
                <a:solidFill>
                  <a:srgbClr val="D8E8D7"/>
                </a:solidFill>
                <a:latin typeface="DejaVu Sans"/>
              </a:defRPr>
            </a:pPr>
            <a:r>
              <a:t>08</a:t>
            </a:r>
          </a:p>
        </p:txBody>
      </p:sp>
      <p:sp>
        <p:nvSpPr>
          <p:cNvPr id="6" name="TextBox 5"/>
          <p:cNvSpPr txBox="1"/>
          <p:nvPr/>
        </p:nvSpPr>
        <p:spPr>
          <a:xfrm>
            <a:off x="594360" y="1380744"/>
            <a:ext cx="11000232" cy="1554480"/>
          </a:xfrm>
          <a:prstGeom prst="rect">
            <a:avLst/>
          </a:prstGeom>
          <a:noFill/>
        </p:spPr>
        <p:txBody>
          <a:bodyPr wrap="square" lIns="0" rIns="0" tIns="0" bIns="0">
            <a:spAutoFit/>
          </a:bodyPr>
          <a:lstStyle/>
          <a:p>
            <a:pPr>
              <a:spcAft>
                <a:spcPts val="500"/>
              </a:spcAft>
              <a:defRPr sz="3900" b="1">
                <a:solidFill>
                  <a:srgbClr val="FFFFFF"/>
                </a:solidFill>
                <a:latin typeface="DejaVu Sans"/>
              </a:defRPr>
            </a:pPr>
            <a:r>
              <a:t>Don’t just get seen.</a:t>
            </a:r>
          </a:p>
          <a:p>
            <a:pPr>
              <a:spcAft>
                <a:spcPts val="500"/>
              </a:spcAft>
              <a:defRPr sz="3900" b="1">
                <a:solidFill>
                  <a:srgbClr val="FFFFFF"/>
                </a:solidFill>
                <a:latin typeface="DejaVu Sans"/>
              </a:defRPr>
            </a:pPr>
            <a:r>
              <a:t>Get chosen. Get recommended.</a:t>
            </a:r>
          </a:p>
        </p:txBody>
      </p:sp>
      <p:sp>
        <p:nvSpPr>
          <p:cNvPr id="7" name="TextBox 6"/>
          <p:cNvSpPr txBox="1"/>
          <p:nvPr/>
        </p:nvSpPr>
        <p:spPr>
          <a:xfrm>
            <a:off x="594360" y="3648456"/>
            <a:ext cx="1828800" cy="731520"/>
          </a:xfrm>
          <a:prstGeom prst="rect">
            <a:avLst/>
          </a:prstGeom>
          <a:noFill/>
        </p:spPr>
        <p:txBody>
          <a:bodyPr wrap="square" lIns="0" rIns="0" tIns="0" bIns="0">
            <a:spAutoFit/>
          </a:bodyPr>
          <a:lstStyle/>
          <a:p>
            <a:pPr>
              <a:spcAft>
                <a:spcPts val="500"/>
              </a:spcAft>
              <a:defRPr sz="2400" b="1">
                <a:solidFill>
                  <a:srgbClr val="FFFFFF"/>
                </a:solidFill>
                <a:latin typeface="DejaVu Sans"/>
              </a:defRPr>
            </a:pPr>
            <a:r>
              <a:t>Discover</a:t>
            </a:r>
          </a:p>
        </p:txBody>
      </p:sp>
      <p:sp>
        <p:nvSpPr>
          <p:cNvPr id="8" name="TextBox 7"/>
          <p:cNvSpPr txBox="1"/>
          <p:nvPr/>
        </p:nvSpPr>
        <p:spPr>
          <a:xfrm>
            <a:off x="3374136" y="3648456"/>
            <a:ext cx="1737360" cy="731520"/>
          </a:xfrm>
          <a:prstGeom prst="rect">
            <a:avLst/>
          </a:prstGeom>
          <a:noFill/>
        </p:spPr>
        <p:txBody>
          <a:bodyPr wrap="square" lIns="0" rIns="0" tIns="0" bIns="0">
            <a:spAutoFit/>
          </a:bodyPr>
          <a:lstStyle/>
          <a:p>
            <a:pPr>
              <a:spcAft>
                <a:spcPts val="500"/>
              </a:spcAft>
              <a:defRPr sz="2400" b="1">
                <a:solidFill>
                  <a:srgbClr val="FFFFFF"/>
                </a:solidFill>
                <a:latin typeface="DejaVu Sans"/>
              </a:defRPr>
            </a:pPr>
            <a:r>
              <a:t>Inquire</a:t>
            </a:r>
          </a:p>
        </p:txBody>
      </p:sp>
      <p:sp>
        <p:nvSpPr>
          <p:cNvPr id="9" name="TextBox 8"/>
          <p:cNvSpPr txBox="1"/>
          <p:nvPr/>
        </p:nvSpPr>
        <p:spPr>
          <a:xfrm>
            <a:off x="6135624" y="3648456"/>
            <a:ext cx="1371600" cy="731520"/>
          </a:xfrm>
          <a:prstGeom prst="rect">
            <a:avLst/>
          </a:prstGeom>
          <a:noFill/>
        </p:spPr>
        <p:txBody>
          <a:bodyPr wrap="square" lIns="0" rIns="0" tIns="0" bIns="0">
            <a:spAutoFit/>
          </a:bodyPr>
          <a:lstStyle/>
          <a:p>
            <a:pPr>
              <a:spcAft>
                <a:spcPts val="500"/>
              </a:spcAft>
              <a:defRPr sz="2400" b="1">
                <a:solidFill>
                  <a:srgbClr val="FFFFFF"/>
                </a:solidFill>
                <a:latin typeface="DejaVu Sans"/>
              </a:defRPr>
            </a:pPr>
            <a:r>
              <a:t>Buy</a:t>
            </a:r>
          </a:p>
        </p:txBody>
      </p:sp>
      <p:sp>
        <p:nvSpPr>
          <p:cNvPr id="10" name="TextBox 9"/>
          <p:cNvSpPr txBox="1"/>
          <p:nvPr/>
        </p:nvSpPr>
        <p:spPr>
          <a:xfrm>
            <a:off x="8375904" y="3648456"/>
            <a:ext cx="3218688" cy="731520"/>
          </a:xfrm>
          <a:prstGeom prst="rect">
            <a:avLst/>
          </a:prstGeom>
          <a:noFill/>
        </p:spPr>
        <p:txBody>
          <a:bodyPr wrap="square" lIns="0" rIns="0" tIns="0" bIns="0">
            <a:spAutoFit/>
          </a:bodyPr>
          <a:lstStyle/>
          <a:p>
            <a:pPr>
              <a:spcAft>
                <a:spcPts val="500"/>
              </a:spcAft>
              <a:defRPr sz="2000" b="1">
                <a:solidFill>
                  <a:srgbClr val="FFFFFF"/>
                </a:solidFill>
                <a:latin typeface="DejaVu Sans"/>
              </a:defRPr>
            </a:pPr>
            <a:r>
              <a:t>Return / Recommend</a:t>
            </a:r>
          </a:p>
        </p:txBody>
      </p:sp>
      <p:sp>
        <p:nvSpPr>
          <p:cNvPr id="11" name="TextBox 10"/>
          <p:cNvSpPr txBox="1"/>
          <p:nvPr/>
        </p:nvSpPr>
        <p:spPr>
          <a:xfrm>
            <a:off x="2670048" y="3621024"/>
            <a:ext cx="365760" cy="457200"/>
          </a:xfrm>
          <a:prstGeom prst="rect">
            <a:avLst/>
          </a:prstGeom>
          <a:noFill/>
        </p:spPr>
        <p:txBody>
          <a:bodyPr wrap="square" lIns="0" rIns="0" tIns="0" bIns="0">
            <a:spAutoFit/>
          </a:bodyPr>
          <a:lstStyle/>
          <a:p>
            <a:pPr algn="ctr">
              <a:spcAft>
                <a:spcPts val="500"/>
              </a:spcAft>
              <a:defRPr sz="2500" b="1">
                <a:solidFill>
                  <a:srgbClr val="9DDA8B"/>
                </a:solidFill>
                <a:latin typeface="DejaVu Sans"/>
              </a:defRPr>
            </a:pPr>
            <a:r>
              <a:t>→</a:t>
            </a:r>
          </a:p>
        </p:txBody>
      </p:sp>
      <p:sp>
        <p:nvSpPr>
          <p:cNvPr id="12" name="TextBox 11"/>
          <p:cNvSpPr txBox="1"/>
          <p:nvPr/>
        </p:nvSpPr>
        <p:spPr>
          <a:xfrm>
            <a:off x="5376672" y="3621024"/>
            <a:ext cx="365760" cy="457200"/>
          </a:xfrm>
          <a:prstGeom prst="rect">
            <a:avLst/>
          </a:prstGeom>
          <a:noFill/>
        </p:spPr>
        <p:txBody>
          <a:bodyPr wrap="square" lIns="0" rIns="0" tIns="0" bIns="0">
            <a:spAutoFit/>
          </a:bodyPr>
          <a:lstStyle/>
          <a:p>
            <a:pPr algn="ctr">
              <a:spcAft>
                <a:spcPts val="500"/>
              </a:spcAft>
              <a:defRPr sz="2500" b="1">
                <a:solidFill>
                  <a:srgbClr val="9DDA8B"/>
                </a:solidFill>
                <a:latin typeface="DejaVu Sans"/>
              </a:defRPr>
            </a:pPr>
            <a:r>
              <a:t>→</a:t>
            </a:r>
          </a:p>
        </p:txBody>
      </p:sp>
      <p:sp>
        <p:nvSpPr>
          <p:cNvPr id="13" name="TextBox 12"/>
          <p:cNvSpPr txBox="1"/>
          <p:nvPr/>
        </p:nvSpPr>
        <p:spPr>
          <a:xfrm>
            <a:off x="7735824" y="3621024"/>
            <a:ext cx="365760" cy="457200"/>
          </a:xfrm>
          <a:prstGeom prst="rect">
            <a:avLst/>
          </a:prstGeom>
          <a:noFill/>
        </p:spPr>
        <p:txBody>
          <a:bodyPr wrap="square" lIns="0" rIns="0" tIns="0" bIns="0">
            <a:spAutoFit/>
          </a:bodyPr>
          <a:lstStyle/>
          <a:p>
            <a:pPr algn="ctr">
              <a:spcAft>
                <a:spcPts val="500"/>
              </a:spcAft>
              <a:defRPr sz="2500" b="1">
                <a:solidFill>
                  <a:srgbClr val="9DDA8B"/>
                </a:solidFill>
                <a:latin typeface="DejaVu Sans"/>
              </a:defRPr>
            </a:pPr>
            <a:r>
              <a:t>→</a:t>
            </a:r>
          </a:p>
        </p:txBody>
      </p:sp>
      <p:sp>
        <p:nvSpPr>
          <p:cNvPr id="14" name="TextBox 13"/>
          <p:cNvSpPr txBox="1"/>
          <p:nvPr/>
        </p:nvSpPr>
        <p:spPr>
          <a:xfrm>
            <a:off x="594360" y="4946904"/>
            <a:ext cx="10789920" cy="1133856"/>
          </a:xfrm>
          <a:prstGeom prst="rect">
            <a:avLst/>
          </a:prstGeom>
          <a:noFill/>
        </p:spPr>
        <p:txBody>
          <a:bodyPr wrap="square" lIns="0" rIns="0" tIns="0" bIns="0">
            <a:spAutoFit/>
          </a:bodyPr>
          <a:lstStyle/>
          <a:p>
            <a:pPr>
              <a:spcAft>
                <a:spcPts val="500"/>
              </a:spcAft>
              <a:defRPr sz="2500" b="0">
                <a:solidFill>
                  <a:srgbClr val="DCEFD6"/>
                </a:solidFill>
                <a:latin typeface="DejaVu Sans"/>
              </a:defRPr>
            </a:pPr>
            <a:r>
              <a:t>“Sustainable growth comes from attracting the right customers, helping them buy with confidence and building relationships that last.”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